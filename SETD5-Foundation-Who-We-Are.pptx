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-274320"/>
            <a:ext cx="256032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0" y="1828800"/>
            <a:ext cx="2103120" cy="4114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D8AB67"/>
          </a:solidFill>
          <a:ln w="12700">
            <a:solidFill>
              <a:srgbClr val="D8AB67"/>
            </a:solidFill>
            <a:prstDash val="solid"/>
          </a:ln>
        </p:spPr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1645920" cy="82296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11480" y="137160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500" kern="0" dirty="0">
                <a:solidFill>
                  <a:srgbClr val="FAC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300" dirty="0"/>
          </a:p>
        </p:txBody>
      </p:sp>
      <p:sp>
        <p:nvSpPr>
          <p:cNvPr id="7" name="Text 2"/>
          <p:cNvSpPr/>
          <p:nvPr/>
        </p:nvSpPr>
        <p:spPr>
          <a:xfrm>
            <a:off x="411480" y="1920240"/>
            <a:ext cx="6858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SETD5 Syndrome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5200" dirty="0"/>
          </a:p>
        </p:txBody>
      </p:sp>
      <p:sp>
        <p:nvSpPr>
          <p:cNvPr id="8" name="Shape 3"/>
          <p:cNvSpPr/>
          <p:nvPr/>
        </p:nvSpPr>
        <p:spPr>
          <a:xfrm>
            <a:off x="411480" y="3566160"/>
            <a:ext cx="3474720" cy="36576"/>
          </a:xfrm>
          <a:prstGeom prst="rect">
            <a:avLst/>
          </a:prstGeom>
          <a:solidFill>
            <a:srgbClr val="D8AB67"/>
          </a:solidFill>
          <a:ln w="12700">
            <a:solidFill>
              <a:srgbClr val="D8AB67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411480" y="367588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AB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Fueling Research. Empowering Families.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42D38"/>
          </a:solidFill>
          <a:ln w="12700">
            <a:solidFill>
              <a:srgbClr val="142D38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365760" y="478231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SETD5 Syndrome Foundation  ·  setd5syndrome.org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E3A45"/>
          </a:solidFill>
          <a:ln w="12700">
            <a:solidFill>
              <a:srgbClr val="1E3A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91440"/>
            <a:ext cx="13716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032" y="34747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AC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400" kern="0" dirty="0">
                <a:solidFill>
                  <a:srgbClr val="FAC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56032" y="914400"/>
            <a:ext cx="256032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SETD5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Syndrome?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256032" y="2670048"/>
            <a:ext cx="2377440" cy="36576"/>
          </a:xfrm>
          <a:prstGeom prst="rect">
            <a:avLst/>
          </a:prstGeom>
          <a:solidFill>
            <a:srgbClr val="D8AB67"/>
          </a:solidFill>
          <a:ln w="12700">
            <a:solidFill>
              <a:srgbClr val="D8AB6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2798064"/>
            <a:ext cx="25603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AC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rare genetic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AC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neurodevelopmental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AC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474720" y="384048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SETD5 Syndrome is caused by a variant in the SETD5 gene (chromosome 3p25.3), which plays a critical role in brain development.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419856" y="1344168"/>
            <a:ext cx="438912" cy="438912"/>
          </a:xfrm>
          <a:prstGeom prst="ellipse">
            <a:avLst/>
          </a:prstGeom>
          <a:solidFill>
            <a:srgbClr val="C96A38"/>
          </a:solidFill>
          <a:ln w="12700">
            <a:solidFill>
              <a:srgbClr val="C96A3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098" y="1448410"/>
            <a:ext cx="230429" cy="23042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05072" y="138988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Disability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005072" y="1691640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 cognitive development across a wide range of severity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419856" y="2148840"/>
            <a:ext cx="438912" cy="438912"/>
          </a:xfrm>
          <a:prstGeom prst="ellipse">
            <a:avLst/>
          </a:prstGeom>
          <a:solidFill>
            <a:srgbClr val="D8AB67"/>
          </a:solidFill>
          <a:ln w="12700">
            <a:solidFill>
              <a:srgbClr val="D8AB67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098" y="2253082"/>
            <a:ext cx="230429" cy="23042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005072" y="2194560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Autism Spectrum Disorder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005072" y="249631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 features are among the most commonly reported characteristics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3419856" y="2953512"/>
            <a:ext cx="438912" cy="438912"/>
          </a:xfrm>
          <a:prstGeom prst="ellipse">
            <a:avLst/>
          </a:prstGeom>
          <a:solidFill>
            <a:srgbClr val="2F5361"/>
          </a:solidFill>
          <a:ln w="12700">
            <a:solidFill>
              <a:srgbClr val="2F5361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098" y="3057754"/>
            <a:ext cx="230429" cy="23042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005072" y="299923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&amp; Language Delays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005072" y="3300984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differences are near-universal across the community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3419856" y="3758184"/>
            <a:ext cx="438912" cy="438912"/>
          </a:xfrm>
          <a:prstGeom prst="ellipse">
            <a:avLst/>
          </a:prstGeom>
          <a:solidFill>
            <a:srgbClr val="1E3A45"/>
          </a:solidFill>
          <a:ln w="12700">
            <a:solidFill>
              <a:srgbClr val="1E3A45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098" y="3862426"/>
            <a:ext cx="230429" cy="23042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005072" y="3803904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Differences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005072" y="410565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attention challenges, hyperactivity, and sensory differences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3474720" y="4572000"/>
            <a:ext cx="5303520" cy="109728"/>
          </a:xfrm>
          <a:prstGeom prst="rect">
            <a:avLst/>
          </a:prstGeom>
          <a:solidFill>
            <a:srgbClr val="D8AB67"/>
          </a:solidFill>
          <a:ln w="12700">
            <a:solidFill>
              <a:srgbClr val="D8AB67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F7F3EE"/>
          </a:solidFill>
          <a:ln w="12700">
            <a:solidFill>
              <a:srgbClr val="F7F3EE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365760" y="478231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SETD5 Syndrome Foundation  ·  setd5syndrome.org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6400800" y="478231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8A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Condition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-457200"/>
            <a:ext cx="2560320" cy="4389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5760" y="1645920"/>
            <a:ext cx="1828800" cy="3840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8A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457200" y="59436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Global Community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Almost No Research Funding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457200" y="1627632"/>
            <a:ext cx="5029200" cy="36576"/>
          </a:xfrm>
          <a:prstGeom prst="rect">
            <a:avLst/>
          </a:prstGeom>
          <a:solidFill>
            <a:srgbClr val="D8AB67"/>
          </a:solidFill>
          <a:ln w="12700">
            <a:solidFill>
              <a:srgbClr val="D8AB6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11480" y="1828800"/>
            <a:ext cx="4023360" cy="1298448"/>
          </a:xfrm>
          <a:prstGeom prst="rect">
            <a:avLst/>
          </a:prstGeom>
          <a:solidFill>
            <a:srgbClr val="2F5361"/>
          </a:solidFill>
          <a:ln w="12700">
            <a:solidFill>
              <a:srgbClr val="2F53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121408"/>
            <a:ext cx="402336" cy="40233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61288" y="190195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C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1,100+</a:t>
            </a:r>
            <a:endParaRPr lang="en-US" sz="3800" dirty="0"/>
          </a:p>
        </p:txBody>
      </p:sp>
      <p:sp>
        <p:nvSpPr>
          <p:cNvPr id="10" name="Text 5"/>
          <p:cNvSpPr/>
          <p:nvPr/>
        </p:nvSpPr>
        <p:spPr>
          <a:xfrm>
            <a:off x="1161288" y="24688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Worldwide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161288" y="277977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AC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continents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4800600" y="1828800"/>
            <a:ext cx="4023360" cy="1298448"/>
          </a:xfrm>
          <a:prstGeom prst="rect">
            <a:avLst/>
          </a:prstGeom>
          <a:solidFill>
            <a:srgbClr val="C96A38"/>
          </a:solidFill>
          <a:ln w="12700">
            <a:solidFill>
              <a:srgbClr val="C96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2121408"/>
            <a:ext cx="402336" cy="40233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50408" y="190195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C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75+</a:t>
            </a:r>
            <a:endParaRPr lang="en-US" sz="3800" dirty="0"/>
          </a:p>
        </p:txBody>
      </p:sp>
      <p:sp>
        <p:nvSpPr>
          <p:cNvPr id="15" name="Text 9"/>
          <p:cNvSpPr/>
          <p:nvPr/>
        </p:nvSpPr>
        <p:spPr>
          <a:xfrm>
            <a:off x="5550408" y="24688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Cases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5550408" y="277977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AC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1,100+ living with it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411480" y="3310128"/>
            <a:ext cx="4023360" cy="1298448"/>
          </a:xfrm>
          <a:prstGeom prst="rect">
            <a:avLst/>
          </a:prstGeom>
          <a:solidFill>
            <a:srgbClr val="2A5A6A"/>
          </a:solidFill>
          <a:ln w="12700">
            <a:solidFill>
              <a:srgbClr val="2A5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602736"/>
            <a:ext cx="402336" cy="40233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61288" y="338328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C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2014</a:t>
            </a:r>
            <a:endParaRPr lang="en-US" sz="3800" dirty="0"/>
          </a:p>
        </p:txBody>
      </p:sp>
      <p:sp>
        <p:nvSpPr>
          <p:cNvPr id="20" name="Text 13"/>
          <p:cNvSpPr/>
          <p:nvPr/>
        </p:nvSpPr>
        <p:spPr>
          <a:xfrm>
            <a:off x="1161288" y="395020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First Described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1161288" y="42611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AC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young and growing field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4800600" y="3310128"/>
            <a:ext cx="4023360" cy="1298448"/>
          </a:xfrm>
          <a:prstGeom prst="rect">
            <a:avLst/>
          </a:prstGeom>
          <a:solidFill>
            <a:srgbClr val="4A2A1A"/>
          </a:solidFill>
          <a:ln w="12700">
            <a:solidFill>
              <a:srgbClr val="4A2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3602736"/>
            <a:ext cx="402336" cy="40233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550408" y="338328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C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800" dirty="0"/>
          </a:p>
        </p:txBody>
      </p:sp>
      <p:sp>
        <p:nvSpPr>
          <p:cNvPr id="25" name="Text 17"/>
          <p:cNvSpPr/>
          <p:nvPr/>
        </p:nvSpPr>
        <p:spPr>
          <a:xfrm>
            <a:off x="5550408" y="395020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Continents Represented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5550408" y="42611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AC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truly a global community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42D38"/>
          </a:solidFill>
          <a:ln w="12700">
            <a:solidFill>
              <a:srgbClr val="142D38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365760" y="478231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SETD5 Syndrome Foundation  ·  setd5syndrome.org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6400800" y="478231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8A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3A45"/>
          </a:solidFill>
          <a:ln w="12700">
            <a:solidFill>
              <a:srgbClr val="1E3A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-182880"/>
            <a:ext cx="1645920" cy="2560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8A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7548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Exist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12984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i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SETD5 Syndrome Foundation is a family-led nonprofit dedicated to advancing research for SETD5 Syndrome, a rare genetic condition, and building a global community of support, hope, and action.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1993392"/>
            <a:ext cx="8229600" cy="36576"/>
          </a:xfrm>
          <a:prstGeom prst="rect">
            <a:avLst/>
          </a:prstGeom>
          <a:solidFill>
            <a:srgbClr val="D8AB67"/>
          </a:solidFill>
          <a:ln w="12700">
            <a:solidFill>
              <a:srgbClr val="D8AB6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212848"/>
            <a:ext cx="2496312" cy="2487168"/>
          </a:xfrm>
          <a:prstGeom prst="rect">
            <a:avLst/>
          </a:prstGeom>
          <a:solidFill>
            <a:srgbClr val="F7F3EE"/>
          </a:solidFill>
          <a:ln w="12700">
            <a:solidFill>
              <a:srgbClr val="E8E2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212848"/>
            <a:ext cx="2496312" cy="73152"/>
          </a:xfrm>
          <a:prstGeom prst="rect">
            <a:avLst/>
          </a:prstGeom>
          <a:solidFill>
            <a:srgbClr val="C96A38"/>
          </a:solidFill>
          <a:ln w="12700">
            <a:solidFill>
              <a:srgbClr val="C96A3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12748" y="2359152"/>
            <a:ext cx="585216" cy="585216"/>
          </a:xfrm>
          <a:prstGeom prst="ellipse">
            <a:avLst/>
          </a:prstGeom>
          <a:solidFill>
            <a:srgbClr val="C96A38"/>
          </a:solidFill>
          <a:ln w="12700">
            <a:solidFill>
              <a:srgbClr val="C96A3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737" y="24981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3017520"/>
            <a:ext cx="2313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 Research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66928" y="3438144"/>
            <a:ext cx="227685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building toward our first grant cycle — funding foundational studies in protein function, patient registry development, and drug screening in animal models.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319272" y="2212848"/>
            <a:ext cx="2496312" cy="2487168"/>
          </a:xfrm>
          <a:prstGeom prst="rect">
            <a:avLst/>
          </a:prstGeom>
          <a:solidFill>
            <a:srgbClr val="F7F3EE"/>
          </a:solidFill>
          <a:ln w="12700">
            <a:solidFill>
              <a:srgbClr val="E8E2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319272" y="2212848"/>
            <a:ext cx="2496312" cy="73152"/>
          </a:xfrm>
          <a:prstGeom prst="rect">
            <a:avLst/>
          </a:prstGeom>
          <a:solidFill>
            <a:srgbClr val="2F5361"/>
          </a:solidFill>
          <a:ln w="12700">
            <a:solidFill>
              <a:srgbClr val="2F536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274820" y="2359152"/>
            <a:ext cx="585216" cy="585216"/>
          </a:xfrm>
          <a:prstGeom prst="ellipse">
            <a:avLst/>
          </a:prstGeom>
          <a:solidFill>
            <a:srgbClr val="2F5361"/>
          </a:solidFill>
          <a:ln w="12700">
            <a:solidFill>
              <a:srgbClr val="2F53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809" y="249814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10712" y="3017520"/>
            <a:ext cx="2313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Advocate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3429000" y="3438144"/>
            <a:ext cx="227685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raise awareness among clinicians, genetic counselors, and policymakers so that families receive faster, more accurate diagnoses.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181344" y="2212848"/>
            <a:ext cx="2496312" cy="2487168"/>
          </a:xfrm>
          <a:prstGeom prst="rect">
            <a:avLst/>
          </a:prstGeom>
          <a:solidFill>
            <a:srgbClr val="F7F3EE"/>
          </a:solidFill>
          <a:ln w="12700">
            <a:solidFill>
              <a:srgbClr val="E8E2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181344" y="2212848"/>
            <a:ext cx="2496312" cy="73152"/>
          </a:xfrm>
          <a:prstGeom prst="rect">
            <a:avLst/>
          </a:prstGeom>
          <a:solidFill>
            <a:srgbClr val="1E3A45"/>
          </a:solidFill>
          <a:ln w="12700">
            <a:solidFill>
              <a:srgbClr val="1E3A4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136892" y="2359152"/>
            <a:ext cx="585216" cy="585216"/>
          </a:xfrm>
          <a:prstGeom prst="ellipse">
            <a:avLst/>
          </a:prstGeom>
          <a:solidFill>
            <a:srgbClr val="1E3A45"/>
          </a:solidFill>
          <a:ln w="12700">
            <a:solidFill>
              <a:srgbClr val="1E3A45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5881" y="2498141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72784" y="3017520"/>
            <a:ext cx="2313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Families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291072" y="3438144"/>
            <a:ext cx="227685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link 1,100+ families across six continents so that no one navigates a rare diagnosis alone. Community is a form of care.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F7F3EE"/>
          </a:solidFill>
          <a:ln w="12700">
            <a:solidFill>
              <a:srgbClr val="F7F3EE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365760" y="478231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SETD5 Syndrome Foundation  ·  setd5syndrome.org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6400800" y="478231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8A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E3A45"/>
          </a:solidFill>
          <a:ln w="12700">
            <a:solidFill>
              <a:srgbClr val="1E3A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457200"/>
            <a:ext cx="164592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743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IN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500" kern="0" dirty="0">
                <a:solidFill>
                  <a:srgbClr val="C9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73152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Priorities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389888"/>
            <a:ext cx="5120640" cy="36576"/>
          </a:xfrm>
          <a:prstGeom prst="rect">
            <a:avLst/>
          </a:prstGeom>
          <a:solidFill>
            <a:srgbClr val="D8AB67"/>
          </a:solidFill>
          <a:ln w="12700">
            <a:solidFill>
              <a:srgbClr val="D8AB6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48132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D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studies we are building toward. Every dollar raised brings one of these closer to reality.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84048" y="2148840"/>
            <a:ext cx="53035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4048" y="2148840"/>
            <a:ext cx="64008" cy="859536"/>
          </a:xfrm>
          <a:prstGeom prst="rect">
            <a:avLst/>
          </a:prstGeom>
          <a:solidFill>
            <a:srgbClr val="D8AB67"/>
          </a:solidFill>
          <a:ln w="12700">
            <a:solidFill>
              <a:srgbClr val="D8AB6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" y="2340864"/>
            <a:ext cx="475488" cy="475488"/>
          </a:xfrm>
          <a:prstGeom prst="ellipse">
            <a:avLst/>
          </a:prstGeom>
          <a:solidFill>
            <a:srgbClr val="D8AB67"/>
          </a:solidFill>
          <a:ln w="12700">
            <a:solidFill>
              <a:srgbClr val="D8AB6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56" y="2453792"/>
            <a:ext cx="249631" cy="24963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203704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SETD5 Protein Function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88720" y="255117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SETD5 protein regulates gene expression in developing brain cells — a key step toward targeted therapies.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84048" y="3081528"/>
            <a:ext cx="53035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84048" y="3081528"/>
            <a:ext cx="64008" cy="859536"/>
          </a:xfrm>
          <a:prstGeom prst="rect">
            <a:avLst/>
          </a:prstGeom>
          <a:solidFill>
            <a:srgbClr val="2F5361"/>
          </a:solidFill>
          <a:ln w="12700">
            <a:solidFill>
              <a:srgbClr val="2F536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66928" y="3273552"/>
            <a:ext cx="475488" cy="475488"/>
          </a:xfrm>
          <a:prstGeom prst="ellipse">
            <a:avLst/>
          </a:prstGeom>
          <a:solidFill>
            <a:srgbClr val="2F5361"/>
          </a:solidFill>
          <a:ln w="12700">
            <a:solidFill>
              <a:srgbClr val="2F53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56" y="3386480"/>
            <a:ext cx="249631" cy="24963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3136392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Patient Registry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88720" y="3483864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longitudinal registry tracking development, health, and quality of life across individuals worldwide.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84048" y="4014216"/>
            <a:ext cx="53035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84048" y="4014216"/>
            <a:ext cx="64008" cy="859536"/>
          </a:xfrm>
          <a:prstGeom prst="rect">
            <a:avLst/>
          </a:prstGeom>
          <a:solidFill>
            <a:srgbClr val="C96A38"/>
          </a:solidFill>
          <a:ln w="12700">
            <a:solidFill>
              <a:srgbClr val="C96A3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66928" y="4206240"/>
            <a:ext cx="475488" cy="475488"/>
          </a:xfrm>
          <a:prstGeom prst="ellipse">
            <a:avLst/>
          </a:prstGeom>
          <a:solidFill>
            <a:srgbClr val="C96A38"/>
          </a:solidFill>
          <a:ln w="12700">
            <a:solidFill>
              <a:srgbClr val="C96A38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56" y="4319168"/>
            <a:ext cx="249631" cy="24963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88720" y="4069080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Screening in Mouse Models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188720" y="441655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candidate compounds in animal models — a critical step toward future clinical trials.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6144768" y="45720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Early-Stage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Growing</a:t>
            </a:r>
            <a:endParaRPr lang="en-US" sz="2200" dirty="0"/>
          </a:p>
        </p:txBody>
      </p:sp>
      <p:sp>
        <p:nvSpPr>
          <p:cNvPr id="27" name="Shape 21"/>
          <p:cNvSpPr/>
          <p:nvPr/>
        </p:nvSpPr>
        <p:spPr>
          <a:xfrm>
            <a:off x="6144768" y="1719072"/>
            <a:ext cx="2377440" cy="36576"/>
          </a:xfrm>
          <a:prstGeom prst="rect">
            <a:avLst/>
          </a:prstGeom>
          <a:solidFill>
            <a:srgbClr val="D8AB67"/>
          </a:solidFill>
          <a:ln w="12700">
            <a:solidFill>
              <a:srgbClr val="D8AB67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144768" y="184708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AC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yet funding these studies. We are building toward our first grant cycle.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144768" y="28346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"Every dollar brings us closer to answers."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6080760" y="3767328"/>
            <a:ext cx="2743200" cy="658368"/>
          </a:xfrm>
          <a:prstGeom prst="rect">
            <a:avLst/>
          </a:prstGeom>
          <a:solidFill>
            <a:srgbClr val="D8AB67"/>
          </a:solidFill>
          <a:ln w="12700">
            <a:solidFill>
              <a:srgbClr val="D8AB67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144768" y="3785616"/>
            <a:ext cx="26151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1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more priorities: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Variant-Feature Study · Cell Models · Behavioral Interventions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F7F3EE"/>
          </a:solidFill>
          <a:ln w="12700">
            <a:solidFill>
              <a:srgbClr val="F7F3EE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365760" y="478231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SETD5 Syndrome Foundation  ·  setd5syndrome.org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6400800" y="478231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8A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Priorities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53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-365760"/>
            <a:ext cx="256032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0" y="1371600"/>
            <a:ext cx="2011680" cy="4114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96A38"/>
          </a:solidFill>
          <a:ln w="12700">
            <a:solidFill>
              <a:srgbClr val="C96A38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438912" y="29260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AC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38912" y="685800"/>
            <a:ext cx="6858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1,100+ Families.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Almost No Research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Funding.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438912" y="2944368"/>
            <a:ext cx="5943600" cy="36576"/>
          </a:xfrm>
          <a:prstGeom prst="rect">
            <a:avLst/>
          </a:prstGeom>
          <a:solidFill>
            <a:srgbClr val="D8AB67"/>
          </a:solidFill>
          <a:ln w="12700">
            <a:solidFill>
              <a:srgbClr val="D8AB6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38912" y="3072384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i="1" dirty="0">
                <a:solidFill>
                  <a:srgbClr val="FAC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families found each other on Facebook before they found a doctor who recognized the condition. We exist to build the scientific infrastructure that matches the scale of this community.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457200" y="393192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AC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75+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457200" y="446227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in published research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291840" y="400507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AB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572000" y="393192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AC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1,100+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4572000" y="446227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living with the diagnosis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42D38"/>
          </a:solidFill>
          <a:ln w="12700">
            <a:solidFill>
              <a:srgbClr val="142D3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5760" y="478231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SETD5 Syndrome Foundation  ·  setd5syndrome.org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400800" y="478231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8A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45"/>
          </a:solidFill>
          <a:ln w="12700">
            <a:solidFill>
              <a:srgbClr val="1E3A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-274320"/>
            <a:ext cx="164592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8A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 Parents Who Refused to Wait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4754880" cy="2487168"/>
          </a:xfrm>
          <a:prstGeom prst="rect">
            <a:avLst/>
          </a:prstGeom>
          <a:solidFill>
            <a:srgbClr val="F7F3EE"/>
          </a:solidFill>
          <a:ln w="12700">
            <a:solidFill>
              <a:srgbClr val="E0DBD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188720"/>
            <a:ext cx="64008" cy="2487168"/>
          </a:xfrm>
          <a:prstGeom prst="rect">
            <a:avLst/>
          </a:prstGeom>
          <a:solidFill>
            <a:srgbClr val="D8AB67"/>
          </a:solidFill>
          <a:ln w="12700">
            <a:solidFill>
              <a:srgbClr val="D8AB6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8AB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640080" y="1664208"/>
            <a:ext cx="43891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took eleven years and countless appointments before anyone gave my son’s condition a name. Many doctors said to watch and wait. But we kept pushing, because we knew.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finally had an answer, we could begin fighting for him in a whole new way. That’s why I joined this Foundation: so the next family doesn’t have to wait that long.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340156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Founding Parent, SETD5 Syndrome Foundation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0" y="1188720"/>
            <a:ext cx="3291840" cy="2487168"/>
          </a:xfrm>
          <a:prstGeom prst="rect">
            <a:avLst/>
          </a:prstGeom>
          <a:solidFill>
            <a:srgbClr val="1E3A45"/>
          </a:solidFill>
          <a:ln w="12700">
            <a:solidFill>
              <a:srgbClr val="1E3A45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188720"/>
            <a:ext cx="1463040" cy="2487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37160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C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Foundation</a:t>
            </a:r>
            <a:endParaRPr lang="en-US" sz="16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68" y="1892808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53328" y="18653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Family-led nonprofit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233172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53328" y="23042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of parents &amp; advocates</a:t>
            </a:r>
            <a:endParaRPr lang="en-US" sz="11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568" y="2770632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053328" y="27432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advisory board in development</a:t>
            </a:r>
            <a:endParaRPr lang="en-US" sz="11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7568" y="3209544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053328" y="31821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toward first grant cycle</a:t>
            </a:r>
            <a:endParaRPr lang="en-US" sz="1150" dirty="0"/>
          </a:p>
        </p:txBody>
      </p:sp>
      <p:sp>
        <p:nvSpPr>
          <p:cNvPr id="22" name="Shape 14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F7F3EE"/>
          </a:solidFill>
          <a:ln w="12700">
            <a:solidFill>
              <a:srgbClr val="F7F3EE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365760" y="478231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SETD5 Syndrome Foundation  ·  setd5syndrome.org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6400800" y="478231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8A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3A45"/>
          </a:solidFill>
          <a:ln w="12700">
            <a:solidFill>
              <a:srgbClr val="1E3A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-182880"/>
            <a:ext cx="146304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8A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INVOLVED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57200"/>
            <a:ext cx="7315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Us in Moving Science Forward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393192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34440"/>
            <a:ext cx="3931920" cy="64008"/>
          </a:xfrm>
          <a:prstGeom prst="rect">
            <a:avLst/>
          </a:prstGeom>
          <a:solidFill>
            <a:srgbClr val="C96A38"/>
          </a:solidFill>
          <a:ln w="12700">
            <a:solidFill>
              <a:srgbClr val="C96A3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1792" y="1453896"/>
            <a:ext cx="512064" cy="512064"/>
          </a:xfrm>
          <a:prstGeom prst="ellipse">
            <a:avLst/>
          </a:prstGeom>
          <a:solidFill>
            <a:srgbClr val="C96A38"/>
          </a:solidFill>
          <a:ln w="12700">
            <a:solidFill>
              <a:srgbClr val="C96A3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07" y="1575511"/>
            <a:ext cx="268834" cy="26883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13807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Donate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61872" y="1737360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dollar raised goes directly toward making the first SETD5 research grants possible. No gift is too small.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261872" y="2587752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setd5syndrome.org/donate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754880" y="1234440"/>
            <a:ext cx="393192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54880" y="1234440"/>
            <a:ext cx="3931920" cy="64008"/>
          </a:xfrm>
          <a:prstGeom prst="rect">
            <a:avLst/>
          </a:prstGeom>
          <a:solidFill>
            <a:srgbClr val="2F5361"/>
          </a:solidFill>
          <a:ln w="12700">
            <a:solidFill>
              <a:srgbClr val="2F536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919472" y="1453896"/>
            <a:ext cx="512064" cy="512064"/>
          </a:xfrm>
          <a:prstGeom prst="ellipse">
            <a:avLst/>
          </a:prstGeom>
          <a:solidFill>
            <a:srgbClr val="2F5361"/>
          </a:solidFill>
          <a:ln w="12700">
            <a:solidFill>
              <a:srgbClr val="2F536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1087" y="1575511"/>
            <a:ext cx="268834" cy="2688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59552" y="13807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Research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559552" y="1737360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a researcher or clinician? We want to connect. Reach out to discuss partnerships and grant opportunities.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559552" y="2587752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info@setd5syndrome.org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57200" y="2971800"/>
            <a:ext cx="393192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2971800"/>
            <a:ext cx="3931920" cy="64008"/>
          </a:xfrm>
          <a:prstGeom prst="rect">
            <a:avLst/>
          </a:prstGeom>
          <a:solidFill>
            <a:srgbClr val="D8AB67"/>
          </a:solidFill>
          <a:ln w="12700">
            <a:solidFill>
              <a:srgbClr val="D8AB6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21792" y="3191256"/>
            <a:ext cx="512064" cy="512064"/>
          </a:xfrm>
          <a:prstGeom prst="ellipse">
            <a:avLst/>
          </a:prstGeom>
          <a:solidFill>
            <a:srgbClr val="D8AB67"/>
          </a:solidFill>
          <a:ln w="12700">
            <a:solidFill>
              <a:srgbClr val="D8AB67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07" y="3312871"/>
            <a:ext cx="268834" cy="26883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61872" y="311810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Volunteer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1261872" y="3474720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 committee, help with events, or contribute your professional skills to the Foundation’s growing programs.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1261872" y="4325112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setd5syndrome.org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4754880" y="2971800"/>
            <a:ext cx="393192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754880" y="2971800"/>
            <a:ext cx="3931920" cy="64008"/>
          </a:xfrm>
          <a:prstGeom prst="rect">
            <a:avLst/>
          </a:prstGeom>
          <a:solidFill>
            <a:srgbClr val="1E3A45"/>
          </a:solidFill>
          <a:ln w="12700">
            <a:solidFill>
              <a:srgbClr val="1E3A4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919472" y="3191256"/>
            <a:ext cx="512064" cy="512064"/>
          </a:xfrm>
          <a:prstGeom prst="ellipse">
            <a:avLst/>
          </a:prstGeom>
          <a:solidFill>
            <a:srgbClr val="1E3A45"/>
          </a:solidFill>
          <a:ln w="12700">
            <a:solidFill>
              <a:srgbClr val="1E3A45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1087" y="3312871"/>
            <a:ext cx="268834" cy="26883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559552" y="311810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Spread the Word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5559552" y="3474720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D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our story. Help us reach undiagnosed families, clinicians, and researchers who need to know we exist.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5559552" y="4325112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setd5syndrome.org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F7F3EE"/>
          </a:solidFill>
          <a:ln w="12700">
            <a:solidFill>
              <a:srgbClr val="F7F3EE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365760" y="478231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SETD5 Syndrome Foundation  ·  setd5syndrome.org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6400800" y="478231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8A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Involved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-365760"/>
            <a:ext cx="256032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0" y="1645920"/>
            <a:ext cx="1920240" cy="3840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D8AB67"/>
          </a:solidFill>
          <a:ln w="12700">
            <a:solidFill>
              <a:srgbClr val="D8AB67"/>
            </a:solidFill>
            <a:prstDash val="solid"/>
          </a:ln>
        </p:spPr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1828800" cy="9144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57200" y="141732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doesn’t wait.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Neither do our families.</a:t>
            </a:r>
            <a:endParaRPr lang="en-US" sz="3800" dirty="0"/>
          </a:p>
        </p:txBody>
      </p:sp>
      <p:sp>
        <p:nvSpPr>
          <p:cNvPr id="7" name="Shape 2"/>
          <p:cNvSpPr/>
          <p:nvPr/>
        </p:nvSpPr>
        <p:spPr>
          <a:xfrm>
            <a:off x="457200" y="2944368"/>
            <a:ext cx="5486400" cy="36576"/>
          </a:xfrm>
          <a:prstGeom prst="rect">
            <a:avLst/>
          </a:prstGeom>
          <a:solidFill>
            <a:srgbClr val="D8AB67"/>
          </a:solidFill>
          <a:ln w="12700">
            <a:solidFill>
              <a:srgbClr val="D8AB67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438912" y="3200400"/>
            <a:ext cx="475488" cy="475488"/>
          </a:xfrm>
          <a:prstGeom prst="ellipse">
            <a:avLst/>
          </a:prstGeom>
          <a:solidFill>
            <a:srgbClr val="2F5361"/>
          </a:solidFill>
          <a:ln w="12700">
            <a:solidFill>
              <a:srgbClr val="2F5361"/>
            </a:solidFill>
            <a:prstDash val="solid"/>
          </a:ln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40" y="3313328"/>
            <a:ext cx="249631" cy="24963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24128" y="325526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C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info@setd5syndrome.org</a:t>
            </a:r>
            <a:endParaRPr lang="en-US" sz="1350" dirty="0"/>
          </a:p>
        </p:txBody>
      </p:sp>
      <p:sp>
        <p:nvSpPr>
          <p:cNvPr id="11" name="Shape 5"/>
          <p:cNvSpPr/>
          <p:nvPr/>
        </p:nvSpPr>
        <p:spPr>
          <a:xfrm>
            <a:off x="3913632" y="3200400"/>
            <a:ext cx="475488" cy="475488"/>
          </a:xfrm>
          <a:prstGeom prst="ellipse">
            <a:avLst/>
          </a:prstGeom>
          <a:solidFill>
            <a:srgbClr val="2F5361"/>
          </a:solidFill>
          <a:ln w="12700">
            <a:solidFill>
              <a:srgbClr val="2F5361"/>
            </a:solidFill>
            <a:prstDash val="solid"/>
          </a:ln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6560" y="3313328"/>
            <a:ext cx="249631" cy="24963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498848" y="325526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C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setd5syndrome.org</a:t>
            </a:r>
            <a:endParaRPr lang="en-US" sz="1350" dirty="0"/>
          </a:p>
        </p:txBody>
      </p:sp>
      <p:sp>
        <p:nvSpPr>
          <p:cNvPr id="14" name="Text 7"/>
          <p:cNvSpPr/>
          <p:nvPr/>
        </p:nvSpPr>
        <p:spPr>
          <a:xfrm>
            <a:off x="457200" y="3950208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AB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Fueling Research. Empowering Families.</a:t>
            </a:r>
            <a:endParaRPr lang="en-US" sz="1600" dirty="0"/>
          </a:p>
        </p:txBody>
      </p:sp>
      <p:sp>
        <p:nvSpPr>
          <p:cNvPr id="15" name="Shape 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42D38"/>
          </a:solidFill>
          <a:ln w="12700">
            <a:solidFill>
              <a:srgbClr val="142D38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365760" y="478231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SETD5 Syndrome Foundation  ·  setd5syndrome.org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SETD5 Syndrome Foundation: Who We Are</dc:title>
  <dc:subject>PptxGenJS Presentation</dc:subject>
  <dc:creator>SETD5 Syndrome Foundation</dc:creator>
  <cp:lastModifiedBy>SETD5 Syndrome Foundation</cp:lastModifiedBy>
  <cp:revision>1</cp:revision>
  <dcterms:created xsi:type="dcterms:W3CDTF">2026-04-12T23:34:58Z</dcterms:created>
  <dcterms:modified xsi:type="dcterms:W3CDTF">2026-04-12T23:34:58Z</dcterms:modified>
</cp:coreProperties>
</file>