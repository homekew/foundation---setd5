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youtu.be/FuvhmiPsXbo" TargetMode="External"/><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45"/>
        </a:solidFill>
      </p:bgPr>
    </p:bg>
    <p:spTree>
      <p:nvGrpSpPr>
        <p:cNvPr id="1" name=""/>
        <p:cNvGrpSpPr/>
        <p:nvPr/>
      </p:nvGrpSpPr>
      <p:grpSpPr>
        <a:xfrm>
          <a:off x="0" y="0"/>
          <a:ext cx="0" cy="0"/>
          <a:chOff x="0" y="0"/>
          <a:chExt cx="0" cy="0"/>
        </a:xfrm>
      </p:grpSpPr>
      <p:sp>
        <p:nvSpPr>
          <p:cNvPr id="2" name="Text 0"/>
          <p:cNvSpPr/>
          <p:nvPr/>
        </p:nvSpPr>
        <p:spPr>
          <a:xfrm>
            <a:off x="502920" y="960120"/>
            <a:ext cx="5029200" cy="256032"/>
          </a:xfrm>
          <a:prstGeom prst="rect">
            <a:avLst/>
          </a:prstGeom>
          <a:noFill/>
          <a:ln/>
        </p:spPr>
        <p:txBody>
          <a:bodyPr wrap="square" rtlCol="0" anchor="ctr"/>
          <a:lstStyle/>
          <a:p>
            <a:pPr algn="l" indent="0" marL="0">
              <a:buNone/>
            </a:pPr>
            <a:r>
              <a:rPr lang="en-US" sz="1000" b="1" spc="250" kern="0" dirty="0">
                <a:solidFill>
                  <a:srgbClr val="D8AB67"/>
                </a:solidFill>
                <a:latin typeface="Open Sans" pitchFamily="34" charset="0"/>
                <a:ea typeface="Open Sans" pitchFamily="34" charset="-122"/>
                <a:cs typeface="Open Sans" pitchFamily="34" charset="-120"/>
              </a:rPr>
              <a:t>FOUNDING MEETING  ·  FEBRUARY 25, 2026</a:t>
            </a:r>
            <a:endParaRPr lang="en-US" sz="1000" dirty="0"/>
          </a:p>
        </p:txBody>
      </p:sp>
      <p:sp>
        <p:nvSpPr>
          <p:cNvPr id="3" name="Text 1"/>
          <p:cNvSpPr/>
          <p:nvPr/>
        </p:nvSpPr>
        <p:spPr>
          <a:xfrm>
            <a:off x="502920" y="1280160"/>
            <a:ext cx="5029200" cy="960120"/>
          </a:xfrm>
          <a:prstGeom prst="rect">
            <a:avLst/>
          </a:prstGeom>
          <a:noFill/>
          <a:ln/>
        </p:spPr>
        <p:txBody>
          <a:bodyPr wrap="square" rtlCol="0" anchor="ctr"/>
          <a:lstStyle/>
          <a:p>
            <a:pPr algn="l" indent="0" marL="0">
              <a:buNone/>
            </a:pPr>
            <a:r>
              <a:rPr lang="en-US" sz="3400" b="1" dirty="0">
                <a:solidFill>
                  <a:srgbClr val="FFFFFF"/>
                </a:solidFill>
                <a:latin typeface="Open Sans" pitchFamily="34" charset="0"/>
                <a:ea typeface="Open Sans" pitchFamily="34" charset="-122"/>
                <a:cs typeface="Open Sans" pitchFamily="34" charset="-120"/>
              </a:rPr>
              <a:t>SETD5 Syndrome Foundation</a:t>
            </a:r>
            <a:endParaRPr lang="en-US" sz="3400" dirty="0"/>
          </a:p>
        </p:txBody>
      </p:sp>
      <p:sp>
        <p:nvSpPr>
          <p:cNvPr id="4" name="Text 2"/>
          <p:cNvSpPr/>
          <p:nvPr/>
        </p:nvSpPr>
        <p:spPr>
          <a:xfrm>
            <a:off x="502920" y="2322576"/>
            <a:ext cx="4937760" cy="384048"/>
          </a:xfrm>
          <a:prstGeom prst="rect">
            <a:avLst/>
          </a:prstGeom>
          <a:noFill/>
          <a:ln/>
        </p:spPr>
        <p:txBody>
          <a:bodyPr wrap="square" rtlCol="0" anchor="ctr"/>
          <a:lstStyle/>
          <a:p>
            <a:pPr algn="l" indent="0" marL="0">
              <a:buNone/>
            </a:pPr>
            <a:r>
              <a:rPr lang="en-US" sz="1500" dirty="0">
                <a:solidFill>
                  <a:srgbClr val="D8AB67"/>
                </a:solidFill>
                <a:latin typeface="Open Sans" pitchFamily="34" charset="0"/>
                <a:ea typeface="Open Sans" pitchFamily="34" charset="-122"/>
                <a:cs typeface="Open Sans" pitchFamily="34" charset="-120"/>
              </a:rPr>
              <a:t>Building Something Real, Together</a:t>
            </a:r>
            <a:endParaRPr lang="en-US" sz="1500" dirty="0"/>
          </a:p>
        </p:txBody>
      </p:sp>
      <p:sp>
        <p:nvSpPr>
          <p:cNvPr id="5" name="Shape 3"/>
          <p:cNvSpPr/>
          <p:nvPr/>
        </p:nvSpPr>
        <p:spPr>
          <a:xfrm>
            <a:off x="502920" y="2816352"/>
            <a:ext cx="1828800" cy="36576"/>
          </a:xfrm>
          <a:prstGeom prst="rect">
            <a:avLst/>
          </a:prstGeom>
          <a:solidFill>
            <a:srgbClr val="D17E64"/>
          </a:solidFill>
          <a:ln w="12700">
            <a:solidFill>
              <a:srgbClr val="D17E64"/>
            </a:solidFill>
            <a:prstDash val="solid"/>
          </a:ln>
        </p:spPr>
      </p:sp>
      <p:sp>
        <p:nvSpPr>
          <p:cNvPr id="6" name="Text 4"/>
          <p:cNvSpPr/>
          <p:nvPr/>
        </p:nvSpPr>
        <p:spPr>
          <a:xfrm>
            <a:off x="502920" y="2944368"/>
            <a:ext cx="4937760" cy="256032"/>
          </a:xfrm>
          <a:prstGeom prst="rect">
            <a:avLst/>
          </a:prstGeom>
          <a:noFill/>
          <a:ln/>
        </p:spPr>
        <p:txBody>
          <a:bodyPr wrap="square" rtlCol="0" anchor="ctr"/>
          <a:lstStyle/>
          <a:p>
            <a:pPr algn="l" indent="0" marL="0">
              <a:buNone/>
            </a:pPr>
            <a:r>
              <a:rPr lang="en-US" sz="1050" dirty="0">
                <a:solidFill>
                  <a:srgbClr val="7A9BAB"/>
                </a:solidFill>
                <a:latin typeface="Open Sans" pitchFamily="34" charset="0"/>
                <a:ea typeface="Open Sans" pitchFamily="34" charset="-122"/>
                <a:cs typeface="Open Sans" pitchFamily="34" charset="-120"/>
              </a:rPr>
              <a:t>Wednesday, 2/25/2026  ·  8:30 PM ET  ·  Zoom  ·  90 Minutes</a:t>
            </a:r>
            <a:endParaRPr lang="en-US" sz="1050" dirty="0"/>
          </a:p>
        </p:txBody>
      </p:sp>
      <p:sp>
        <p:nvSpPr>
          <p:cNvPr id="7" name="Text 5"/>
          <p:cNvSpPr/>
          <p:nvPr/>
        </p:nvSpPr>
        <p:spPr>
          <a:xfrm>
            <a:off x="502920" y="3255264"/>
            <a:ext cx="4937760" cy="457200"/>
          </a:xfrm>
          <a:prstGeom prst="rect">
            <a:avLst/>
          </a:prstGeom>
          <a:noFill/>
          <a:ln/>
        </p:spPr>
        <p:txBody>
          <a:bodyPr wrap="square" rtlCol="0" anchor="ctr"/>
          <a:lstStyle/>
          <a:p>
            <a:pPr algn="l" indent="0" marL="0">
              <a:buNone/>
            </a:pPr>
            <a:r>
              <a:rPr lang="en-US" sz="1050" b="1" dirty="0">
                <a:solidFill>
                  <a:srgbClr val="E6F0F3"/>
                </a:solidFill>
                <a:latin typeface="Open Sans" pitchFamily="34" charset="0"/>
                <a:ea typeface="Open Sans" pitchFamily="34" charset="-122"/>
                <a:cs typeface="Open Sans" pitchFamily="34" charset="-120"/>
              </a:rPr>
              <a:t>Laura Biazon, NP/DNP</a:t>
            </a:r>
            <a:endParaRPr lang="en-US" sz="1050" dirty="0"/>
          </a:p>
          <a:p>
            <a:pPr algn="l" indent="0" marL="0">
              <a:buNone/>
            </a:pPr>
            <a:r>
              <a:rPr lang="en-US" sz="1050" b="1" dirty="0">
                <a:solidFill>
                  <a:srgbClr val="E6F0F3"/>
                </a:solidFill>
                <a:latin typeface="Open Sans" pitchFamily="34" charset="0"/>
                <a:ea typeface="Open Sans" pitchFamily="34" charset="-122"/>
                <a:cs typeface="Open Sans" pitchFamily="34" charset="-120"/>
              </a:rPr>
              <a:t>Mandy Wittenberg</a:t>
            </a:r>
            <a:endParaRPr lang="en-US" sz="1050" dirty="0"/>
          </a:p>
        </p:txBody>
      </p:sp>
      <p:sp>
        <p:nvSpPr>
          <p:cNvPr id="8" name="Text 6"/>
          <p:cNvSpPr/>
          <p:nvPr/>
        </p:nvSpPr>
        <p:spPr>
          <a:xfrm>
            <a:off x="502920" y="3822192"/>
            <a:ext cx="4937760" cy="237744"/>
          </a:xfrm>
          <a:prstGeom prst="rect">
            <a:avLst/>
          </a:prstGeom>
          <a:noFill/>
          <a:ln/>
        </p:spPr>
        <p:txBody>
          <a:bodyPr wrap="square" rtlCol="0" anchor="ctr"/>
          <a:lstStyle/>
          <a:p>
            <a:pPr algn="l" indent="0" marL="0">
              <a:buNone/>
            </a:pPr>
            <a:r>
              <a:rPr lang="en-US" sz="1000" b="1" dirty="0">
                <a:solidFill>
                  <a:srgbClr val="D8AB67"/>
                </a:solidFill>
                <a:latin typeface="Open Sans" pitchFamily="34" charset="0"/>
                <a:ea typeface="Open Sans" pitchFamily="34" charset="-122"/>
                <a:cs typeface="Open Sans" pitchFamily="34" charset="-120"/>
              </a:rPr>
              <a:t>Tonight's Agenda</a:t>
            </a:r>
            <a:endParaRPr lang="en-US" sz="1000" dirty="0"/>
          </a:p>
        </p:txBody>
      </p:sp>
      <p:sp>
        <p:nvSpPr>
          <p:cNvPr id="9" name="Text 7"/>
          <p:cNvSpPr/>
          <p:nvPr/>
        </p:nvSpPr>
        <p:spPr>
          <a:xfrm>
            <a:off x="502920" y="4078224"/>
            <a:ext cx="4937760" cy="658368"/>
          </a:xfrm>
          <a:prstGeom prst="rect">
            <a:avLst/>
          </a:prstGeom>
          <a:noFill/>
          <a:ln/>
        </p:spPr>
        <p:txBody>
          <a:bodyPr wrap="square" rtlCol="0" anchor="ctr"/>
          <a:lstStyle/>
          <a:p>
            <a:pPr algn="l" indent="0" marL="0">
              <a:buNone/>
            </a:pPr>
            <a:r>
              <a:rPr lang="en-US" sz="1000" dirty="0">
                <a:solidFill>
                  <a:srgbClr val="7A9BAB"/>
                </a:solidFill>
                <a:latin typeface="Open Sans" pitchFamily="34" charset="0"/>
                <a:ea typeface="Open Sans" pitchFamily="34" charset="-122"/>
                <a:cs typeface="Open Sans" pitchFamily="34" charset="-120"/>
              </a:rPr>
              <a:t>Intros &amp; Vision</a:t>
            </a:r>
            <a:endParaRPr lang="en-US" sz="1000" dirty="0"/>
          </a:p>
          <a:p>
            <a:pPr algn="l" indent="0" marL="0">
              <a:buNone/>
            </a:pPr>
            <a:r>
              <a:rPr lang="en-US" sz="1000" dirty="0">
                <a:solidFill>
                  <a:srgbClr val="7A9BAB"/>
                </a:solidFill>
                <a:latin typeface="Open Sans" pitchFamily="34" charset="0"/>
                <a:ea typeface="Open Sans" pitchFamily="34" charset="-122"/>
                <a:cs typeface="Open Sans" pitchFamily="34" charset="-120"/>
              </a:rPr>
              <a:t>Landscape Review</a:t>
            </a:r>
            <a:endParaRPr lang="en-US" sz="1000" dirty="0"/>
          </a:p>
          <a:p>
            <a:pPr algn="l" indent="0" marL="0">
              <a:buNone/>
            </a:pPr>
            <a:r>
              <a:rPr lang="en-US" sz="1000" dirty="0">
                <a:solidFill>
                  <a:srgbClr val="7A9BAB"/>
                </a:solidFill>
                <a:latin typeface="Open Sans" pitchFamily="34" charset="0"/>
                <a:ea typeface="Open Sans" pitchFamily="34" charset="-122"/>
                <a:cs typeface="Open Sans" pitchFamily="34" charset="-120"/>
              </a:rPr>
              <a:t>Formation Basics</a:t>
            </a:r>
            <a:endParaRPr lang="en-US" sz="1000" dirty="0"/>
          </a:p>
          <a:p>
            <a:pPr algn="l" indent="0" marL="0">
              <a:buNone/>
            </a:pPr>
            <a:r>
              <a:rPr lang="en-US" sz="1000" dirty="0">
                <a:solidFill>
                  <a:srgbClr val="7A9BAB"/>
                </a:solidFill>
                <a:latin typeface="Open Sans" pitchFamily="34" charset="0"/>
                <a:ea typeface="Open Sans" pitchFamily="34" charset="-122"/>
                <a:cs typeface="Open Sans" pitchFamily="34" charset="-120"/>
              </a:rPr>
              <a:t>Working Groups  ·  Action Items</a:t>
            </a:r>
            <a:endParaRPr lang="en-US" sz="1000" dirty="0"/>
          </a:p>
        </p:txBody>
      </p:sp>
      <p:pic>
        <p:nvPicPr>
          <p:cNvPr id="10" name="Image 0" descr="/sessions/funny-amazing-bohr/unpacked/ppt/media/image1.jpeg">    </p:cNvPr>
          <p:cNvPicPr>
            <a:picLocks noChangeAspect="1"/>
          </p:cNvPicPr>
          <p:nvPr/>
        </p:nvPicPr>
        <p:blipFill>
          <a:blip r:embed="rId1"/>
          <a:stretch>
            <a:fillRect/>
          </a:stretch>
        </p:blipFill>
        <p:spPr>
          <a:xfrm>
            <a:off x="5760720" y="457200"/>
            <a:ext cx="3017520" cy="4251960"/>
          </a:xfrm>
          <a:prstGeom prst="rect">
            <a:avLst/>
          </a:prstGeom>
        </p:spPr>
      </p:pic>
      <p:sp>
        <p:nvSpPr>
          <p:cNvPr id="11" name="Text 8"/>
          <p:cNvSpPr/>
          <p:nvPr/>
        </p:nvSpPr>
        <p:spPr>
          <a:xfrm>
            <a:off x="0" y="4754880"/>
            <a:ext cx="9144000" cy="274320"/>
          </a:xfrm>
          <a:prstGeom prst="rect">
            <a:avLst/>
          </a:prstGeom>
          <a:noFill/>
          <a:ln/>
        </p:spPr>
        <p:txBody>
          <a:bodyPr wrap="square" rtlCol="0" anchor="ctr"/>
          <a:lstStyle/>
          <a:p>
            <a:pPr algn="ctr" indent="0" marL="0">
              <a:buNone/>
            </a:pPr>
            <a:r>
              <a:rPr lang="en-US" sz="950" b="1" spc="200" kern="0" dirty="0">
                <a:solidFill>
                  <a:srgbClr val="4A8A9A"/>
                </a:solidFill>
                <a:latin typeface="Open Sans" pitchFamily="34" charset="0"/>
                <a:ea typeface="Open Sans" pitchFamily="34" charset="-122"/>
                <a:cs typeface="Open Sans" pitchFamily="34" charset="-120"/>
              </a:rPr>
              <a:t>Research  ·  Community  ·  Advocacy</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rtlCol="0" anchor="ctr"/>
          <a:lstStyle/>
          <a:p>
            <a:pPr algn="l" indent="0" marL="0">
              <a:buNone/>
            </a:pPr>
            <a:r>
              <a:rPr lang="en-US" sz="1100" b="1" spc="300" kern="0" dirty="0">
                <a:solidFill>
                  <a:srgbClr val="D17E64"/>
                </a:solidFill>
                <a:latin typeface="Open Sans" pitchFamily="34" charset="0"/>
                <a:ea typeface="Open Sans" pitchFamily="34" charset="-122"/>
                <a:cs typeface="Open Sans" pitchFamily="34" charset="-120"/>
              </a:rPr>
              <a:t>OUR PURPOSE</a:t>
            </a:r>
            <a:endParaRPr lang="en-US" sz="1100" dirty="0"/>
          </a:p>
        </p:txBody>
      </p:sp>
      <p:sp>
        <p:nvSpPr>
          <p:cNvPr id="3" name="Text 1"/>
          <p:cNvSpPr/>
          <p:nvPr/>
        </p:nvSpPr>
        <p:spPr>
          <a:xfrm>
            <a:off x="502920" y="566928"/>
            <a:ext cx="8138160" cy="658368"/>
          </a:xfrm>
          <a:prstGeom prst="rect">
            <a:avLst/>
          </a:prstGeom>
          <a:noFill/>
          <a:ln/>
        </p:spPr>
        <p:txBody>
          <a:bodyPr wrap="square" rtlCol="0" anchor="ctr"/>
          <a:lstStyle/>
          <a:p>
            <a:pPr algn="l" indent="0" marL="0">
              <a:buNone/>
            </a:pPr>
            <a:r>
              <a:rPr lang="en-US" sz="3200" b="1" dirty="0">
                <a:solidFill>
                  <a:srgbClr val="2F5361"/>
                </a:solidFill>
                <a:latin typeface="Open Sans" pitchFamily="34" charset="0"/>
                <a:ea typeface="Open Sans" pitchFamily="34" charset="-122"/>
                <a:cs typeface="Open Sans" pitchFamily="34" charset="-120"/>
              </a:rPr>
              <a:t>Why We're Here</a:t>
            </a:r>
            <a:endParaRPr lang="en-US" sz="3200" dirty="0"/>
          </a:p>
        </p:txBody>
      </p:sp>
      <p:sp>
        <p:nvSpPr>
          <p:cNvPr id="4" name="Shape 2"/>
          <p:cNvSpPr/>
          <p:nvPr/>
        </p:nvSpPr>
        <p:spPr>
          <a:xfrm>
            <a:off x="411480" y="1389888"/>
            <a:ext cx="2651760" cy="3246120"/>
          </a:xfrm>
          <a:prstGeom prst="rect">
            <a:avLst/>
          </a:prstGeom>
          <a:solidFill>
            <a:srgbClr val="FFFFFF"/>
          </a:solidFill>
          <a:ln/>
          <a:effectLst>
            <a:outerShdw sx="100000" sy="100000" kx="0" ky="0" algn="bl" rotWithShape="0" blurRad="152400" dist="38100" dir="8100000">
              <a:srgbClr val="2F5361">
                <a:alpha val="10000"/>
              </a:srgbClr>
            </a:outerShdw>
          </a:effectLst>
        </p:spPr>
      </p:sp>
      <p:sp>
        <p:nvSpPr>
          <p:cNvPr id="5" name="Shape 3"/>
          <p:cNvSpPr/>
          <p:nvPr/>
        </p:nvSpPr>
        <p:spPr>
          <a:xfrm>
            <a:off x="411480" y="1389888"/>
            <a:ext cx="2651760" cy="54864"/>
          </a:xfrm>
          <a:prstGeom prst="rect">
            <a:avLst/>
          </a:prstGeom>
          <a:solidFill>
            <a:srgbClr val="2F5361"/>
          </a:solidFill>
          <a:ln w="12700">
            <a:solidFill>
              <a:srgbClr val="2F5361"/>
            </a:solidFill>
            <a:prstDash val="solid"/>
          </a:ln>
        </p:spPr>
      </p:sp>
      <p:sp>
        <p:nvSpPr>
          <p:cNvPr id="6" name="Shape 4"/>
          <p:cNvSpPr/>
          <p:nvPr/>
        </p:nvSpPr>
        <p:spPr>
          <a:xfrm>
            <a:off x="1481328" y="1572768"/>
            <a:ext cx="512064" cy="512064"/>
          </a:xfrm>
          <a:prstGeom prst="oval">
            <a:avLst/>
          </a:prstGeom>
          <a:solidFill>
            <a:srgbClr val="2F5361"/>
          </a:solidFill>
          <a:ln w="12700">
            <a:solidFill>
              <a:srgbClr val="2F5361"/>
            </a:solidFill>
            <a:prstDash val="solid"/>
          </a:ln>
        </p:spPr>
      </p:sp>
      <p:sp>
        <p:nvSpPr>
          <p:cNvPr id="7" name="Text 5"/>
          <p:cNvSpPr/>
          <p:nvPr/>
        </p:nvSpPr>
        <p:spPr>
          <a:xfrm>
            <a:off x="1481328" y="1572768"/>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R</a:t>
            </a:r>
            <a:endParaRPr lang="en-US" sz="1300" dirty="0"/>
          </a:p>
        </p:txBody>
      </p:sp>
      <p:sp>
        <p:nvSpPr>
          <p:cNvPr id="8" name="Text 6"/>
          <p:cNvSpPr/>
          <p:nvPr/>
        </p:nvSpPr>
        <p:spPr>
          <a:xfrm>
            <a:off x="548640" y="2194560"/>
            <a:ext cx="2377440" cy="384048"/>
          </a:xfrm>
          <a:prstGeom prst="rect">
            <a:avLst/>
          </a:prstGeom>
          <a:noFill/>
          <a:ln/>
        </p:spPr>
        <p:txBody>
          <a:bodyPr wrap="square" rtlCol="0" anchor="ctr"/>
          <a:lstStyle/>
          <a:p>
            <a:pPr algn="ctr" indent="0" marL="0">
              <a:buNone/>
            </a:pPr>
            <a:r>
              <a:rPr lang="en-US" sz="1250" b="1" dirty="0">
                <a:solidFill>
                  <a:srgbClr val="2F5361"/>
                </a:solidFill>
                <a:latin typeface="Open Sans" pitchFamily="34" charset="0"/>
                <a:ea typeface="Open Sans" pitchFamily="34" charset="-122"/>
                <a:cs typeface="Open Sans" pitchFamily="34" charset="-120"/>
              </a:rPr>
              <a:t>Research &amp; Science</a:t>
            </a:r>
            <a:endParaRPr lang="en-US" sz="1250" dirty="0"/>
          </a:p>
        </p:txBody>
      </p:sp>
      <p:sp>
        <p:nvSpPr>
          <p:cNvPr id="9" name="Text 7"/>
          <p:cNvSpPr/>
          <p:nvPr/>
        </p:nvSpPr>
        <p:spPr>
          <a:xfrm>
            <a:off x="576072" y="2615184"/>
            <a:ext cx="2322576" cy="1892808"/>
          </a:xfrm>
          <a:prstGeom prst="rect">
            <a:avLst/>
          </a:prstGeom>
          <a:noFill/>
          <a:ln/>
        </p:spPr>
        <p:txBody>
          <a:bodyPr wrap="square" rtlCol="0" anchor="t"/>
          <a:lstStyle/>
          <a:p>
            <a:pPr algn="ctr" indent="0" marL="0">
              <a:buNone/>
            </a:pPr>
            <a:r>
              <a:rPr lang="en-US" sz="1050" dirty="0">
                <a:solidFill>
                  <a:srgbClr val="4A6B78"/>
                </a:solidFill>
                <a:latin typeface="Open Sans" pitchFamily="34" charset="0"/>
                <a:ea typeface="Open Sans" pitchFamily="34" charset="-122"/>
                <a:cs typeface="Open Sans" pitchFamily="34" charset="-120"/>
              </a:rPr>
              <a:t>Fund studies, build a patient registry, attract researchers who will find answers for our children.</a:t>
            </a:r>
            <a:endParaRPr lang="en-US" sz="1050" dirty="0"/>
          </a:p>
          <a:p>
            <a:pPr algn="ctr" indent="0" marL="0">
              <a:buNone/>
            </a:pPr>
            <a:endParaRPr lang="en-US" sz="1050" dirty="0"/>
          </a:p>
          <a:p>
            <a:pPr algn="ctr" indent="0" marL="0">
              <a:buNone/>
            </a:pPr>
            <a:r>
              <a:rPr lang="en-US" sz="1050" dirty="0">
                <a:solidFill>
                  <a:srgbClr val="4A6B78"/>
                </a:solidFill>
                <a:latin typeface="Open Sans" pitchFamily="34" charset="0"/>
                <a:ea typeface="Open Sans" pitchFamily="34" charset="-122"/>
                <a:cs typeface="Open Sans" pitchFamily="34" charset="-120"/>
              </a:rPr>
              <a:t>101 publications, 53 in the past 5 years.</a:t>
            </a:r>
            <a:endParaRPr lang="en-US" sz="1050" dirty="0"/>
          </a:p>
        </p:txBody>
      </p:sp>
      <p:sp>
        <p:nvSpPr>
          <p:cNvPr id="10" name="Shape 8"/>
          <p:cNvSpPr/>
          <p:nvPr/>
        </p:nvSpPr>
        <p:spPr>
          <a:xfrm>
            <a:off x="3246120" y="1389888"/>
            <a:ext cx="2651760" cy="3246120"/>
          </a:xfrm>
          <a:prstGeom prst="rect">
            <a:avLst/>
          </a:prstGeom>
          <a:solidFill>
            <a:srgbClr val="FFFFFF"/>
          </a:solidFill>
          <a:ln/>
          <a:effectLst>
            <a:outerShdw sx="100000" sy="100000" kx="0" ky="0" algn="bl" rotWithShape="0" blurRad="152400" dist="38100" dir="8100000">
              <a:srgbClr val="2F5361">
                <a:alpha val="10000"/>
              </a:srgbClr>
            </a:outerShdw>
          </a:effectLst>
        </p:spPr>
      </p:sp>
      <p:sp>
        <p:nvSpPr>
          <p:cNvPr id="11" name="Shape 9"/>
          <p:cNvSpPr/>
          <p:nvPr/>
        </p:nvSpPr>
        <p:spPr>
          <a:xfrm>
            <a:off x="3246120" y="1389888"/>
            <a:ext cx="2651760" cy="54864"/>
          </a:xfrm>
          <a:prstGeom prst="rect">
            <a:avLst/>
          </a:prstGeom>
          <a:solidFill>
            <a:srgbClr val="D17E64"/>
          </a:solidFill>
          <a:ln w="12700">
            <a:solidFill>
              <a:srgbClr val="D17E64"/>
            </a:solidFill>
            <a:prstDash val="solid"/>
          </a:ln>
        </p:spPr>
      </p:sp>
      <p:sp>
        <p:nvSpPr>
          <p:cNvPr id="12" name="Shape 10"/>
          <p:cNvSpPr/>
          <p:nvPr/>
        </p:nvSpPr>
        <p:spPr>
          <a:xfrm>
            <a:off x="4315968" y="1572768"/>
            <a:ext cx="512064" cy="512064"/>
          </a:xfrm>
          <a:prstGeom prst="oval">
            <a:avLst/>
          </a:prstGeom>
          <a:solidFill>
            <a:srgbClr val="D17E64"/>
          </a:solidFill>
          <a:ln w="12700">
            <a:solidFill>
              <a:srgbClr val="D17E64"/>
            </a:solidFill>
            <a:prstDash val="solid"/>
          </a:ln>
        </p:spPr>
      </p:sp>
      <p:sp>
        <p:nvSpPr>
          <p:cNvPr id="13" name="Text 11"/>
          <p:cNvSpPr/>
          <p:nvPr/>
        </p:nvSpPr>
        <p:spPr>
          <a:xfrm>
            <a:off x="4315968" y="1572768"/>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S</a:t>
            </a:r>
            <a:endParaRPr lang="en-US" sz="1300" dirty="0"/>
          </a:p>
        </p:txBody>
      </p:sp>
      <p:sp>
        <p:nvSpPr>
          <p:cNvPr id="14" name="Text 12"/>
          <p:cNvSpPr/>
          <p:nvPr/>
        </p:nvSpPr>
        <p:spPr>
          <a:xfrm>
            <a:off x="3383280" y="2194560"/>
            <a:ext cx="2377440" cy="384048"/>
          </a:xfrm>
          <a:prstGeom prst="rect">
            <a:avLst/>
          </a:prstGeom>
          <a:noFill/>
          <a:ln/>
        </p:spPr>
        <p:txBody>
          <a:bodyPr wrap="square" rtlCol="0" anchor="ctr"/>
          <a:lstStyle/>
          <a:p>
            <a:pPr algn="ctr" indent="0" marL="0">
              <a:buNone/>
            </a:pPr>
            <a:r>
              <a:rPr lang="en-US" sz="1250" b="1" dirty="0">
                <a:solidFill>
                  <a:srgbClr val="2F5361"/>
                </a:solidFill>
                <a:latin typeface="Open Sans" pitchFamily="34" charset="0"/>
                <a:ea typeface="Open Sans" pitchFamily="34" charset="-122"/>
                <a:cs typeface="Open Sans" pitchFamily="34" charset="-120"/>
              </a:rPr>
              <a:t>Family Support &amp; Community</a:t>
            </a:r>
            <a:endParaRPr lang="en-US" sz="1250" dirty="0"/>
          </a:p>
        </p:txBody>
      </p:sp>
      <p:sp>
        <p:nvSpPr>
          <p:cNvPr id="15" name="Text 13"/>
          <p:cNvSpPr/>
          <p:nvPr/>
        </p:nvSpPr>
        <p:spPr>
          <a:xfrm>
            <a:off x="3410712" y="2615184"/>
            <a:ext cx="2322576" cy="1892808"/>
          </a:xfrm>
          <a:prstGeom prst="rect">
            <a:avLst/>
          </a:prstGeom>
          <a:noFill/>
          <a:ln/>
        </p:spPr>
        <p:txBody>
          <a:bodyPr wrap="square" rtlCol="0" anchor="t"/>
          <a:lstStyle/>
          <a:p>
            <a:pPr algn="ctr" indent="0" marL="0">
              <a:buNone/>
            </a:pPr>
            <a:r>
              <a:rPr lang="en-US" sz="1050" dirty="0">
                <a:solidFill>
                  <a:srgbClr val="4A6B78"/>
                </a:solidFill>
                <a:latin typeface="Open Sans" pitchFamily="34" charset="0"/>
                <a:ea typeface="Open Sans" pitchFamily="34" charset="-122"/>
                <a:cs typeface="Open Sans" pitchFamily="34" charset="-120"/>
              </a:rPr>
              <a:t>Connect families globally, reduce isolation, provide expert resources, and build a powerful support network.</a:t>
            </a:r>
            <a:endParaRPr lang="en-US" sz="1050" dirty="0"/>
          </a:p>
        </p:txBody>
      </p:sp>
      <p:sp>
        <p:nvSpPr>
          <p:cNvPr id="16" name="Shape 14"/>
          <p:cNvSpPr/>
          <p:nvPr/>
        </p:nvSpPr>
        <p:spPr>
          <a:xfrm>
            <a:off x="6080760" y="1389888"/>
            <a:ext cx="2651760" cy="3246120"/>
          </a:xfrm>
          <a:prstGeom prst="rect">
            <a:avLst/>
          </a:prstGeom>
          <a:solidFill>
            <a:srgbClr val="FFFFFF"/>
          </a:solidFill>
          <a:ln/>
          <a:effectLst>
            <a:outerShdw sx="100000" sy="100000" kx="0" ky="0" algn="bl" rotWithShape="0" blurRad="152400" dist="38100" dir="8100000">
              <a:srgbClr val="2F5361">
                <a:alpha val="10000"/>
              </a:srgbClr>
            </a:outerShdw>
          </a:effectLst>
        </p:spPr>
      </p:sp>
      <p:sp>
        <p:nvSpPr>
          <p:cNvPr id="17" name="Shape 15"/>
          <p:cNvSpPr/>
          <p:nvPr/>
        </p:nvSpPr>
        <p:spPr>
          <a:xfrm>
            <a:off x="6080760" y="1389888"/>
            <a:ext cx="2651760" cy="54864"/>
          </a:xfrm>
          <a:prstGeom prst="rect">
            <a:avLst/>
          </a:prstGeom>
          <a:solidFill>
            <a:srgbClr val="D8AB67"/>
          </a:solidFill>
          <a:ln w="12700">
            <a:solidFill>
              <a:srgbClr val="D8AB67"/>
            </a:solidFill>
            <a:prstDash val="solid"/>
          </a:ln>
        </p:spPr>
      </p:sp>
      <p:sp>
        <p:nvSpPr>
          <p:cNvPr id="18" name="Shape 16"/>
          <p:cNvSpPr/>
          <p:nvPr/>
        </p:nvSpPr>
        <p:spPr>
          <a:xfrm>
            <a:off x="7150608" y="1572768"/>
            <a:ext cx="512064" cy="512064"/>
          </a:xfrm>
          <a:prstGeom prst="oval">
            <a:avLst/>
          </a:prstGeom>
          <a:solidFill>
            <a:srgbClr val="D8AB67"/>
          </a:solidFill>
          <a:ln w="12700">
            <a:solidFill>
              <a:srgbClr val="D8AB67"/>
            </a:solidFill>
            <a:prstDash val="solid"/>
          </a:ln>
        </p:spPr>
      </p:sp>
      <p:sp>
        <p:nvSpPr>
          <p:cNvPr id="19" name="Text 17"/>
          <p:cNvSpPr/>
          <p:nvPr/>
        </p:nvSpPr>
        <p:spPr>
          <a:xfrm>
            <a:off x="7150608" y="1572768"/>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A</a:t>
            </a:r>
            <a:endParaRPr lang="en-US" sz="1300" dirty="0"/>
          </a:p>
        </p:txBody>
      </p:sp>
      <p:sp>
        <p:nvSpPr>
          <p:cNvPr id="20" name="Text 18"/>
          <p:cNvSpPr/>
          <p:nvPr/>
        </p:nvSpPr>
        <p:spPr>
          <a:xfrm>
            <a:off x="6217920" y="2194560"/>
            <a:ext cx="2377440" cy="384048"/>
          </a:xfrm>
          <a:prstGeom prst="rect">
            <a:avLst/>
          </a:prstGeom>
          <a:noFill/>
          <a:ln/>
        </p:spPr>
        <p:txBody>
          <a:bodyPr wrap="square" rtlCol="0" anchor="ctr"/>
          <a:lstStyle/>
          <a:p>
            <a:pPr algn="ctr" indent="0" marL="0">
              <a:buNone/>
            </a:pPr>
            <a:r>
              <a:rPr lang="en-US" sz="1250" b="1" dirty="0">
                <a:solidFill>
                  <a:srgbClr val="2F5361"/>
                </a:solidFill>
                <a:latin typeface="Open Sans" pitchFamily="34" charset="0"/>
                <a:ea typeface="Open Sans" pitchFamily="34" charset="-122"/>
                <a:cs typeface="Open Sans" pitchFamily="34" charset="-120"/>
              </a:rPr>
              <a:t>Awareness &amp; Advocacy</a:t>
            </a:r>
            <a:endParaRPr lang="en-US" sz="1250" dirty="0"/>
          </a:p>
        </p:txBody>
      </p:sp>
      <p:sp>
        <p:nvSpPr>
          <p:cNvPr id="21" name="Text 19"/>
          <p:cNvSpPr/>
          <p:nvPr/>
        </p:nvSpPr>
        <p:spPr>
          <a:xfrm>
            <a:off x="6245352" y="2615184"/>
            <a:ext cx="2322576" cy="1892808"/>
          </a:xfrm>
          <a:prstGeom prst="rect">
            <a:avLst/>
          </a:prstGeom>
          <a:noFill/>
          <a:ln/>
        </p:spPr>
        <p:txBody>
          <a:bodyPr wrap="square" rtlCol="0" anchor="t"/>
          <a:lstStyle/>
          <a:p>
            <a:pPr algn="ctr" indent="0" marL="0">
              <a:buNone/>
            </a:pPr>
            <a:r>
              <a:rPr lang="en-US" sz="1050" dirty="0">
                <a:solidFill>
                  <a:srgbClr val="4A6B78"/>
                </a:solidFill>
                <a:latin typeface="Open Sans" pitchFamily="34" charset="0"/>
                <a:ea typeface="Open Sans" pitchFamily="34" charset="-122"/>
                <a:cs typeface="Open Sans" pitchFamily="34" charset="-120"/>
              </a:rPr>
              <a:t>Grow recognition, build clinical relationships, influence policy, and make SETD5 Syndrome known worldwide.</a:t>
            </a:r>
            <a:endParaRPr lang="en-US" sz="1050" dirty="0"/>
          </a:p>
        </p:txBody>
      </p:sp>
      <p:sp>
        <p:nvSpPr>
          <p:cNvPr id="22" name="Shape 20"/>
          <p:cNvSpPr/>
          <p:nvPr/>
        </p:nvSpPr>
        <p:spPr>
          <a:xfrm>
            <a:off x="0" y="4773168"/>
            <a:ext cx="9144000" cy="9144"/>
          </a:xfrm>
          <a:prstGeom prst="rect">
            <a:avLst/>
          </a:prstGeom>
          <a:solidFill>
            <a:srgbClr val="DDE8EC"/>
          </a:solidFill>
          <a:ln w="12700">
            <a:solidFill>
              <a:srgbClr val="DDE8EC"/>
            </a:solidFill>
            <a:prstDash val="solid"/>
          </a:ln>
        </p:spPr>
      </p:sp>
      <p:sp>
        <p:nvSpPr>
          <p:cNvPr id="23" name="Text 21"/>
          <p:cNvSpPr/>
          <p:nvPr/>
        </p:nvSpPr>
        <p:spPr>
          <a:xfrm>
            <a:off x="502920" y="4828032"/>
            <a:ext cx="8138160" cy="182880"/>
          </a:xfrm>
          <a:prstGeom prst="rect">
            <a:avLst/>
          </a:prstGeom>
          <a:noFill/>
          <a:ln/>
        </p:spPr>
        <p:txBody>
          <a:bodyPr wrap="square" rtlCol="0" anchor="ctr"/>
          <a:lstStyle/>
          <a:p>
            <a:pPr algn="l" indent="0" marL="0">
              <a:buNone/>
            </a:pPr>
            <a:r>
              <a:rPr lang="en-US" sz="800" dirty="0">
                <a:solidFill>
                  <a:srgbClr val="7A9BAB"/>
                </a:solidFill>
                <a:latin typeface="Open Sans" pitchFamily="34" charset="0"/>
                <a:ea typeface="Open Sans" pitchFamily="34" charset="-122"/>
                <a:cs typeface="Open Sans" pitchFamily="34" charset="-120"/>
              </a:rPr>
              <a:t>SETD5 Syndrome Foundation  ·  Founding Meeting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3A45"/>
        </a:solidFill>
      </p:bgPr>
    </p:bg>
    <p:spTree>
      <p:nvGrpSpPr>
        <p:cNvPr id="1" name=""/>
        <p:cNvGrpSpPr/>
        <p:nvPr/>
      </p:nvGrpSpPr>
      <p:grpSpPr>
        <a:xfrm>
          <a:off x="0" y="0"/>
          <a:ext cx="0" cy="0"/>
          <a:chOff x="0" y="0"/>
          <a:chExt cx="0" cy="0"/>
        </a:xfrm>
      </p:grpSpPr>
      <p:sp>
        <p:nvSpPr>
          <p:cNvPr id="2" name="Text 0"/>
          <p:cNvSpPr/>
          <p:nvPr/>
        </p:nvSpPr>
        <p:spPr>
          <a:xfrm>
            <a:off x="502920" y="274320"/>
            <a:ext cx="8138160" cy="530352"/>
          </a:xfrm>
          <a:prstGeom prst="rect">
            <a:avLst/>
          </a:prstGeom>
          <a:noFill/>
          <a:ln/>
        </p:spPr>
        <p:txBody>
          <a:bodyPr wrap="square" rtlCol="0" anchor="ctr"/>
          <a:lstStyle/>
          <a:p>
            <a:pPr algn="ctr" indent="0" marL="0">
              <a:buNone/>
            </a:pPr>
            <a:r>
              <a:rPr lang="en-US" sz="2800" b="1" dirty="0">
                <a:solidFill>
                  <a:srgbClr val="FFFFFF"/>
                </a:solidFill>
                <a:latin typeface="Open Sans" pitchFamily="34" charset="0"/>
                <a:ea typeface="Open Sans" pitchFamily="34" charset="-122"/>
                <a:cs typeface="Open Sans" pitchFamily="34" charset="-120"/>
              </a:rPr>
              <a:t>The Rare Disease Landscape</a:t>
            </a:r>
            <a:endParaRPr lang="en-US" sz="2800" dirty="0"/>
          </a:p>
        </p:txBody>
      </p:sp>
      <p:sp>
        <p:nvSpPr>
          <p:cNvPr id="3" name="Text 1"/>
          <p:cNvSpPr/>
          <p:nvPr/>
        </p:nvSpPr>
        <p:spPr>
          <a:xfrm>
            <a:off x="502920" y="859536"/>
            <a:ext cx="8138160" cy="320040"/>
          </a:xfrm>
          <a:prstGeom prst="rect">
            <a:avLst/>
          </a:prstGeom>
          <a:noFill/>
          <a:ln/>
        </p:spPr>
        <p:txBody>
          <a:bodyPr wrap="square" rtlCol="0" anchor="ctr"/>
          <a:lstStyle/>
          <a:p>
            <a:pPr algn="ctr" indent="0" marL="0">
              <a:buNone/>
            </a:pPr>
            <a:r>
              <a:rPr lang="en-US" sz="1250" dirty="0">
                <a:solidFill>
                  <a:srgbClr val="E6F0F3"/>
                </a:solidFill>
                <a:latin typeface="Open Sans" pitchFamily="34" charset="0"/>
                <a:ea typeface="Open Sans" pitchFamily="34" charset="-122"/>
                <a:cs typeface="Open Sans" pitchFamily="34" charset="-120"/>
              </a:rPr>
              <a:t>SETD5 Syndrome is rare, but families like ours are why this work matters.</a:t>
            </a:r>
            <a:endParaRPr lang="en-US" sz="1250" dirty="0"/>
          </a:p>
        </p:txBody>
      </p:sp>
      <p:pic>
        <p:nvPicPr>
          <p:cNvPr id="4" name="Image 0" descr="/sessions/funny-amazing-bohr/unpacked/ppt/media/image2.png">    </p:cNvPr>
          <p:cNvPicPr>
            <a:picLocks noChangeAspect="1"/>
          </p:cNvPicPr>
          <p:nvPr/>
        </p:nvPicPr>
        <p:blipFill>
          <a:blip r:embed="rId1"/>
          <a:stretch>
            <a:fillRect/>
          </a:stretch>
        </p:blipFill>
        <p:spPr>
          <a:xfrm>
            <a:off x="914400" y="1325880"/>
            <a:ext cx="7315200" cy="3401568"/>
          </a:xfrm>
          <a:prstGeom prst="rect">
            <a:avLst/>
          </a:prstGeom>
        </p:spPr>
      </p:pic>
      <p:sp>
        <p:nvSpPr>
          <p:cNvPr id="5" name="Text 2"/>
          <p:cNvSpPr/>
          <p:nvPr/>
        </p:nvSpPr>
        <p:spPr>
          <a:xfrm>
            <a:off x="0" y="4800600"/>
            <a:ext cx="9144000" cy="228600"/>
          </a:xfrm>
          <a:prstGeom prst="rect">
            <a:avLst/>
          </a:prstGeom>
          <a:noFill/>
          <a:ln/>
        </p:spPr>
        <p:txBody>
          <a:bodyPr wrap="square" rtlCol="0" anchor="ctr"/>
          <a:lstStyle/>
          <a:p>
            <a:pPr algn="ctr" indent="0" marL="0">
              <a:buNone/>
            </a:pPr>
            <a:r>
              <a:rPr lang="en-US" sz="850" b="1" spc="200" kern="0" dirty="0">
                <a:solidFill>
                  <a:srgbClr val="4A8A9A"/>
                </a:solidFill>
                <a:latin typeface="Open Sans" pitchFamily="34" charset="0"/>
                <a:ea typeface="Open Sans" pitchFamily="34" charset="-122"/>
                <a:cs typeface="Open Sans" pitchFamily="34" charset="-120"/>
              </a:rPr>
              <a:t>Research  ·  Community  ·  Advocacy</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4023360" cy="256032"/>
          </a:xfrm>
          <a:prstGeom prst="rect">
            <a:avLst/>
          </a:prstGeom>
          <a:noFill/>
          <a:ln/>
        </p:spPr>
        <p:txBody>
          <a:bodyPr wrap="square" rtlCol="0" anchor="ctr"/>
          <a:lstStyle/>
          <a:p>
            <a:pPr algn="l" indent="0" marL="0">
              <a:buNone/>
            </a:pPr>
            <a:r>
              <a:rPr lang="en-US" sz="1100" b="1" spc="300" kern="0" dirty="0">
                <a:solidFill>
                  <a:srgbClr val="D17E64"/>
                </a:solidFill>
                <a:latin typeface="Open Sans" pitchFamily="34" charset="0"/>
                <a:ea typeface="Open Sans" pitchFamily="34" charset="-122"/>
                <a:cs typeface="Open Sans" pitchFamily="34" charset="-120"/>
              </a:rPr>
              <a:t>THE SCIENCE</a:t>
            </a:r>
            <a:endParaRPr lang="en-US" sz="1100" dirty="0"/>
          </a:p>
        </p:txBody>
      </p:sp>
      <p:sp>
        <p:nvSpPr>
          <p:cNvPr id="3" name="Text 1"/>
          <p:cNvSpPr/>
          <p:nvPr/>
        </p:nvSpPr>
        <p:spPr>
          <a:xfrm>
            <a:off x="502920" y="530352"/>
            <a:ext cx="4023360" cy="658368"/>
          </a:xfrm>
          <a:prstGeom prst="rect">
            <a:avLst/>
          </a:prstGeom>
          <a:noFill/>
          <a:ln/>
        </p:spPr>
        <p:txBody>
          <a:bodyPr wrap="square" rtlCol="0" anchor="ctr"/>
          <a:lstStyle/>
          <a:p>
            <a:pPr algn="l" indent="0" marL="0">
              <a:buNone/>
            </a:pPr>
            <a:r>
              <a:rPr lang="en-US" sz="3200" b="1" dirty="0">
                <a:solidFill>
                  <a:srgbClr val="2F5361"/>
                </a:solidFill>
                <a:latin typeface="Open Sans" pitchFamily="34" charset="0"/>
                <a:ea typeface="Open Sans" pitchFamily="34" charset="-122"/>
                <a:cs typeface="Open Sans" pitchFamily="34" charset="-120"/>
              </a:rPr>
              <a:t>What Is SETD5 Syndrome?</a:t>
            </a:r>
            <a:endParaRPr lang="en-US" sz="3200" dirty="0"/>
          </a:p>
        </p:txBody>
      </p:sp>
      <p:sp>
        <p:nvSpPr>
          <p:cNvPr id="4" name="Text 2"/>
          <p:cNvSpPr/>
          <p:nvPr/>
        </p:nvSpPr>
        <p:spPr>
          <a:xfrm>
            <a:off x="502920" y="1298448"/>
            <a:ext cx="3840480" cy="749808"/>
          </a:xfrm>
          <a:prstGeom prst="rect">
            <a:avLst/>
          </a:prstGeom>
          <a:noFill/>
          <a:ln/>
        </p:spPr>
        <p:txBody>
          <a:bodyPr wrap="square" rtlCol="0" anchor="ctr"/>
          <a:lstStyle/>
          <a:p>
            <a:pPr algn="l" indent="0" marL="0">
              <a:buNone/>
            </a:pPr>
            <a:r>
              <a:rPr lang="en-US" sz="1100" dirty="0">
                <a:solidFill>
                  <a:srgbClr val="4A6B78"/>
                </a:solidFill>
                <a:latin typeface="Open Sans" pitchFamily="34" charset="0"/>
                <a:ea typeface="Open Sans" pitchFamily="34" charset="-122"/>
                <a:cs typeface="Open Sans" pitchFamily="34" charset="-120"/>
              </a:rPr>
              <a:t>SETD5 (SET Domain Containing 5) is a gene involved in regulating how other genes are expressed. Pathogenic variants cause a neurodevelopmental syndrome characterized by:</a:t>
            </a:r>
            <a:endParaRPr lang="en-US" sz="1100" dirty="0"/>
          </a:p>
        </p:txBody>
      </p:sp>
      <p:sp>
        <p:nvSpPr>
          <p:cNvPr id="5" name="Text 3"/>
          <p:cNvSpPr/>
          <p:nvPr/>
        </p:nvSpPr>
        <p:spPr>
          <a:xfrm>
            <a:off x="502920" y="2103120"/>
            <a:ext cx="3840480" cy="2423160"/>
          </a:xfrm>
          <a:prstGeom prst="rect">
            <a:avLst/>
          </a:prstGeom>
          <a:noFill/>
          <a:ln/>
        </p:spPr>
        <p:txBody>
          <a:bodyPr wrap="square" rtlCol="0" anchor="ctr"/>
          <a:lstStyle/>
          <a:p>
            <a:pPr marL="342900" indent="-342900">
              <a:buSzPct val="100000"/>
              <a:buChar char="•"/>
            </a:pPr>
            <a:r>
              <a:rPr lang="en-US" sz="1050" dirty="0">
                <a:solidFill>
                  <a:srgbClr val="4A6B78"/>
                </a:solidFill>
                <a:latin typeface="Open Sans" pitchFamily="34" charset="0"/>
                <a:ea typeface="Open Sans" pitchFamily="34" charset="-122"/>
                <a:cs typeface="Open Sans" pitchFamily="34" charset="-120"/>
              </a:rPr>
              <a:t>Intellectual disability (borderline to moderate; range: none to severe)</a:t>
            </a:r>
            <a:endParaRPr lang="en-US" sz="1050" dirty="0"/>
          </a:p>
          <a:p>
            <a:pPr marL="342900" indent="-342900">
              <a:buSzPct val="100000"/>
              <a:buChar char="•"/>
            </a:pPr>
            <a:r>
              <a:rPr lang="en-US" sz="1050" dirty="0">
                <a:solidFill>
                  <a:srgbClr val="4A6B78"/>
                </a:solidFill>
                <a:latin typeface="Open Sans" pitchFamily="34" charset="0"/>
                <a:ea typeface="Open Sans" pitchFamily="34" charset="-122"/>
                <a:cs typeface="Open Sans" pitchFamily="34" charset="-120"/>
              </a:rPr>
              <a:t>Speech and language delays</a:t>
            </a:r>
            <a:endParaRPr lang="en-US" sz="1050" dirty="0"/>
          </a:p>
          <a:p>
            <a:pPr marL="342900" indent="-342900">
              <a:buSzPct val="100000"/>
              <a:buChar char="•"/>
            </a:pPr>
            <a:r>
              <a:rPr lang="en-US" sz="1050" dirty="0">
                <a:solidFill>
                  <a:srgbClr val="4A6B78"/>
                </a:solidFill>
                <a:latin typeface="Open Sans" pitchFamily="34" charset="0"/>
                <a:ea typeface="Open Sans" pitchFamily="34" charset="-122"/>
                <a:cs typeface="Open Sans" pitchFamily="34" charset="-120"/>
              </a:rPr>
              <a:t>Autism spectrum features (~30%)</a:t>
            </a:r>
            <a:endParaRPr lang="en-US" sz="1050" dirty="0"/>
          </a:p>
          <a:p>
            <a:pPr marL="342900" indent="-342900">
              <a:buSzPct val="100000"/>
              <a:buChar char="•"/>
            </a:pPr>
            <a:r>
              <a:rPr lang="en-US" sz="1050" dirty="0">
                <a:solidFill>
                  <a:srgbClr val="4A6B78"/>
                </a:solidFill>
                <a:latin typeface="Open Sans" pitchFamily="34" charset="0"/>
                <a:ea typeface="Open Sans" pitchFamily="34" charset="-122"/>
                <a:cs typeface="Open Sans" pitchFamily="34" charset="-120"/>
              </a:rPr>
              <a:t>Facial feature differences</a:t>
            </a:r>
            <a:endParaRPr lang="en-US" sz="1050" dirty="0"/>
          </a:p>
          <a:p>
            <a:pPr marL="342900" indent="-342900">
              <a:buSzPct val="100000"/>
              <a:buChar char="•"/>
            </a:pPr>
            <a:r>
              <a:rPr lang="en-US" sz="1050" dirty="0">
                <a:solidFill>
                  <a:srgbClr val="4A6B78"/>
                </a:solidFill>
                <a:latin typeface="Open Sans" pitchFamily="34" charset="0"/>
                <a:ea typeface="Open Sans" pitchFamily="34" charset="-122"/>
                <a:cs typeface="Open Sans" pitchFamily="34" charset="-120"/>
              </a:rPr>
              <a:t>Variety of medical complexity</a:t>
            </a:r>
            <a:endParaRPr lang="en-US" sz="1050" dirty="0"/>
          </a:p>
          <a:p>
            <a:pPr marL="342900" indent="-342900">
              <a:buSzPct val="100000"/>
              <a:buChar char="•"/>
            </a:pPr>
            <a:r>
              <a:rPr lang="en-US" sz="1050" dirty="0">
                <a:solidFill>
                  <a:srgbClr val="4A6B78"/>
                </a:solidFill>
                <a:latin typeface="Open Sans" pitchFamily="34" charset="0"/>
                <a:ea typeface="Open Sans" pitchFamily="34" charset="-122"/>
                <a:cs typeface="Open Sans" pitchFamily="34" charset="-120"/>
              </a:rPr>
              <a:t>Most variants are de novo; growing number are inherited</a:t>
            </a:r>
            <a:endParaRPr lang="en-US" sz="1050" dirty="0"/>
          </a:p>
        </p:txBody>
      </p:sp>
      <p:sp>
        <p:nvSpPr>
          <p:cNvPr id="6" name="Shape 4"/>
          <p:cNvSpPr/>
          <p:nvPr/>
        </p:nvSpPr>
        <p:spPr>
          <a:xfrm>
            <a:off x="4754880" y="868680"/>
            <a:ext cx="1920240" cy="1234440"/>
          </a:xfrm>
          <a:prstGeom prst="rect">
            <a:avLst/>
          </a:prstGeom>
          <a:solidFill>
            <a:srgbClr val="E6F0F3"/>
          </a:solidFill>
          <a:ln/>
          <a:effectLst>
            <a:outerShdw sx="100000" sy="100000" kx="0" ky="0" algn="bl" rotWithShape="0" blurRad="101600" dist="38100" dir="8100000">
              <a:srgbClr val="2F5361">
                <a:alpha val="10000"/>
              </a:srgbClr>
            </a:outerShdw>
          </a:effectLst>
        </p:spPr>
      </p:sp>
      <p:sp>
        <p:nvSpPr>
          <p:cNvPr id="7" name="Text 5"/>
          <p:cNvSpPr/>
          <p:nvPr/>
        </p:nvSpPr>
        <p:spPr>
          <a:xfrm>
            <a:off x="4846320" y="996696"/>
            <a:ext cx="1737360" cy="617220"/>
          </a:xfrm>
          <a:prstGeom prst="rect">
            <a:avLst/>
          </a:prstGeom>
          <a:noFill/>
          <a:ln/>
        </p:spPr>
        <p:txBody>
          <a:bodyPr wrap="square" rtlCol="0" anchor="ctr"/>
          <a:lstStyle/>
          <a:p>
            <a:pPr algn="ctr" indent="0" marL="0">
              <a:buNone/>
            </a:pPr>
            <a:r>
              <a:rPr lang="en-US" sz="3400" b="1" dirty="0">
                <a:solidFill>
                  <a:srgbClr val="2F5361"/>
                </a:solidFill>
                <a:latin typeface="Open Sans" pitchFamily="34" charset="0"/>
                <a:ea typeface="Open Sans" pitchFamily="34" charset="-122"/>
                <a:cs typeface="Open Sans" pitchFamily="34" charset="-120"/>
              </a:rPr>
              <a:t>~1%</a:t>
            </a:r>
            <a:endParaRPr lang="en-US" sz="3400" dirty="0"/>
          </a:p>
        </p:txBody>
      </p:sp>
      <p:sp>
        <p:nvSpPr>
          <p:cNvPr id="8" name="Text 6"/>
          <p:cNvSpPr/>
          <p:nvPr/>
        </p:nvSpPr>
        <p:spPr>
          <a:xfrm>
            <a:off x="4846320" y="1609344"/>
            <a:ext cx="1737360" cy="456743"/>
          </a:xfrm>
          <a:prstGeom prst="rect">
            <a:avLst/>
          </a:prstGeom>
          <a:noFill/>
          <a:ln/>
        </p:spPr>
        <p:txBody>
          <a:bodyPr wrap="square" rtlCol="0" anchor="t"/>
          <a:lstStyle/>
          <a:p>
            <a:pPr algn="ctr" indent="0" marL="0">
              <a:buNone/>
            </a:pPr>
            <a:r>
              <a:rPr lang="en-US" sz="1000" dirty="0">
                <a:solidFill>
                  <a:srgbClr val="4A6B78"/>
                </a:solidFill>
                <a:latin typeface="Open Sans" pitchFamily="34" charset="0"/>
                <a:ea typeface="Open Sans" pitchFamily="34" charset="-122"/>
                <a:cs typeface="Open Sans" pitchFamily="34" charset="-120"/>
              </a:rPr>
              <a:t>of patients with ID and/or ASD (likely underdiagnosed)</a:t>
            </a:r>
            <a:endParaRPr lang="en-US" sz="1000" dirty="0"/>
          </a:p>
        </p:txBody>
      </p:sp>
      <p:sp>
        <p:nvSpPr>
          <p:cNvPr id="9" name="Shape 7"/>
          <p:cNvSpPr/>
          <p:nvPr/>
        </p:nvSpPr>
        <p:spPr>
          <a:xfrm>
            <a:off x="6812280" y="868680"/>
            <a:ext cx="1920240" cy="1234440"/>
          </a:xfrm>
          <a:prstGeom prst="rect">
            <a:avLst/>
          </a:prstGeom>
          <a:solidFill>
            <a:srgbClr val="F5DDD7"/>
          </a:solidFill>
          <a:ln/>
          <a:effectLst>
            <a:outerShdw sx="100000" sy="100000" kx="0" ky="0" algn="bl" rotWithShape="0" blurRad="101600" dist="38100" dir="8100000">
              <a:srgbClr val="2F5361">
                <a:alpha val="10000"/>
              </a:srgbClr>
            </a:outerShdw>
          </a:effectLst>
        </p:spPr>
      </p:sp>
      <p:sp>
        <p:nvSpPr>
          <p:cNvPr id="10" name="Text 8"/>
          <p:cNvSpPr/>
          <p:nvPr/>
        </p:nvSpPr>
        <p:spPr>
          <a:xfrm>
            <a:off x="6903720" y="996696"/>
            <a:ext cx="1737360" cy="617220"/>
          </a:xfrm>
          <a:prstGeom prst="rect">
            <a:avLst/>
          </a:prstGeom>
          <a:noFill/>
          <a:ln/>
        </p:spPr>
        <p:txBody>
          <a:bodyPr wrap="square" rtlCol="0" anchor="ctr"/>
          <a:lstStyle/>
          <a:p>
            <a:pPr algn="ctr" indent="0" marL="0">
              <a:buNone/>
            </a:pPr>
            <a:r>
              <a:rPr lang="en-US" sz="3400" b="1" dirty="0">
                <a:solidFill>
                  <a:srgbClr val="2F5361"/>
                </a:solidFill>
                <a:latin typeface="Open Sans" pitchFamily="34" charset="0"/>
                <a:ea typeface="Open Sans" pitchFamily="34" charset="-122"/>
                <a:cs typeface="Open Sans" pitchFamily="34" charset="-120"/>
              </a:rPr>
              <a:t>1,100+</a:t>
            </a:r>
            <a:endParaRPr lang="en-US" sz="3400" dirty="0"/>
          </a:p>
        </p:txBody>
      </p:sp>
      <p:sp>
        <p:nvSpPr>
          <p:cNvPr id="11" name="Text 9"/>
          <p:cNvSpPr/>
          <p:nvPr/>
        </p:nvSpPr>
        <p:spPr>
          <a:xfrm>
            <a:off x="6903720" y="1609344"/>
            <a:ext cx="1737360" cy="456743"/>
          </a:xfrm>
          <a:prstGeom prst="rect">
            <a:avLst/>
          </a:prstGeom>
          <a:noFill/>
          <a:ln/>
        </p:spPr>
        <p:txBody>
          <a:bodyPr wrap="square" rtlCol="0" anchor="t"/>
          <a:lstStyle/>
          <a:p>
            <a:pPr algn="ctr" indent="0" marL="0">
              <a:buNone/>
            </a:pPr>
            <a:r>
              <a:rPr lang="en-US" sz="1000" dirty="0">
                <a:solidFill>
                  <a:srgbClr val="4A6B78"/>
                </a:solidFill>
                <a:latin typeface="Open Sans" pitchFamily="34" charset="0"/>
                <a:ea typeface="Open Sans" pitchFamily="34" charset="-122"/>
                <a:cs typeface="Open Sans" pitchFamily="34" charset="-120"/>
              </a:rPr>
              <a:t>people in our global Facebook community</a:t>
            </a:r>
            <a:endParaRPr lang="en-US" sz="1000" dirty="0"/>
          </a:p>
        </p:txBody>
      </p:sp>
      <p:sp>
        <p:nvSpPr>
          <p:cNvPr id="12" name="Shape 10"/>
          <p:cNvSpPr/>
          <p:nvPr/>
        </p:nvSpPr>
        <p:spPr>
          <a:xfrm>
            <a:off x="4754880" y="2240280"/>
            <a:ext cx="1920240" cy="1234440"/>
          </a:xfrm>
          <a:prstGeom prst="rect">
            <a:avLst/>
          </a:prstGeom>
          <a:solidFill>
            <a:srgbClr val="FDF5E8"/>
          </a:solidFill>
          <a:ln/>
          <a:effectLst>
            <a:outerShdw sx="100000" sy="100000" kx="0" ky="0" algn="bl" rotWithShape="0" blurRad="101600" dist="38100" dir="8100000">
              <a:srgbClr val="2F5361">
                <a:alpha val="10000"/>
              </a:srgbClr>
            </a:outerShdw>
          </a:effectLst>
        </p:spPr>
      </p:sp>
      <p:sp>
        <p:nvSpPr>
          <p:cNvPr id="13" name="Text 11"/>
          <p:cNvSpPr/>
          <p:nvPr/>
        </p:nvSpPr>
        <p:spPr>
          <a:xfrm>
            <a:off x="4846320" y="2368296"/>
            <a:ext cx="1737360" cy="617220"/>
          </a:xfrm>
          <a:prstGeom prst="rect">
            <a:avLst/>
          </a:prstGeom>
          <a:noFill/>
          <a:ln/>
        </p:spPr>
        <p:txBody>
          <a:bodyPr wrap="square" rtlCol="0" anchor="ctr"/>
          <a:lstStyle/>
          <a:p>
            <a:pPr algn="ctr" indent="0" marL="0">
              <a:buNone/>
            </a:pPr>
            <a:r>
              <a:rPr lang="en-US" sz="3400" b="1" dirty="0">
                <a:solidFill>
                  <a:srgbClr val="2F5361"/>
                </a:solidFill>
                <a:latin typeface="Open Sans" pitchFamily="34" charset="0"/>
                <a:ea typeface="Open Sans" pitchFamily="34" charset="-122"/>
                <a:cs typeface="Open Sans" pitchFamily="34" charset="-120"/>
              </a:rPr>
              <a:t>101</a:t>
            </a:r>
            <a:endParaRPr lang="en-US" sz="3400" dirty="0"/>
          </a:p>
        </p:txBody>
      </p:sp>
      <p:sp>
        <p:nvSpPr>
          <p:cNvPr id="14" name="Text 12"/>
          <p:cNvSpPr/>
          <p:nvPr/>
        </p:nvSpPr>
        <p:spPr>
          <a:xfrm>
            <a:off x="4846320" y="2980944"/>
            <a:ext cx="1737360" cy="456743"/>
          </a:xfrm>
          <a:prstGeom prst="rect">
            <a:avLst/>
          </a:prstGeom>
          <a:noFill/>
          <a:ln/>
        </p:spPr>
        <p:txBody>
          <a:bodyPr wrap="square" rtlCol="0" anchor="t"/>
          <a:lstStyle/>
          <a:p>
            <a:pPr algn="ctr" indent="0" marL="0">
              <a:buNone/>
            </a:pPr>
            <a:r>
              <a:rPr lang="en-US" sz="1000" dirty="0">
                <a:solidFill>
                  <a:srgbClr val="4A6B78"/>
                </a:solidFill>
                <a:latin typeface="Open Sans" pitchFamily="34" charset="0"/>
                <a:ea typeface="Open Sans" pitchFamily="34" charset="-122"/>
                <a:cs typeface="Open Sans" pitchFamily="34" charset="-120"/>
              </a:rPr>
              <a:t>published research paper references</a:t>
            </a:r>
            <a:endParaRPr lang="en-US" sz="1000" dirty="0"/>
          </a:p>
        </p:txBody>
      </p:sp>
      <p:sp>
        <p:nvSpPr>
          <p:cNvPr id="15" name="Shape 13"/>
          <p:cNvSpPr/>
          <p:nvPr/>
        </p:nvSpPr>
        <p:spPr>
          <a:xfrm>
            <a:off x="6812280" y="2240280"/>
            <a:ext cx="1920240" cy="1234440"/>
          </a:xfrm>
          <a:prstGeom prst="rect">
            <a:avLst/>
          </a:prstGeom>
          <a:solidFill>
            <a:srgbClr val="E6F0F3"/>
          </a:solidFill>
          <a:ln/>
          <a:effectLst>
            <a:outerShdw sx="100000" sy="100000" kx="0" ky="0" algn="bl" rotWithShape="0" blurRad="101600" dist="38100" dir="8100000">
              <a:srgbClr val="2F5361">
                <a:alpha val="10000"/>
              </a:srgbClr>
            </a:outerShdw>
          </a:effectLst>
        </p:spPr>
      </p:sp>
      <p:sp>
        <p:nvSpPr>
          <p:cNvPr id="16" name="Text 14"/>
          <p:cNvSpPr/>
          <p:nvPr/>
        </p:nvSpPr>
        <p:spPr>
          <a:xfrm>
            <a:off x="6903720" y="2368296"/>
            <a:ext cx="1737360" cy="617220"/>
          </a:xfrm>
          <a:prstGeom prst="rect">
            <a:avLst/>
          </a:prstGeom>
          <a:noFill/>
          <a:ln/>
        </p:spPr>
        <p:txBody>
          <a:bodyPr wrap="square" rtlCol="0" anchor="ctr"/>
          <a:lstStyle/>
          <a:p>
            <a:pPr algn="ctr" indent="0" marL="0">
              <a:buNone/>
            </a:pPr>
            <a:r>
              <a:rPr lang="en-US" sz="3400" b="1" dirty="0">
                <a:solidFill>
                  <a:srgbClr val="2F5361"/>
                </a:solidFill>
                <a:latin typeface="Open Sans" pitchFamily="34" charset="0"/>
                <a:ea typeface="Open Sans" pitchFamily="34" charset="-122"/>
                <a:cs typeface="Open Sans" pitchFamily="34" charset="-120"/>
              </a:rPr>
              <a:t>53</a:t>
            </a:r>
            <a:endParaRPr lang="en-US" sz="3400" dirty="0"/>
          </a:p>
        </p:txBody>
      </p:sp>
      <p:sp>
        <p:nvSpPr>
          <p:cNvPr id="17" name="Text 15"/>
          <p:cNvSpPr/>
          <p:nvPr/>
        </p:nvSpPr>
        <p:spPr>
          <a:xfrm>
            <a:off x="6903720" y="2980944"/>
            <a:ext cx="1737360" cy="456743"/>
          </a:xfrm>
          <a:prstGeom prst="rect">
            <a:avLst/>
          </a:prstGeom>
          <a:noFill/>
          <a:ln/>
        </p:spPr>
        <p:txBody>
          <a:bodyPr wrap="square" rtlCol="0" anchor="t"/>
          <a:lstStyle/>
          <a:p>
            <a:pPr algn="ctr" indent="0" marL="0">
              <a:buNone/>
            </a:pPr>
            <a:r>
              <a:rPr lang="en-US" sz="1000" dirty="0">
                <a:solidFill>
                  <a:srgbClr val="4A6B78"/>
                </a:solidFill>
                <a:latin typeface="Open Sans" pitchFamily="34" charset="0"/>
                <a:ea typeface="Open Sans" pitchFamily="34" charset="-122"/>
                <a:cs typeface="Open Sans" pitchFamily="34" charset="-120"/>
              </a:rPr>
              <a:t>publications in the past 5 years</a:t>
            </a:r>
            <a:endParaRPr lang="en-US" sz="1000" dirty="0"/>
          </a:p>
        </p:txBody>
      </p:sp>
      <p:sp>
        <p:nvSpPr>
          <p:cNvPr id="18" name="Text 16"/>
          <p:cNvSpPr/>
          <p:nvPr/>
        </p:nvSpPr>
        <p:spPr>
          <a:xfrm>
            <a:off x="4754880" y="3621024"/>
            <a:ext cx="3977640" cy="566928"/>
          </a:xfrm>
          <a:prstGeom prst="rect">
            <a:avLst/>
          </a:prstGeom>
          <a:noFill/>
          <a:ln/>
        </p:spPr>
        <p:txBody>
          <a:bodyPr wrap="square" rtlCol="0" anchor="ctr"/>
          <a:lstStyle/>
          <a:p>
            <a:pPr algn="l" indent="0" marL="0">
              <a:buNone/>
            </a:pPr>
            <a:r>
              <a:rPr lang="en-US" sz="950" i="1" dirty="0">
                <a:solidFill>
                  <a:srgbClr val="7A9BAB"/>
                </a:solidFill>
                <a:latin typeface="Open Sans" pitchFamily="34" charset="0"/>
                <a:ea typeface="Open Sans" pitchFamily="34" charset="-122"/>
                <a:cs typeface="Open Sans" pitchFamily="34" charset="-120"/>
              </a:rPr>
              <a:t>Most pathogenic variants are new (de novo) and not found in either parent, but a growing number of cases are inherited from a mildly or unaffected parent.</a:t>
            </a:r>
            <a:endParaRPr lang="en-US" sz="950" dirty="0"/>
          </a:p>
        </p:txBody>
      </p:sp>
      <p:sp>
        <p:nvSpPr>
          <p:cNvPr id="19" name="Shape 17"/>
          <p:cNvSpPr/>
          <p:nvPr/>
        </p:nvSpPr>
        <p:spPr>
          <a:xfrm>
            <a:off x="0" y="4773168"/>
            <a:ext cx="9144000" cy="9144"/>
          </a:xfrm>
          <a:prstGeom prst="rect">
            <a:avLst/>
          </a:prstGeom>
          <a:solidFill>
            <a:srgbClr val="DDE8EC"/>
          </a:solidFill>
          <a:ln w="12700">
            <a:solidFill>
              <a:srgbClr val="DDE8EC"/>
            </a:solidFill>
            <a:prstDash val="solid"/>
          </a:ln>
        </p:spPr>
      </p:sp>
      <p:sp>
        <p:nvSpPr>
          <p:cNvPr id="20" name="Text 18"/>
          <p:cNvSpPr/>
          <p:nvPr/>
        </p:nvSpPr>
        <p:spPr>
          <a:xfrm>
            <a:off x="502920" y="4828032"/>
            <a:ext cx="8138160" cy="182880"/>
          </a:xfrm>
          <a:prstGeom prst="rect">
            <a:avLst/>
          </a:prstGeom>
          <a:noFill/>
          <a:ln/>
        </p:spPr>
        <p:txBody>
          <a:bodyPr wrap="square" rtlCol="0" anchor="ctr"/>
          <a:lstStyle/>
          <a:p>
            <a:pPr algn="l" indent="0" marL="0">
              <a:buNone/>
            </a:pPr>
            <a:r>
              <a:rPr lang="en-US" sz="800" dirty="0">
                <a:solidFill>
                  <a:srgbClr val="7A9BAB"/>
                </a:solidFill>
                <a:latin typeface="Open Sans" pitchFamily="34" charset="0"/>
                <a:ea typeface="Open Sans" pitchFamily="34" charset="-122"/>
                <a:cs typeface="Open Sans" pitchFamily="34" charset="-120"/>
              </a:rPr>
              <a:t>SETD5 Syndrome Foundation  ·  Founding Meeting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rtlCol="0" anchor="ctr"/>
          <a:lstStyle/>
          <a:p>
            <a:pPr algn="l" indent="0" marL="0">
              <a:buNone/>
            </a:pPr>
            <a:r>
              <a:rPr lang="en-US" sz="1100" b="1" spc="300" kern="0" dirty="0">
                <a:solidFill>
                  <a:srgbClr val="D17E64"/>
                </a:solidFill>
                <a:latin typeface="Open Sans" pitchFamily="34" charset="0"/>
                <a:ea typeface="Open Sans" pitchFamily="34" charset="-122"/>
                <a:cs typeface="Open Sans" pitchFamily="34" charset="-120"/>
              </a:rPr>
              <a:t>WHERE WE STAND</a:t>
            </a:r>
            <a:endParaRPr lang="en-US" sz="1100" dirty="0"/>
          </a:p>
        </p:txBody>
      </p:sp>
      <p:sp>
        <p:nvSpPr>
          <p:cNvPr id="3" name="Text 1"/>
          <p:cNvSpPr/>
          <p:nvPr/>
        </p:nvSpPr>
        <p:spPr>
          <a:xfrm>
            <a:off x="502920" y="548640"/>
            <a:ext cx="8138160" cy="658368"/>
          </a:xfrm>
          <a:prstGeom prst="rect">
            <a:avLst/>
          </a:prstGeom>
          <a:noFill/>
          <a:ln/>
        </p:spPr>
        <p:txBody>
          <a:bodyPr wrap="square" rtlCol="0" anchor="ctr"/>
          <a:lstStyle/>
          <a:p>
            <a:pPr algn="l" indent="0" marL="0">
              <a:buNone/>
            </a:pPr>
            <a:r>
              <a:rPr lang="en-US" sz="3200" b="1" dirty="0">
                <a:solidFill>
                  <a:srgbClr val="2F5361"/>
                </a:solidFill>
                <a:latin typeface="Open Sans" pitchFamily="34" charset="0"/>
                <a:ea typeface="Open Sans" pitchFamily="34" charset="-122"/>
                <a:cs typeface="Open Sans" pitchFamily="34" charset="-120"/>
              </a:rPr>
              <a:t>Landscape: Gaps &amp; Opportunities</a:t>
            </a:r>
            <a:endParaRPr lang="en-US" sz="3200" dirty="0"/>
          </a:p>
        </p:txBody>
      </p:sp>
      <p:sp>
        <p:nvSpPr>
          <p:cNvPr id="4" name="Shape 2"/>
          <p:cNvSpPr/>
          <p:nvPr/>
        </p:nvSpPr>
        <p:spPr>
          <a:xfrm>
            <a:off x="502920" y="1325880"/>
            <a:ext cx="3657600" cy="3291840"/>
          </a:xfrm>
          <a:prstGeom prst="rect">
            <a:avLst/>
          </a:prstGeom>
          <a:solidFill>
            <a:srgbClr val="E6F0F3"/>
          </a:solidFill>
          <a:ln w="12700">
            <a:solidFill>
              <a:srgbClr val="2F5361"/>
            </a:solidFill>
            <a:prstDash val="solid"/>
          </a:ln>
        </p:spPr>
      </p:sp>
      <p:sp>
        <p:nvSpPr>
          <p:cNvPr id="5" name="Shape 3"/>
          <p:cNvSpPr/>
          <p:nvPr/>
        </p:nvSpPr>
        <p:spPr>
          <a:xfrm>
            <a:off x="502920" y="1325880"/>
            <a:ext cx="54864" cy="3291840"/>
          </a:xfrm>
          <a:prstGeom prst="rect">
            <a:avLst/>
          </a:prstGeom>
          <a:solidFill>
            <a:srgbClr val="2F5361"/>
          </a:solidFill>
          <a:ln w="12700">
            <a:solidFill>
              <a:srgbClr val="2F5361"/>
            </a:solidFill>
            <a:prstDash val="solid"/>
          </a:ln>
        </p:spPr>
      </p:sp>
      <p:sp>
        <p:nvSpPr>
          <p:cNvPr id="6" name="Text 4"/>
          <p:cNvSpPr/>
          <p:nvPr/>
        </p:nvSpPr>
        <p:spPr>
          <a:xfrm>
            <a:off x="685800" y="1490472"/>
            <a:ext cx="3383280" cy="347472"/>
          </a:xfrm>
          <a:prstGeom prst="rect">
            <a:avLst/>
          </a:prstGeom>
          <a:noFill/>
          <a:ln/>
        </p:spPr>
        <p:txBody>
          <a:bodyPr wrap="square" rtlCol="0" anchor="ctr"/>
          <a:lstStyle/>
          <a:p>
            <a:pPr indent="0" marL="0">
              <a:buNone/>
            </a:pPr>
            <a:r>
              <a:rPr lang="en-US" sz="1250" b="1" dirty="0">
                <a:solidFill>
                  <a:srgbClr val="2F5361"/>
                </a:solidFill>
                <a:latin typeface="Open Sans" pitchFamily="34" charset="0"/>
                <a:ea typeface="Open Sans" pitchFamily="34" charset="-122"/>
                <a:cs typeface="Open Sans" pitchFamily="34" charset="-120"/>
              </a:rPr>
              <a:t>What Exists</a:t>
            </a:r>
            <a:endParaRPr lang="en-US" sz="1250" dirty="0"/>
          </a:p>
        </p:txBody>
      </p:sp>
      <p:sp>
        <p:nvSpPr>
          <p:cNvPr id="7" name="Text 5"/>
          <p:cNvSpPr/>
          <p:nvPr/>
        </p:nvSpPr>
        <p:spPr>
          <a:xfrm>
            <a:off x="685800" y="1920240"/>
            <a:ext cx="3383280" cy="2560320"/>
          </a:xfrm>
          <a:prstGeom prst="rect">
            <a:avLst/>
          </a:prstGeom>
          <a:noFill/>
          <a:ln/>
        </p:spPr>
        <p:txBody>
          <a:bodyPr wrap="square" rtlCol="0" anchor="ctr"/>
          <a:lstStyle/>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NORD: rare disease umbrella org</a:t>
            </a:r>
            <a:endParaRPr lang="en-US" sz="1100" dirty="0"/>
          </a:p>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Global Genes: advocacy network</a:t>
            </a:r>
            <a:endParaRPr lang="en-US" sz="1100" dirty="0"/>
          </a:p>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1,000+ member Facebook community</a:t>
            </a:r>
            <a:endParaRPr lang="en-US" sz="1100" dirty="0"/>
          </a:p>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Growing published case literature</a:t>
            </a:r>
            <a:endParaRPr lang="en-US" sz="1100" dirty="0"/>
          </a:p>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Dedicated parent advocates (YOU)</a:t>
            </a:r>
            <a:endParaRPr lang="en-US" sz="1100" dirty="0"/>
          </a:p>
        </p:txBody>
      </p:sp>
      <p:sp>
        <p:nvSpPr>
          <p:cNvPr id="8" name="Shape 6"/>
          <p:cNvSpPr/>
          <p:nvPr/>
        </p:nvSpPr>
        <p:spPr>
          <a:xfrm>
            <a:off x="4983480" y="1325880"/>
            <a:ext cx="3657600" cy="3291840"/>
          </a:xfrm>
          <a:prstGeom prst="rect">
            <a:avLst/>
          </a:prstGeom>
          <a:solidFill>
            <a:srgbClr val="F5DDD7"/>
          </a:solidFill>
          <a:ln w="12700">
            <a:solidFill>
              <a:srgbClr val="D17E64"/>
            </a:solidFill>
            <a:prstDash val="solid"/>
          </a:ln>
        </p:spPr>
      </p:sp>
      <p:sp>
        <p:nvSpPr>
          <p:cNvPr id="9" name="Shape 7"/>
          <p:cNvSpPr/>
          <p:nvPr/>
        </p:nvSpPr>
        <p:spPr>
          <a:xfrm>
            <a:off x="4983480" y="1325880"/>
            <a:ext cx="54864" cy="3291840"/>
          </a:xfrm>
          <a:prstGeom prst="rect">
            <a:avLst/>
          </a:prstGeom>
          <a:solidFill>
            <a:srgbClr val="D17E64"/>
          </a:solidFill>
          <a:ln w="12700">
            <a:solidFill>
              <a:srgbClr val="D17E64"/>
            </a:solidFill>
            <a:prstDash val="solid"/>
          </a:ln>
        </p:spPr>
      </p:sp>
      <p:sp>
        <p:nvSpPr>
          <p:cNvPr id="10" name="Text 8"/>
          <p:cNvSpPr/>
          <p:nvPr/>
        </p:nvSpPr>
        <p:spPr>
          <a:xfrm>
            <a:off x="5166360" y="1490472"/>
            <a:ext cx="3383280" cy="347472"/>
          </a:xfrm>
          <a:prstGeom prst="rect">
            <a:avLst/>
          </a:prstGeom>
          <a:noFill/>
          <a:ln/>
        </p:spPr>
        <p:txBody>
          <a:bodyPr wrap="square" rtlCol="0" anchor="ctr"/>
          <a:lstStyle/>
          <a:p>
            <a:pPr indent="0" marL="0">
              <a:buNone/>
            </a:pPr>
            <a:r>
              <a:rPr lang="en-US" sz="1250" b="1" dirty="0">
                <a:solidFill>
                  <a:srgbClr val="D17E64"/>
                </a:solidFill>
                <a:latin typeface="Open Sans" pitchFamily="34" charset="0"/>
                <a:ea typeface="Open Sans" pitchFamily="34" charset="-122"/>
                <a:cs typeface="Open Sans" pitchFamily="34" charset="-120"/>
              </a:rPr>
              <a:t>What We'll Build</a:t>
            </a:r>
            <a:endParaRPr lang="en-US" sz="1250" dirty="0"/>
          </a:p>
        </p:txBody>
      </p:sp>
      <p:sp>
        <p:nvSpPr>
          <p:cNvPr id="11" name="Text 9"/>
          <p:cNvSpPr/>
          <p:nvPr/>
        </p:nvSpPr>
        <p:spPr>
          <a:xfrm>
            <a:off x="5166360" y="1920240"/>
            <a:ext cx="3383280" cy="2560320"/>
          </a:xfrm>
          <a:prstGeom prst="rect">
            <a:avLst/>
          </a:prstGeom>
          <a:noFill/>
          <a:ln/>
        </p:spPr>
        <p:txBody>
          <a:bodyPr wrap="square" rtlCol="0" anchor="ctr"/>
          <a:lstStyle/>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Official patient registry, Simons Searchlight</a:t>
            </a:r>
            <a:endParaRPr lang="en-US" sz="1100" dirty="0"/>
          </a:p>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Centralized family resource hub</a:t>
            </a:r>
            <a:endParaRPr lang="en-US" sz="1100" dirty="0"/>
          </a:p>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Scientific Advisory Board</a:t>
            </a:r>
            <a:endParaRPr lang="en-US" sz="1100" dirty="0"/>
          </a:p>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Coordinated researcher relationships</a:t>
            </a:r>
            <a:endParaRPr lang="en-US" sz="1100" dirty="0"/>
          </a:p>
          <a:p>
            <a:pPr marL="342900" indent="-342900">
              <a:buSzPct val="100000"/>
              <a:buChar char="•"/>
            </a:pPr>
            <a:r>
              <a:rPr lang="en-US" sz="1100" dirty="0">
                <a:solidFill>
                  <a:srgbClr val="1A3340"/>
                </a:solidFill>
                <a:latin typeface="Open Sans" pitchFamily="34" charset="0"/>
                <a:ea typeface="Open Sans" pitchFamily="34" charset="-122"/>
                <a:cs typeface="Open Sans" pitchFamily="34" charset="-120"/>
              </a:rPr>
              <a:t>Formal 501(c)(3) nonprofit structure</a:t>
            </a:r>
            <a:endParaRPr lang="en-US" sz="1100" dirty="0"/>
          </a:p>
        </p:txBody>
      </p:sp>
      <p:sp>
        <p:nvSpPr>
          <p:cNvPr id="12" name="Text 10"/>
          <p:cNvSpPr/>
          <p:nvPr/>
        </p:nvSpPr>
        <p:spPr>
          <a:xfrm>
            <a:off x="4279392" y="2697480"/>
            <a:ext cx="585216" cy="566928"/>
          </a:xfrm>
          <a:prstGeom prst="rect">
            <a:avLst/>
          </a:prstGeom>
          <a:noFill/>
          <a:ln/>
        </p:spPr>
        <p:txBody>
          <a:bodyPr wrap="square" rtlCol="0" anchor="ctr"/>
          <a:lstStyle/>
          <a:p>
            <a:pPr algn="ctr" indent="0" marL="0">
              <a:buNone/>
            </a:pPr>
            <a:r>
              <a:rPr lang="en-US" sz="2000" b="1" dirty="0">
                <a:solidFill>
                  <a:srgbClr val="7A9BAB"/>
                </a:solidFill>
                <a:latin typeface="Open Sans" pitchFamily="34" charset="0"/>
                <a:ea typeface="Open Sans" pitchFamily="34" charset="-122"/>
                <a:cs typeface="Open Sans" pitchFamily="34" charset="-120"/>
              </a:rPr>
              <a:t>=&gt;</a:t>
            </a:r>
            <a:endParaRPr lang="en-US" sz="2000" dirty="0"/>
          </a:p>
        </p:txBody>
      </p:sp>
      <p:sp>
        <p:nvSpPr>
          <p:cNvPr id="13" name="Shape 11"/>
          <p:cNvSpPr/>
          <p:nvPr/>
        </p:nvSpPr>
        <p:spPr>
          <a:xfrm>
            <a:off x="0" y="4773168"/>
            <a:ext cx="9144000" cy="9144"/>
          </a:xfrm>
          <a:prstGeom prst="rect">
            <a:avLst/>
          </a:prstGeom>
          <a:solidFill>
            <a:srgbClr val="DDE8EC"/>
          </a:solidFill>
          <a:ln w="12700">
            <a:solidFill>
              <a:srgbClr val="DDE8EC"/>
            </a:solidFill>
            <a:prstDash val="solid"/>
          </a:ln>
        </p:spPr>
      </p:sp>
      <p:sp>
        <p:nvSpPr>
          <p:cNvPr id="14" name="Text 12"/>
          <p:cNvSpPr/>
          <p:nvPr/>
        </p:nvSpPr>
        <p:spPr>
          <a:xfrm>
            <a:off x="502920" y="4828032"/>
            <a:ext cx="8138160" cy="182880"/>
          </a:xfrm>
          <a:prstGeom prst="rect">
            <a:avLst/>
          </a:prstGeom>
          <a:noFill/>
          <a:ln/>
        </p:spPr>
        <p:txBody>
          <a:bodyPr wrap="square" rtlCol="0" anchor="ctr"/>
          <a:lstStyle/>
          <a:p>
            <a:pPr algn="l" indent="0" marL="0">
              <a:buNone/>
            </a:pPr>
            <a:r>
              <a:rPr lang="en-US" sz="800" dirty="0">
                <a:solidFill>
                  <a:srgbClr val="7A9BAB"/>
                </a:solidFill>
                <a:latin typeface="Open Sans" pitchFamily="34" charset="0"/>
                <a:ea typeface="Open Sans" pitchFamily="34" charset="-122"/>
                <a:cs typeface="Open Sans" pitchFamily="34" charset="-120"/>
              </a:rPr>
              <a:t>SETD5 Syndrome Foundation  ·  Founding Meeting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56032"/>
          </a:xfrm>
          <a:prstGeom prst="rect">
            <a:avLst/>
          </a:prstGeom>
          <a:noFill/>
          <a:ln/>
        </p:spPr>
        <p:txBody>
          <a:bodyPr wrap="square" rtlCol="0" anchor="ctr"/>
          <a:lstStyle/>
          <a:p>
            <a:pPr algn="l" indent="0" marL="0">
              <a:buNone/>
            </a:pPr>
            <a:r>
              <a:rPr lang="en-US" sz="1100" b="1" spc="300" kern="0" dirty="0">
                <a:solidFill>
                  <a:srgbClr val="D17E64"/>
                </a:solidFill>
                <a:latin typeface="Open Sans" pitchFamily="34" charset="0"/>
                <a:ea typeface="Open Sans" pitchFamily="34" charset="-122"/>
                <a:cs typeface="Open Sans" pitchFamily="34" charset="-120"/>
              </a:rPr>
              <a:t>GETTING OFFICIAL</a:t>
            </a:r>
            <a:endParaRPr lang="en-US" sz="1100" dirty="0"/>
          </a:p>
        </p:txBody>
      </p:sp>
      <p:sp>
        <p:nvSpPr>
          <p:cNvPr id="3" name="Text 1"/>
          <p:cNvSpPr/>
          <p:nvPr/>
        </p:nvSpPr>
        <p:spPr>
          <a:xfrm>
            <a:off x="502920" y="512064"/>
            <a:ext cx="8138160" cy="658368"/>
          </a:xfrm>
          <a:prstGeom prst="rect">
            <a:avLst/>
          </a:prstGeom>
          <a:noFill/>
          <a:ln/>
        </p:spPr>
        <p:txBody>
          <a:bodyPr wrap="square" rtlCol="0" anchor="ctr"/>
          <a:lstStyle/>
          <a:p>
            <a:pPr algn="l" indent="0" marL="0">
              <a:buNone/>
            </a:pPr>
            <a:r>
              <a:rPr lang="en-US" sz="2800" b="1" dirty="0">
                <a:solidFill>
                  <a:srgbClr val="2F5361"/>
                </a:solidFill>
                <a:latin typeface="Open Sans" pitchFamily="34" charset="0"/>
                <a:ea typeface="Open Sans" pitchFamily="34" charset="-122"/>
                <a:cs typeface="Open Sans" pitchFamily="34" charset="-120"/>
              </a:rPr>
              <a:t>Becoming Official: Formation Steps</a:t>
            </a:r>
            <a:endParaRPr lang="en-US" sz="2800" dirty="0"/>
          </a:p>
        </p:txBody>
      </p:sp>
      <p:sp>
        <p:nvSpPr>
          <p:cNvPr id="4" name="Shape 2"/>
          <p:cNvSpPr/>
          <p:nvPr/>
        </p:nvSpPr>
        <p:spPr>
          <a:xfrm>
            <a:off x="274320" y="1298448"/>
            <a:ext cx="1572768" cy="3154680"/>
          </a:xfrm>
          <a:prstGeom prst="rect">
            <a:avLst/>
          </a:prstGeom>
          <a:solidFill>
            <a:srgbClr val="FFFFFF"/>
          </a:solidFill>
          <a:ln/>
          <a:effectLst>
            <a:outerShdw sx="100000" sy="100000" kx="0" ky="0" algn="bl" rotWithShape="0" blurRad="101600" dist="25400" dir="8100000">
              <a:srgbClr val="2F5361">
                <a:alpha val="10000"/>
              </a:srgbClr>
            </a:outerShdw>
          </a:effectLst>
        </p:spPr>
      </p:sp>
      <p:sp>
        <p:nvSpPr>
          <p:cNvPr id="5" name="Shape 3"/>
          <p:cNvSpPr/>
          <p:nvPr/>
        </p:nvSpPr>
        <p:spPr>
          <a:xfrm>
            <a:off x="841248" y="1444752"/>
            <a:ext cx="438912" cy="438912"/>
          </a:xfrm>
          <a:prstGeom prst="oval">
            <a:avLst/>
          </a:prstGeom>
          <a:solidFill>
            <a:srgbClr val="2F5361"/>
          </a:solidFill>
          <a:ln w="12700">
            <a:solidFill>
              <a:srgbClr val="2F5361"/>
            </a:solidFill>
            <a:prstDash val="solid"/>
          </a:ln>
        </p:spPr>
      </p:sp>
      <p:sp>
        <p:nvSpPr>
          <p:cNvPr id="6" name="Text 4"/>
          <p:cNvSpPr/>
          <p:nvPr/>
        </p:nvSpPr>
        <p:spPr>
          <a:xfrm>
            <a:off x="841248" y="1444752"/>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Open Sans" pitchFamily="34" charset="0"/>
                <a:ea typeface="Open Sans" pitchFamily="34" charset="-122"/>
                <a:cs typeface="Open Sans" pitchFamily="34" charset="-120"/>
              </a:rPr>
              <a:t>1</a:t>
            </a:r>
            <a:endParaRPr lang="en-US" sz="900" dirty="0"/>
          </a:p>
        </p:txBody>
      </p:sp>
      <p:sp>
        <p:nvSpPr>
          <p:cNvPr id="7" name="Text 5"/>
          <p:cNvSpPr/>
          <p:nvPr/>
        </p:nvSpPr>
        <p:spPr>
          <a:xfrm>
            <a:off x="365760" y="1956816"/>
            <a:ext cx="1389888" cy="347472"/>
          </a:xfrm>
          <a:prstGeom prst="rect">
            <a:avLst/>
          </a:prstGeom>
          <a:noFill/>
          <a:ln/>
        </p:spPr>
        <p:txBody>
          <a:bodyPr wrap="square" rtlCol="0" anchor="ctr"/>
          <a:lstStyle/>
          <a:p>
            <a:pPr algn="ctr" indent="0" marL="0">
              <a:buNone/>
            </a:pPr>
            <a:r>
              <a:rPr lang="en-US" sz="1150" b="1" dirty="0">
                <a:solidFill>
                  <a:srgbClr val="2F5361"/>
                </a:solidFill>
                <a:latin typeface="Open Sans" pitchFamily="34" charset="0"/>
                <a:ea typeface="Open Sans" pitchFamily="34" charset="-122"/>
                <a:cs typeface="Open Sans" pitchFamily="34" charset="-120"/>
              </a:rPr>
              <a:t>Incorporate</a:t>
            </a:r>
            <a:endParaRPr lang="en-US" sz="1150" dirty="0"/>
          </a:p>
        </p:txBody>
      </p:sp>
      <p:sp>
        <p:nvSpPr>
          <p:cNvPr id="8" name="Text 6"/>
          <p:cNvSpPr/>
          <p:nvPr/>
        </p:nvSpPr>
        <p:spPr>
          <a:xfrm>
            <a:off x="365760" y="2340864"/>
            <a:ext cx="1389888" cy="1691640"/>
          </a:xfrm>
          <a:prstGeom prst="rect">
            <a:avLst/>
          </a:prstGeom>
          <a:noFill/>
          <a:ln/>
        </p:spPr>
        <p:txBody>
          <a:bodyPr wrap="square" rtlCol="0" anchor="t"/>
          <a:lstStyle/>
          <a:p>
            <a:pPr algn="ctr" indent="0" marL="0">
              <a:buNone/>
            </a:pPr>
            <a:r>
              <a:rPr lang="en-US" sz="950" dirty="0">
                <a:solidFill>
                  <a:srgbClr val="4A6B78"/>
                </a:solidFill>
                <a:latin typeface="Open Sans" pitchFamily="34" charset="0"/>
                <a:ea typeface="Open Sans" pitchFamily="34" charset="-122"/>
                <a:cs typeface="Open Sans" pitchFamily="34" charset="-120"/>
              </a:rPr>
              <a:t>Choose state (Delaware or CA recommended). File Articles of Incorporation. NORD template available.</a:t>
            </a:r>
            <a:endParaRPr lang="en-US" sz="950" dirty="0"/>
          </a:p>
        </p:txBody>
      </p:sp>
      <p:sp>
        <p:nvSpPr>
          <p:cNvPr id="9" name="Shape 7"/>
          <p:cNvSpPr/>
          <p:nvPr/>
        </p:nvSpPr>
        <p:spPr>
          <a:xfrm>
            <a:off x="384048" y="4160520"/>
            <a:ext cx="1353312" cy="201168"/>
          </a:xfrm>
          <a:prstGeom prst="rect">
            <a:avLst/>
          </a:prstGeom>
          <a:solidFill>
            <a:srgbClr val="E6F0F3"/>
          </a:solidFill>
          <a:ln w="6350">
            <a:solidFill>
              <a:srgbClr val="DDE8EC"/>
            </a:solidFill>
            <a:prstDash val="solid"/>
          </a:ln>
        </p:spPr>
      </p:sp>
      <p:sp>
        <p:nvSpPr>
          <p:cNvPr id="10" name="Text 8"/>
          <p:cNvSpPr/>
          <p:nvPr/>
        </p:nvSpPr>
        <p:spPr>
          <a:xfrm>
            <a:off x="384048" y="4160520"/>
            <a:ext cx="1353312" cy="201168"/>
          </a:xfrm>
          <a:prstGeom prst="rect">
            <a:avLst/>
          </a:prstGeom>
          <a:noFill/>
          <a:ln/>
        </p:spPr>
        <p:txBody>
          <a:bodyPr wrap="square" rtlCol="0" anchor="ctr"/>
          <a:lstStyle/>
          <a:p>
            <a:pPr algn="ctr" indent="0" marL="0">
              <a:buNone/>
            </a:pPr>
            <a:r>
              <a:rPr lang="en-US" sz="850" b="1" dirty="0">
                <a:solidFill>
                  <a:srgbClr val="4A8A9A"/>
                </a:solidFill>
                <a:latin typeface="Open Sans" pitchFamily="34" charset="0"/>
                <a:ea typeface="Open Sans" pitchFamily="34" charset="-122"/>
                <a:cs typeface="Open Sans" pitchFamily="34" charset="-120"/>
              </a:rPr>
              <a:t>2-4 weeks</a:t>
            </a:r>
            <a:endParaRPr lang="en-US" sz="850" dirty="0"/>
          </a:p>
        </p:txBody>
      </p:sp>
      <p:sp>
        <p:nvSpPr>
          <p:cNvPr id="11" name="Shape 9"/>
          <p:cNvSpPr/>
          <p:nvPr/>
        </p:nvSpPr>
        <p:spPr>
          <a:xfrm>
            <a:off x="2029968" y="1298448"/>
            <a:ext cx="1572768" cy="3154680"/>
          </a:xfrm>
          <a:prstGeom prst="rect">
            <a:avLst/>
          </a:prstGeom>
          <a:solidFill>
            <a:srgbClr val="FFFFFF"/>
          </a:solidFill>
          <a:ln/>
          <a:effectLst>
            <a:outerShdw sx="100000" sy="100000" kx="0" ky="0" algn="bl" rotWithShape="0" blurRad="101600" dist="25400" dir="8100000">
              <a:srgbClr val="2F5361">
                <a:alpha val="10000"/>
              </a:srgbClr>
            </a:outerShdw>
          </a:effectLst>
        </p:spPr>
      </p:sp>
      <p:sp>
        <p:nvSpPr>
          <p:cNvPr id="12" name="Shape 10"/>
          <p:cNvSpPr/>
          <p:nvPr/>
        </p:nvSpPr>
        <p:spPr>
          <a:xfrm>
            <a:off x="2596896" y="1444752"/>
            <a:ext cx="438912" cy="438912"/>
          </a:xfrm>
          <a:prstGeom prst="oval">
            <a:avLst/>
          </a:prstGeom>
          <a:solidFill>
            <a:srgbClr val="4A8A9A"/>
          </a:solidFill>
          <a:ln w="12700">
            <a:solidFill>
              <a:srgbClr val="4A8A9A"/>
            </a:solidFill>
            <a:prstDash val="solid"/>
          </a:ln>
        </p:spPr>
      </p:sp>
      <p:sp>
        <p:nvSpPr>
          <p:cNvPr id="13" name="Text 11"/>
          <p:cNvSpPr/>
          <p:nvPr/>
        </p:nvSpPr>
        <p:spPr>
          <a:xfrm>
            <a:off x="2596896" y="1444752"/>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Open Sans" pitchFamily="34" charset="0"/>
                <a:ea typeface="Open Sans" pitchFamily="34" charset="-122"/>
                <a:cs typeface="Open Sans" pitchFamily="34" charset="-120"/>
              </a:rPr>
              <a:t>2</a:t>
            </a:r>
            <a:endParaRPr lang="en-US" sz="900" dirty="0"/>
          </a:p>
        </p:txBody>
      </p:sp>
      <p:sp>
        <p:nvSpPr>
          <p:cNvPr id="14" name="Text 12"/>
          <p:cNvSpPr/>
          <p:nvPr/>
        </p:nvSpPr>
        <p:spPr>
          <a:xfrm>
            <a:off x="2121408" y="1956816"/>
            <a:ext cx="1389888" cy="347472"/>
          </a:xfrm>
          <a:prstGeom prst="rect">
            <a:avLst/>
          </a:prstGeom>
          <a:noFill/>
          <a:ln/>
        </p:spPr>
        <p:txBody>
          <a:bodyPr wrap="square" rtlCol="0" anchor="ctr"/>
          <a:lstStyle/>
          <a:p>
            <a:pPr algn="ctr" indent="0" marL="0">
              <a:buNone/>
            </a:pPr>
            <a:r>
              <a:rPr lang="en-US" sz="1150" b="1" dirty="0">
                <a:solidFill>
                  <a:srgbClr val="2F5361"/>
                </a:solidFill>
                <a:latin typeface="Open Sans" pitchFamily="34" charset="0"/>
                <a:ea typeface="Open Sans" pitchFamily="34" charset="-122"/>
                <a:cs typeface="Open Sans" pitchFamily="34" charset="-120"/>
              </a:rPr>
              <a:t>Draft Bylaws</a:t>
            </a:r>
            <a:endParaRPr lang="en-US" sz="1150" dirty="0"/>
          </a:p>
        </p:txBody>
      </p:sp>
      <p:sp>
        <p:nvSpPr>
          <p:cNvPr id="15" name="Text 13"/>
          <p:cNvSpPr/>
          <p:nvPr/>
        </p:nvSpPr>
        <p:spPr>
          <a:xfrm>
            <a:off x="2121408" y="2340864"/>
            <a:ext cx="1389888" cy="1691640"/>
          </a:xfrm>
          <a:prstGeom prst="rect">
            <a:avLst/>
          </a:prstGeom>
          <a:noFill/>
          <a:ln/>
        </p:spPr>
        <p:txBody>
          <a:bodyPr wrap="square" rtlCol="0" anchor="t"/>
          <a:lstStyle/>
          <a:p>
            <a:pPr algn="ctr" indent="0" marL="0">
              <a:buNone/>
            </a:pPr>
            <a:r>
              <a:rPr lang="en-US" sz="950" dirty="0">
                <a:solidFill>
                  <a:srgbClr val="4A6B78"/>
                </a:solidFill>
                <a:latin typeface="Open Sans" pitchFamily="34" charset="0"/>
                <a:ea typeface="Open Sans" pitchFamily="34" charset="-122"/>
                <a:cs typeface="Open Sans" pitchFamily="34" charset="-120"/>
              </a:rPr>
              <a:t>Governance rules, board structure, officer roles, meeting requirements, Conflict of Interest policy.</a:t>
            </a:r>
            <a:endParaRPr lang="en-US" sz="950" dirty="0"/>
          </a:p>
        </p:txBody>
      </p:sp>
      <p:sp>
        <p:nvSpPr>
          <p:cNvPr id="16" name="Shape 14"/>
          <p:cNvSpPr/>
          <p:nvPr/>
        </p:nvSpPr>
        <p:spPr>
          <a:xfrm>
            <a:off x="2139696" y="4160520"/>
            <a:ext cx="1353312" cy="201168"/>
          </a:xfrm>
          <a:prstGeom prst="rect">
            <a:avLst/>
          </a:prstGeom>
          <a:solidFill>
            <a:srgbClr val="E6F0F3"/>
          </a:solidFill>
          <a:ln w="6350">
            <a:solidFill>
              <a:srgbClr val="DDE8EC"/>
            </a:solidFill>
            <a:prstDash val="solid"/>
          </a:ln>
        </p:spPr>
      </p:sp>
      <p:sp>
        <p:nvSpPr>
          <p:cNvPr id="17" name="Text 15"/>
          <p:cNvSpPr/>
          <p:nvPr/>
        </p:nvSpPr>
        <p:spPr>
          <a:xfrm>
            <a:off x="2139696" y="4160520"/>
            <a:ext cx="1353312" cy="201168"/>
          </a:xfrm>
          <a:prstGeom prst="rect">
            <a:avLst/>
          </a:prstGeom>
          <a:noFill/>
          <a:ln/>
        </p:spPr>
        <p:txBody>
          <a:bodyPr wrap="square" rtlCol="0" anchor="ctr"/>
          <a:lstStyle/>
          <a:p>
            <a:pPr algn="ctr" indent="0" marL="0">
              <a:buNone/>
            </a:pPr>
            <a:r>
              <a:rPr lang="en-US" sz="850" b="1" dirty="0">
                <a:solidFill>
                  <a:srgbClr val="4A8A9A"/>
                </a:solidFill>
                <a:latin typeface="Open Sans" pitchFamily="34" charset="0"/>
                <a:ea typeface="Open Sans" pitchFamily="34" charset="-122"/>
                <a:cs typeface="Open Sans" pitchFamily="34" charset="-120"/>
              </a:rPr>
              <a:t>2-4 weeks</a:t>
            </a:r>
            <a:endParaRPr lang="en-US" sz="850" dirty="0"/>
          </a:p>
        </p:txBody>
      </p:sp>
      <p:sp>
        <p:nvSpPr>
          <p:cNvPr id="18" name="Shape 16"/>
          <p:cNvSpPr/>
          <p:nvPr/>
        </p:nvSpPr>
        <p:spPr>
          <a:xfrm>
            <a:off x="3785616" y="1298448"/>
            <a:ext cx="1572768" cy="3154680"/>
          </a:xfrm>
          <a:prstGeom prst="rect">
            <a:avLst/>
          </a:prstGeom>
          <a:solidFill>
            <a:srgbClr val="FFFFFF"/>
          </a:solidFill>
          <a:ln/>
          <a:effectLst>
            <a:outerShdw sx="100000" sy="100000" kx="0" ky="0" algn="bl" rotWithShape="0" blurRad="101600" dist="25400" dir="8100000">
              <a:srgbClr val="2F5361">
                <a:alpha val="10000"/>
              </a:srgbClr>
            </a:outerShdw>
          </a:effectLst>
        </p:spPr>
      </p:sp>
      <p:sp>
        <p:nvSpPr>
          <p:cNvPr id="19" name="Shape 17"/>
          <p:cNvSpPr/>
          <p:nvPr/>
        </p:nvSpPr>
        <p:spPr>
          <a:xfrm>
            <a:off x="4352544" y="1444752"/>
            <a:ext cx="438912" cy="438912"/>
          </a:xfrm>
          <a:prstGeom prst="oval">
            <a:avLst/>
          </a:prstGeom>
          <a:solidFill>
            <a:srgbClr val="D17E64"/>
          </a:solidFill>
          <a:ln w="12700">
            <a:solidFill>
              <a:srgbClr val="D17E64"/>
            </a:solidFill>
            <a:prstDash val="solid"/>
          </a:ln>
        </p:spPr>
      </p:sp>
      <p:sp>
        <p:nvSpPr>
          <p:cNvPr id="20" name="Text 18"/>
          <p:cNvSpPr/>
          <p:nvPr/>
        </p:nvSpPr>
        <p:spPr>
          <a:xfrm>
            <a:off x="4352544" y="1444752"/>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Open Sans" pitchFamily="34" charset="0"/>
                <a:ea typeface="Open Sans" pitchFamily="34" charset="-122"/>
                <a:cs typeface="Open Sans" pitchFamily="34" charset="-120"/>
              </a:rPr>
              <a:t>3</a:t>
            </a:r>
            <a:endParaRPr lang="en-US" sz="900" dirty="0"/>
          </a:p>
        </p:txBody>
      </p:sp>
      <p:sp>
        <p:nvSpPr>
          <p:cNvPr id="21" name="Text 19"/>
          <p:cNvSpPr/>
          <p:nvPr/>
        </p:nvSpPr>
        <p:spPr>
          <a:xfrm>
            <a:off x="3877056" y="1956816"/>
            <a:ext cx="1389888" cy="347472"/>
          </a:xfrm>
          <a:prstGeom prst="rect">
            <a:avLst/>
          </a:prstGeom>
          <a:noFill/>
          <a:ln/>
        </p:spPr>
        <p:txBody>
          <a:bodyPr wrap="square" rtlCol="0" anchor="ctr"/>
          <a:lstStyle/>
          <a:p>
            <a:pPr algn="ctr" indent="0" marL="0">
              <a:buNone/>
            </a:pPr>
            <a:r>
              <a:rPr lang="en-US" sz="1150" b="1" dirty="0">
                <a:solidFill>
                  <a:srgbClr val="2F5361"/>
                </a:solidFill>
                <a:latin typeface="Open Sans" pitchFamily="34" charset="0"/>
                <a:ea typeface="Open Sans" pitchFamily="34" charset="-122"/>
                <a:cs typeface="Open Sans" pitchFamily="34" charset="-120"/>
              </a:rPr>
              <a:t>Elect Board</a:t>
            </a:r>
            <a:endParaRPr lang="en-US" sz="1150" dirty="0"/>
          </a:p>
        </p:txBody>
      </p:sp>
      <p:sp>
        <p:nvSpPr>
          <p:cNvPr id="22" name="Text 20"/>
          <p:cNvSpPr/>
          <p:nvPr/>
        </p:nvSpPr>
        <p:spPr>
          <a:xfrm>
            <a:off x="3877056" y="2340864"/>
            <a:ext cx="1389888" cy="1691640"/>
          </a:xfrm>
          <a:prstGeom prst="rect">
            <a:avLst/>
          </a:prstGeom>
          <a:noFill/>
          <a:ln/>
        </p:spPr>
        <p:txBody>
          <a:bodyPr wrap="square" rtlCol="0" anchor="t"/>
          <a:lstStyle/>
          <a:p>
            <a:pPr algn="ctr" indent="0" marL="0">
              <a:buNone/>
            </a:pPr>
            <a:r>
              <a:rPr lang="en-US" sz="950" dirty="0">
                <a:solidFill>
                  <a:srgbClr val="4A6B78"/>
                </a:solidFill>
                <a:latin typeface="Open Sans" pitchFamily="34" charset="0"/>
                <a:ea typeface="Open Sans" pitchFamily="34" charset="-122"/>
                <a:cs typeface="Open Sans" pitchFamily="34" charset="-120"/>
              </a:rPr>
              <a:t>Inaugural board meeting. Minimum 3 directors; typically 5-7 for a founding board. Elect officers.</a:t>
            </a:r>
            <a:endParaRPr lang="en-US" sz="950" dirty="0"/>
          </a:p>
        </p:txBody>
      </p:sp>
      <p:sp>
        <p:nvSpPr>
          <p:cNvPr id="23" name="Shape 21"/>
          <p:cNvSpPr/>
          <p:nvPr/>
        </p:nvSpPr>
        <p:spPr>
          <a:xfrm>
            <a:off x="3895344" y="4160520"/>
            <a:ext cx="1353312" cy="201168"/>
          </a:xfrm>
          <a:prstGeom prst="rect">
            <a:avLst/>
          </a:prstGeom>
          <a:solidFill>
            <a:srgbClr val="E6F0F3"/>
          </a:solidFill>
          <a:ln w="6350">
            <a:solidFill>
              <a:srgbClr val="DDE8EC"/>
            </a:solidFill>
            <a:prstDash val="solid"/>
          </a:ln>
        </p:spPr>
      </p:sp>
      <p:sp>
        <p:nvSpPr>
          <p:cNvPr id="24" name="Text 22"/>
          <p:cNvSpPr/>
          <p:nvPr/>
        </p:nvSpPr>
        <p:spPr>
          <a:xfrm>
            <a:off x="3895344" y="4160520"/>
            <a:ext cx="1353312" cy="201168"/>
          </a:xfrm>
          <a:prstGeom prst="rect">
            <a:avLst/>
          </a:prstGeom>
          <a:noFill/>
          <a:ln/>
        </p:spPr>
        <p:txBody>
          <a:bodyPr wrap="square" rtlCol="0" anchor="ctr"/>
          <a:lstStyle/>
          <a:p>
            <a:pPr algn="ctr" indent="0" marL="0">
              <a:buNone/>
            </a:pPr>
            <a:r>
              <a:rPr lang="en-US" sz="850" b="1" dirty="0">
                <a:solidFill>
                  <a:srgbClr val="4A8A9A"/>
                </a:solidFill>
                <a:latin typeface="Open Sans" pitchFamily="34" charset="0"/>
                <a:ea typeface="Open Sans" pitchFamily="34" charset="-122"/>
                <a:cs typeface="Open Sans" pitchFamily="34" charset="-120"/>
              </a:rPr>
              <a:t>At first meeting</a:t>
            </a:r>
            <a:endParaRPr lang="en-US" sz="850" dirty="0"/>
          </a:p>
        </p:txBody>
      </p:sp>
      <p:sp>
        <p:nvSpPr>
          <p:cNvPr id="25" name="Shape 23"/>
          <p:cNvSpPr/>
          <p:nvPr/>
        </p:nvSpPr>
        <p:spPr>
          <a:xfrm>
            <a:off x="5541264" y="1298448"/>
            <a:ext cx="1572768" cy="3154680"/>
          </a:xfrm>
          <a:prstGeom prst="rect">
            <a:avLst/>
          </a:prstGeom>
          <a:solidFill>
            <a:srgbClr val="FFFFFF"/>
          </a:solidFill>
          <a:ln/>
          <a:effectLst>
            <a:outerShdw sx="100000" sy="100000" kx="0" ky="0" algn="bl" rotWithShape="0" blurRad="101600" dist="25400" dir="8100000">
              <a:srgbClr val="2F5361">
                <a:alpha val="10000"/>
              </a:srgbClr>
            </a:outerShdw>
          </a:effectLst>
        </p:spPr>
      </p:sp>
      <p:sp>
        <p:nvSpPr>
          <p:cNvPr id="26" name="Shape 24"/>
          <p:cNvSpPr/>
          <p:nvPr/>
        </p:nvSpPr>
        <p:spPr>
          <a:xfrm>
            <a:off x="6108192" y="1444752"/>
            <a:ext cx="438912" cy="438912"/>
          </a:xfrm>
          <a:prstGeom prst="oval">
            <a:avLst/>
          </a:prstGeom>
          <a:solidFill>
            <a:srgbClr val="D8AB67"/>
          </a:solidFill>
          <a:ln w="12700">
            <a:solidFill>
              <a:srgbClr val="D8AB67"/>
            </a:solidFill>
            <a:prstDash val="solid"/>
          </a:ln>
        </p:spPr>
      </p:sp>
      <p:sp>
        <p:nvSpPr>
          <p:cNvPr id="27" name="Text 25"/>
          <p:cNvSpPr/>
          <p:nvPr/>
        </p:nvSpPr>
        <p:spPr>
          <a:xfrm>
            <a:off x="6108192" y="1444752"/>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Open Sans" pitchFamily="34" charset="0"/>
                <a:ea typeface="Open Sans" pitchFamily="34" charset="-122"/>
                <a:cs typeface="Open Sans" pitchFamily="34" charset="-120"/>
              </a:rPr>
              <a:t>4</a:t>
            </a:r>
            <a:endParaRPr lang="en-US" sz="900" dirty="0"/>
          </a:p>
        </p:txBody>
      </p:sp>
      <p:sp>
        <p:nvSpPr>
          <p:cNvPr id="28" name="Text 26"/>
          <p:cNvSpPr/>
          <p:nvPr/>
        </p:nvSpPr>
        <p:spPr>
          <a:xfrm>
            <a:off x="5632704" y="1956816"/>
            <a:ext cx="1389888" cy="347472"/>
          </a:xfrm>
          <a:prstGeom prst="rect">
            <a:avLst/>
          </a:prstGeom>
          <a:noFill/>
          <a:ln/>
        </p:spPr>
        <p:txBody>
          <a:bodyPr wrap="square" rtlCol="0" anchor="ctr"/>
          <a:lstStyle/>
          <a:p>
            <a:pPr algn="ctr" indent="0" marL="0">
              <a:buNone/>
            </a:pPr>
            <a:r>
              <a:rPr lang="en-US" sz="1150" b="1" dirty="0">
                <a:solidFill>
                  <a:srgbClr val="2F5361"/>
                </a:solidFill>
                <a:latin typeface="Open Sans" pitchFamily="34" charset="0"/>
                <a:ea typeface="Open Sans" pitchFamily="34" charset="-122"/>
                <a:cs typeface="Open Sans" pitchFamily="34" charset="-120"/>
              </a:rPr>
              <a:t>Get EIN</a:t>
            </a:r>
            <a:endParaRPr lang="en-US" sz="1150" dirty="0"/>
          </a:p>
        </p:txBody>
      </p:sp>
      <p:sp>
        <p:nvSpPr>
          <p:cNvPr id="29" name="Text 27"/>
          <p:cNvSpPr/>
          <p:nvPr/>
        </p:nvSpPr>
        <p:spPr>
          <a:xfrm>
            <a:off x="5632704" y="2340864"/>
            <a:ext cx="1389888" cy="1691640"/>
          </a:xfrm>
          <a:prstGeom prst="rect">
            <a:avLst/>
          </a:prstGeom>
          <a:noFill/>
          <a:ln/>
        </p:spPr>
        <p:txBody>
          <a:bodyPr wrap="square" rtlCol="0" anchor="t"/>
          <a:lstStyle/>
          <a:p>
            <a:pPr algn="ctr" indent="0" marL="0">
              <a:buNone/>
            </a:pPr>
            <a:r>
              <a:rPr lang="en-US" sz="950" dirty="0">
                <a:solidFill>
                  <a:srgbClr val="4A6B78"/>
                </a:solidFill>
                <a:latin typeface="Open Sans" pitchFamily="34" charset="0"/>
                <a:ea typeface="Open Sans" pitchFamily="34" charset="-122"/>
                <a:cs typeface="Open Sans" pitchFamily="34" charset="-120"/>
              </a:rPr>
              <a:t>Federal Employer Identification Number. Free and fast from IRS.gov.</a:t>
            </a:r>
            <a:endParaRPr lang="en-US" sz="950" dirty="0"/>
          </a:p>
        </p:txBody>
      </p:sp>
      <p:sp>
        <p:nvSpPr>
          <p:cNvPr id="30" name="Shape 28"/>
          <p:cNvSpPr/>
          <p:nvPr/>
        </p:nvSpPr>
        <p:spPr>
          <a:xfrm>
            <a:off x="5650992" y="4160520"/>
            <a:ext cx="1353312" cy="201168"/>
          </a:xfrm>
          <a:prstGeom prst="rect">
            <a:avLst/>
          </a:prstGeom>
          <a:solidFill>
            <a:srgbClr val="E6F0F3"/>
          </a:solidFill>
          <a:ln w="6350">
            <a:solidFill>
              <a:srgbClr val="DDE8EC"/>
            </a:solidFill>
            <a:prstDash val="solid"/>
          </a:ln>
        </p:spPr>
      </p:sp>
      <p:sp>
        <p:nvSpPr>
          <p:cNvPr id="31" name="Text 29"/>
          <p:cNvSpPr/>
          <p:nvPr/>
        </p:nvSpPr>
        <p:spPr>
          <a:xfrm>
            <a:off x="5650992" y="4160520"/>
            <a:ext cx="1353312" cy="201168"/>
          </a:xfrm>
          <a:prstGeom prst="rect">
            <a:avLst/>
          </a:prstGeom>
          <a:noFill/>
          <a:ln/>
        </p:spPr>
        <p:txBody>
          <a:bodyPr wrap="square" rtlCol="0" anchor="ctr"/>
          <a:lstStyle/>
          <a:p>
            <a:pPr algn="ctr" indent="0" marL="0">
              <a:buNone/>
            </a:pPr>
            <a:r>
              <a:rPr lang="en-US" sz="850" b="1" dirty="0">
                <a:solidFill>
                  <a:srgbClr val="4A8A9A"/>
                </a:solidFill>
                <a:latin typeface="Open Sans" pitchFamily="34" charset="0"/>
                <a:ea typeface="Open Sans" pitchFamily="34" charset="-122"/>
                <a:cs typeface="Open Sans" pitchFamily="34" charset="-120"/>
              </a:rPr>
              <a:t>Same day</a:t>
            </a:r>
            <a:endParaRPr lang="en-US" sz="850" dirty="0"/>
          </a:p>
        </p:txBody>
      </p:sp>
      <p:sp>
        <p:nvSpPr>
          <p:cNvPr id="32" name="Shape 30"/>
          <p:cNvSpPr/>
          <p:nvPr/>
        </p:nvSpPr>
        <p:spPr>
          <a:xfrm>
            <a:off x="7296912" y="1298448"/>
            <a:ext cx="1572768" cy="3154680"/>
          </a:xfrm>
          <a:prstGeom prst="rect">
            <a:avLst/>
          </a:prstGeom>
          <a:solidFill>
            <a:srgbClr val="FFFFFF"/>
          </a:solidFill>
          <a:ln/>
          <a:effectLst>
            <a:outerShdw sx="100000" sy="100000" kx="0" ky="0" algn="bl" rotWithShape="0" blurRad="101600" dist="25400" dir="8100000">
              <a:srgbClr val="2F5361">
                <a:alpha val="10000"/>
              </a:srgbClr>
            </a:outerShdw>
          </a:effectLst>
        </p:spPr>
      </p:sp>
      <p:sp>
        <p:nvSpPr>
          <p:cNvPr id="33" name="Shape 31"/>
          <p:cNvSpPr/>
          <p:nvPr/>
        </p:nvSpPr>
        <p:spPr>
          <a:xfrm>
            <a:off x="7863840" y="1444752"/>
            <a:ext cx="438912" cy="438912"/>
          </a:xfrm>
          <a:prstGeom prst="oval">
            <a:avLst/>
          </a:prstGeom>
          <a:solidFill>
            <a:srgbClr val="2F5361"/>
          </a:solidFill>
          <a:ln w="12700">
            <a:solidFill>
              <a:srgbClr val="2F5361"/>
            </a:solidFill>
            <a:prstDash val="solid"/>
          </a:ln>
        </p:spPr>
      </p:sp>
      <p:sp>
        <p:nvSpPr>
          <p:cNvPr id="34" name="Text 32"/>
          <p:cNvSpPr/>
          <p:nvPr/>
        </p:nvSpPr>
        <p:spPr>
          <a:xfrm>
            <a:off x="7863840" y="1444752"/>
            <a:ext cx="438912" cy="438912"/>
          </a:xfrm>
          <a:prstGeom prst="rect">
            <a:avLst/>
          </a:prstGeom>
          <a:noFill/>
          <a:ln/>
        </p:spPr>
        <p:txBody>
          <a:bodyPr wrap="square" lIns="0" tIns="0" rIns="0" bIns="0" rtlCol="0" anchor="ctr"/>
          <a:lstStyle/>
          <a:p>
            <a:pPr algn="ctr" indent="0" marL="0">
              <a:buNone/>
            </a:pPr>
            <a:r>
              <a:rPr lang="en-US" sz="900" b="1" dirty="0">
                <a:solidFill>
                  <a:srgbClr val="FFFFFF"/>
                </a:solidFill>
                <a:latin typeface="Open Sans" pitchFamily="34" charset="0"/>
                <a:ea typeface="Open Sans" pitchFamily="34" charset="-122"/>
                <a:cs typeface="Open Sans" pitchFamily="34" charset="-120"/>
              </a:rPr>
              <a:t>5</a:t>
            </a:r>
            <a:endParaRPr lang="en-US" sz="900" dirty="0"/>
          </a:p>
        </p:txBody>
      </p:sp>
      <p:sp>
        <p:nvSpPr>
          <p:cNvPr id="35" name="Text 33"/>
          <p:cNvSpPr/>
          <p:nvPr/>
        </p:nvSpPr>
        <p:spPr>
          <a:xfrm>
            <a:off x="7388352" y="1956816"/>
            <a:ext cx="1389888" cy="347472"/>
          </a:xfrm>
          <a:prstGeom prst="rect">
            <a:avLst/>
          </a:prstGeom>
          <a:noFill/>
          <a:ln/>
        </p:spPr>
        <p:txBody>
          <a:bodyPr wrap="square" rtlCol="0" anchor="ctr"/>
          <a:lstStyle/>
          <a:p>
            <a:pPr algn="ctr" indent="0" marL="0">
              <a:buNone/>
            </a:pPr>
            <a:r>
              <a:rPr lang="en-US" sz="1150" b="1" dirty="0">
                <a:solidFill>
                  <a:srgbClr val="2F5361"/>
                </a:solidFill>
                <a:latin typeface="Open Sans" pitchFamily="34" charset="0"/>
                <a:ea typeface="Open Sans" pitchFamily="34" charset="-122"/>
                <a:cs typeface="Open Sans" pitchFamily="34" charset="-120"/>
              </a:rPr>
              <a:t>File 501(c)(3)</a:t>
            </a:r>
            <a:endParaRPr lang="en-US" sz="1150" dirty="0"/>
          </a:p>
        </p:txBody>
      </p:sp>
      <p:sp>
        <p:nvSpPr>
          <p:cNvPr id="36" name="Text 34"/>
          <p:cNvSpPr/>
          <p:nvPr/>
        </p:nvSpPr>
        <p:spPr>
          <a:xfrm>
            <a:off x="7388352" y="2340864"/>
            <a:ext cx="1389888" cy="1691640"/>
          </a:xfrm>
          <a:prstGeom prst="rect">
            <a:avLst/>
          </a:prstGeom>
          <a:noFill/>
          <a:ln/>
        </p:spPr>
        <p:txBody>
          <a:bodyPr wrap="square" rtlCol="0" anchor="t"/>
          <a:lstStyle/>
          <a:p>
            <a:pPr algn="ctr" indent="0" marL="0">
              <a:buNone/>
            </a:pPr>
            <a:r>
              <a:rPr lang="en-US" sz="950" dirty="0">
                <a:solidFill>
                  <a:srgbClr val="4A6B78"/>
                </a:solidFill>
                <a:latin typeface="Open Sans" pitchFamily="34" charset="0"/>
                <a:ea typeface="Open Sans" pitchFamily="34" charset="-122"/>
                <a:cs typeface="Open Sans" pitchFamily="34" charset="-120"/>
              </a:rPr>
              <a:t>IRS Form 1023-EZ (faster) or full Form 1023. Tax-exempt status unlocks charitable donations.</a:t>
            </a:r>
            <a:endParaRPr lang="en-US" sz="950" dirty="0"/>
          </a:p>
        </p:txBody>
      </p:sp>
      <p:sp>
        <p:nvSpPr>
          <p:cNvPr id="37" name="Shape 35"/>
          <p:cNvSpPr/>
          <p:nvPr/>
        </p:nvSpPr>
        <p:spPr>
          <a:xfrm>
            <a:off x="7406640" y="4160520"/>
            <a:ext cx="1353312" cy="201168"/>
          </a:xfrm>
          <a:prstGeom prst="rect">
            <a:avLst/>
          </a:prstGeom>
          <a:solidFill>
            <a:srgbClr val="E6F0F3"/>
          </a:solidFill>
          <a:ln w="6350">
            <a:solidFill>
              <a:srgbClr val="DDE8EC"/>
            </a:solidFill>
            <a:prstDash val="solid"/>
          </a:ln>
        </p:spPr>
      </p:sp>
      <p:sp>
        <p:nvSpPr>
          <p:cNvPr id="38" name="Text 36"/>
          <p:cNvSpPr/>
          <p:nvPr/>
        </p:nvSpPr>
        <p:spPr>
          <a:xfrm>
            <a:off x="7406640" y="4160520"/>
            <a:ext cx="1353312" cy="201168"/>
          </a:xfrm>
          <a:prstGeom prst="rect">
            <a:avLst/>
          </a:prstGeom>
          <a:noFill/>
          <a:ln/>
        </p:spPr>
        <p:txBody>
          <a:bodyPr wrap="square" rtlCol="0" anchor="ctr"/>
          <a:lstStyle/>
          <a:p>
            <a:pPr algn="ctr" indent="0" marL="0">
              <a:buNone/>
            </a:pPr>
            <a:r>
              <a:rPr lang="en-US" sz="850" b="1" dirty="0">
                <a:solidFill>
                  <a:srgbClr val="4A8A9A"/>
                </a:solidFill>
                <a:latin typeface="Open Sans" pitchFamily="34" charset="0"/>
                <a:ea typeface="Open Sans" pitchFamily="34" charset="-122"/>
                <a:cs typeface="Open Sans" pitchFamily="34" charset="-120"/>
              </a:rPr>
              <a:t>3-6 months</a:t>
            </a:r>
            <a:endParaRPr lang="en-US" sz="850" dirty="0"/>
          </a:p>
        </p:txBody>
      </p:sp>
      <p:sp>
        <p:nvSpPr>
          <p:cNvPr id="39" name="Shape 37"/>
          <p:cNvSpPr/>
          <p:nvPr/>
        </p:nvSpPr>
        <p:spPr>
          <a:xfrm>
            <a:off x="0" y="4773168"/>
            <a:ext cx="9144000" cy="9144"/>
          </a:xfrm>
          <a:prstGeom prst="rect">
            <a:avLst/>
          </a:prstGeom>
          <a:solidFill>
            <a:srgbClr val="DDE8EC"/>
          </a:solidFill>
          <a:ln w="12700">
            <a:solidFill>
              <a:srgbClr val="DDE8EC"/>
            </a:solidFill>
            <a:prstDash val="solid"/>
          </a:ln>
        </p:spPr>
      </p:sp>
      <p:sp>
        <p:nvSpPr>
          <p:cNvPr id="40" name="Text 38"/>
          <p:cNvSpPr/>
          <p:nvPr/>
        </p:nvSpPr>
        <p:spPr>
          <a:xfrm>
            <a:off x="502920" y="4828032"/>
            <a:ext cx="8138160" cy="182880"/>
          </a:xfrm>
          <a:prstGeom prst="rect">
            <a:avLst/>
          </a:prstGeom>
          <a:noFill/>
          <a:ln/>
        </p:spPr>
        <p:txBody>
          <a:bodyPr wrap="square" rtlCol="0" anchor="ctr"/>
          <a:lstStyle/>
          <a:p>
            <a:pPr algn="l" indent="0" marL="0">
              <a:buNone/>
            </a:pPr>
            <a:r>
              <a:rPr lang="en-US" sz="800" dirty="0">
                <a:solidFill>
                  <a:srgbClr val="7A9BAB"/>
                </a:solidFill>
                <a:latin typeface="Open Sans" pitchFamily="34" charset="0"/>
                <a:ea typeface="Open Sans" pitchFamily="34" charset="-122"/>
                <a:cs typeface="Open Sans" pitchFamily="34" charset="-120"/>
              </a:rPr>
              <a:t>SETD5 Syndrome Foundation  ·  Founding Meeting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A45"/>
        </a:solidFill>
      </p:bgPr>
    </p:bg>
    <p:spTree>
      <p:nvGrpSpPr>
        <p:cNvPr id="1" name=""/>
        <p:cNvGrpSpPr/>
        <p:nvPr/>
      </p:nvGrpSpPr>
      <p:grpSpPr>
        <a:xfrm>
          <a:off x="0" y="0"/>
          <a:ext cx="0" cy="0"/>
          <a:chOff x="0" y="0"/>
          <a:chExt cx="0" cy="0"/>
        </a:xfrm>
      </p:grpSpPr>
      <p:sp>
        <p:nvSpPr>
          <p:cNvPr id="2" name="Text 0"/>
          <p:cNvSpPr/>
          <p:nvPr/>
        </p:nvSpPr>
        <p:spPr>
          <a:xfrm>
            <a:off x="502920" y="256032"/>
            <a:ext cx="8138160" cy="530352"/>
          </a:xfrm>
          <a:prstGeom prst="rect">
            <a:avLst/>
          </a:prstGeom>
          <a:noFill/>
          <a:ln/>
        </p:spPr>
        <p:txBody>
          <a:bodyPr wrap="square" rtlCol="0" anchor="ctr"/>
          <a:lstStyle/>
          <a:p>
            <a:pPr algn="ctr" indent="0" marL="0">
              <a:buNone/>
            </a:pPr>
            <a:r>
              <a:rPr lang="en-US" sz="2800" b="1" dirty="0">
                <a:solidFill>
                  <a:srgbClr val="FFFFFF"/>
                </a:solidFill>
                <a:latin typeface="Open Sans" pitchFamily="34" charset="0"/>
                <a:ea typeface="Open Sans" pitchFamily="34" charset="-122"/>
                <a:cs typeface="Open Sans" pitchFamily="34" charset="-120"/>
              </a:rPr>
              <a:t>Working Groups</a:t>
            </a:r>
            <a:endParaRPr lang="en-US" sz="2800" dirty="0"/>
          </a:p>
        </p:txBody>
      </p:sp>
      <p:sp>
        <p:nvSpPr>
          <p:cNvPr id="3" name="Text 1"/>
          <p:cNvSpPr/>
          <p:nvPr/>
        </p:nvSpPr>
        <p:spPr>
          <a:xfrm>
            <a:off x="502920" y="822960"/>
            <a:ext cx="8138160" cy="274320"/>
          </a:xfrm>
          <a:prstGeom prst="rect">
            <a:avLst/>
          </a:prstGeom>
          <a:noFill/>
          <a:ln/>
        </p:spPr>
        <p:txBody>
          <a:bodyPr wrap="square" rtlCol="0" anchor="ctr"/>
          <a:lstStyle/>
          <a:p>
            <a:pPr algn="ctr" indent="0" marL="0">
              <a:buNone/>
            </a:pPr>
            <a:r>
              <a:rPr lang="en-US" sz="1150" dirty="0">
                <a:solidFill>
                  <a:srgbClr val="D8AB67"/>
                </a:solidFill>
                <a:latin typeface="Open Sans" pitchFamily="34" charset="0"/>
                <a:ea typeface="Open Sans" pitchFamily="34" charset="-122"/>
                <a:cs typeface="Open Sans" pitchFamily="34" charset="-120"/>
              </a:rPr>
              <a:t>Each group needs a Lead + 2-4 members  ·  Report back in 30 days</a:t>
            </a:r>
            <a:endParaRPr lang="en-US" sz="1150" dirty="0"/>
          </a:p>
        </p:txBody>
      </p:sp>
      <p:sp>
        <p:nvSpPr>
          <p:cNvPr id="4" name="Shape 2"/>
          <p:cNvSpPr/>
          <p:nvPr/>
        </p:nvSpPr>
        <p:spPr>
          <a:xfrm>
            <a:off x="274320"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5" name="Shape 3"/>
          <p:cNvSpPr/>
          <p:nvPr/>
        </p:nvSpPr>
        <p:spPr>
          <a:xfrm>
            <a:off x="274320" y="1207008"/>
            <a:ext cx="1572768" cy="54864"/>
          </a:xfrm>
          <a:prstGeom prst="rect">
            <a:avLst/>
          </a:prstGeom>
          <a:solidFill>
            <a:srgbClr val="2F5361"/>
          </a:solidFill>
          <a:ln w="12700">
            <a:solidFill>
              <a:srgbClr val="2F5361"/>
            </a:solidFill>
            <a:prstDash val="solid"/>
          </a:ln>
        </p:spPr>
      </p:sp>
      <p:sp>
        <p:nvSpPr>
          <p:cNvPr id="6" name="Shape 4"/>
          <p:cNvSpPr/>
          <p:nvPr/>
        </p:nvSpPr>
        <p:spPr>
          <a:xfrm>
            <a:off x="832104" y="1335024"/>
            <a:ext cx="457200" cy="457200"/>
          </a:xfrm>
          <a:prstGeom prst="oval">
            <a:avLst/>
          </a:prstGeom>
          <a:solidFill>
            <a:srgbClr val="2F5361"/>
          </a:solidFill>
          <a:ln w="12700">
            <a:solidFill>
              <a:srgbClr val="2F5361"/>
            </a:solidFill>
            <a:prstDash val="solid"/>
          </a:ln>
        </p:spPr>
      </p:sp>
      <p:sp>
        <p:nvSpPr>
          <p:cNvPr id="7" name="Text 5"/>
          <p:cNvSpPr/>
          <p:nvPr/>
        </p:nvSpPr>
        <p:spPr>
          <a:xfrm>
            <a:off x="832104"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G</a:t>
            </a:r>
            <a:endParaRPr lang="en-US" sz="1300" dirty="0"/>
          </a:p>
        </p:txBody>
      </p:sp>
      <p:sp>
        <p:nvSpPr>
          <p:cNvPr id="8" name="Text 6"/>
          <p:cNvSpPr/>
          <p:nvPr/>
        </p:nvSpPr>
        <p:spPr>
          <a:xfrm>
            <a:off x="347472"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Governance</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&amp; Legal</a:t>
            </a:r>
            <a:endParaRPr lang="en-US" sz="1050" dirty="0"/>
          </a:p>
        </p:txBody>
      </p:sp>
      <p:sp>
        <p:nvSpPr>
          <p:cNvPr id="9" name="Text 7"/>
          <p:cNvSpPr/>
          <p:nvPr/>
        </p:nvSpPr>
        <p:spPr>
          <a:xfrm>
            <a:off x="347472"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Incorporation, bylaws, 501(c)(3), attorney</a:t>
            </a:r>
            <a:endParaRPr lang="en-US" sz="850" dirty="0"/>
          </a:p>
        </p:txBody>
      </p:sp>
      <p:sp>
        <p:nvSpPr>
          <p:cNvPr id="10" name="Text 8"/>
          <p:cNvSpPr/>
          <p:nvPr/>
        </p:nvSpPr>
        <p:spPr>
          <a:xfrm>
            <a:off x="347472"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___________</a:t>
            </a:r>
            <a:endParaRPr lang="en-US" sz="850" dirty="0"/>
          </a:p>
        </p:txBody>
      </p:sp>
      <p:sp>
        <p:nvSpPr>
          <p:cNvPr id="11" name="Shape 9"/>
          <p:cNvSpPr/>
          <p:nvPr/>
        </p:nvSpPr>
        <p:spPr>
          <a:xfrm>
            <a:off x="2029968"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12" name="Shape 10"/>
          <p:cNvSpPr/>
          <p:nvPr/>
        </p:nvSpPr>
        <p:spPr>
          <a:xfrm>
            <a:off x="2029968" y="1207008"/>
            <a:ext cx="1572768" cy="54864"/>
          </a:xfrm>
          <a:prstGeom prst="rect">
            <a:avLst/>
          </a:prstGeom>
          <a:solidFill>
            <a:srgbClr val="4A8A9A"/>
          </a:solidFill>
          <a:ln w="12700">
            <a:solidFill>
              <a:srgbClr val="4A8A9A"/>
            </a:solidFill>
            <a:prstDash val="solid"/>
          </a:ln>
        </p:spPr>
      </p:sp>
      <p:sp>
        <p:nvSpPr>
          <p:cNvPr id="13" name="Shape 11"/>
          <p:cNvSpPr/>
          <p:nvPr/>
        </p:nvSpPr>
        <p:spPr>
          <a:xfrm>
            <a:off x="2587752" y="1335024"/>
            <a:ext cx="457200" cy="457200"/>
          </a:xfrm>
          <a:prstGeom prst="oval">
            <a:avLst/>
          </a:prstGeom>
          <a:solidFill>
            <a:srgbClr val="4A8A9A"/>
          </a:solidFill>
          <a:ln w="12700">
            <a:solidFill>
              <a:srgbClr val="4A8A9A"/>
            </a:solidFill>
            <a:prstDash val="solid"/>
          </a:ln>
        </p:spPr>
      </p:sp>
      <p:sp>
        <p:nvSpPr>
          <p:cNvPr id="14" name="Text 12"/>
          <p:cNvSpPr/>
          <p:nvPr/>
        </p:nvSpPr>
        <p:spPr>
          <a:xfrm>
            <a:off x="2587752"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Sci</a:t>
            </a:r>
            <a:endParaRPr lang="en-US" sz="1300" dirty="0"/>
          </a:p>
        </p:txBody>
      </p:sp>
      <p:sp>
        <p:nvSpPr>
          <p:cNvPr id="15" name="Text 13"/>
          <p:cNvSpPr/>
          <p:nvPr/>
        </p:nvSpPr>
        <p:spPr>
          <a:xfrm>
            <a:off x="2103120"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Medical &amp;</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Scientific</a:t>
            </a:r>
            <a:endParaRPr lang="en-US" sz="1050" dirty="0"/>
          </a:p>
        </p:txBody>
      </p:sp>
      <p:sp>
        <p:nvSpPr>
          <p:cNvPr id="16" name="Text 14"/>
          <p:cNvSpPr/>
          <p:nvPr/>
        </p:nvSpPr>
        <p:spPr>
          <a:xfrm>
            <a:off x="2103120"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Recruit SAB, researcher relationships, registry</a:t>
            </a:r>
            <a:endParaRPr lang="en-US" sz="850" dirty="0"/>
          </a:p>
        </p:txBody>
      </p:sp>
      <p:sp>
        <p:nvSpPr>
          <p:cNvPr id="17" name="Text 15"/>
          <p:cNvSpPr/>
          <p:nvPr/>
        </p:nvSpPr>
        <p:spPr>
          <a:xfrm>
            <a:off x="2103120"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___________</a:t>
            </a:r>
            <a:endParaRPr lang="en-US" sz="850" dirty="0"/>
          </a:p>
        </p:txBody>
      </p:sp>
      <p:sp>
        <p:nvSpPr>
          <p:cNvPr id="18" name="Shape 16"/>
          <p:cNvSpPr/>
          <p:nvPr/>
        </p:nvSpPr>
        <p:spPr>
          <a:xfrm>
            <a:off x="3785616"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19" name="Shape 17"/>
          <p:cNvSpPr/>
          <p:nvPr/>
        </p:nvSpPr>
        <p:spPr>
          <a:xfrm>
            <a:off x="3785616" y="1207008"/>
            <a:ext cx="1572768" cy="54864"/>
          </a:xfrm>
          <a:prstGeom prst="rect">
            <a:avLst/>
          </a:prstGeom>
          <a:solidFill>
            <a:srgbClr val="D17E64"/>
          </a:solidFill>
          <a:ln w="12700">
            <a:solidFill>
              <a:srgbClr val="D17E64"/>
            </a:solidFill>
            <a:prstDash val="solid"/>
          </a:ln>
        </p:spPr>
      </p:sp>
      <p:sp>
        <p:nvSpPr>
          <p:cNvPr id="20" name="Shape 18"/>
          <p:cNvSpPr/>
          <p:nvPr/>
        </p:nvSpPr>
        <p:spPr>
          <a:xfrm>
            <a:off x="4343400" y="1335024"/>
            <a:ext cx="457200" cy="457200"/>
          </a:xfrm>
          <a:prstGeom prst="oval">
            <a:avLst/>
          </a:prstGeom>
          <a:solidFill>
            <a:srgbClr val="D17E64"/>
          </a:solidFill>
          <a:ln w="12700">
            <a:solidFill>
              <a:srgbClr val="D17E64"/>
            </a:solidFill>
            <a:prstDash val="solid"/>
          </a:ln>
        </p:spPr>
      </p:sp>
      <p:sp>
        <p:nvSpPr>
          <p:cNvPr id="21" name="Text 19"/>
          <p:cNvSpPr/>
          <p:nvPr/>
        </p:nvSpPr>
        <p:spPr>
          <a:xfrm>
            <a:off x="4343400"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C</a:t>
            </a:r>
            <a:endParaRPr lang="en-US" sz="1300" dirty="0"/>
          </a:p>
        </p:txBody>
      </p:sp>
      <p:sp>
        <p:nvSpPr>
          <p:cNvPr id="22" name="Text 20"/>
          <p:cNvSpPr/>
          <p:nvPr/>
        </p:nvSpPr>
        <p:spPr>
          <a:xfrm>
            <a:off x="3858768"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Community</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Support</a:t>
            </a:r>
            <a:endParaRPr lang="en-US" sz="1050" dirty="0"/>
          </a:p>
        </p:txBody>
      </p:sp>
      <p:sp>
        <p:nvSpPr>
          <p:cNvPr id="23" name="Text 21"/>
          <p:cNvSpPr/>
          <p:nvPr/>
        </p:nvSpPr>
        <p:spPr>
          <a:xfrm>
            <a:off x="3858768"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Family resources, peer support, online community</a:t>
            </a:r>
            <a:endParaRPr lang="en-US" sz="850" dirty="0"/>
          </a:p>
        </p:txBody>
      </p:sp>
      <p:sp>
        <p:nvSpPr>
          <p:cNvPr id="24" name="Text 22"/>
          <p:cNvSpPr/>
          <p:nvPr/>
        </p:nvSpPr>
        <p:spPr>
          <a:xfrm>
            <a:off x="3858768"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___________</a:t>
            </a:r>
            <a:endParaRPr lang="en-US" sz="850" dirty="0"/>
          </a:p>
        </p:txBody>
      </p:sp>
      <p:sp>
        <p:nvSpPr>
          <p:cNvPr id="25" name="Shape 23"/>
          <p:cNvSpPr/>
          <p:nvPr/>
        </p:nvSpPr>
        <p:spPr>
          <a:xfrm>
            <a:off x="5541264"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26" name="Shape 24"/>
          <p:cNvSpPr/>
          <p:nvPr/>
        </p:nvSpPr>
        <p:spPr>
          <a:xfrm>
            <a:off x="5541264" y="1207008"/>
            <a:ext cx="1572768" cy="54864"/>
          </a:xfrm>
          <a:prstGeom prst="rect">
            <a:avLst/>
          </a:prstGeom>
          <a:solidFill>
            <a:srgbClr val="D8AB67"/>
          </a:solidFill>
          <a:ln w="12700">
            <a:solidFill>
              <a:srgbClr val="D8AB67"/>
            </a:solidFill>
            <a:prstDash val="solid"/>
          </a:ln>
        </p:spPr>
      </p:sp>
      <p:sp>
        <p:nvSpPr>
          <p:cNvPr id="27" name="Shape 25"/>
          <p:cNvSpPr/>
          <p:nvPr/>
        </p:nvSpPr>
        <p:spPr>
          <a:xfrm>
            <a:off x="6099048" y="1335024"/>
            <a:ext cx="457200" cy="457200"/>
          </a:xfrm>
          <a:prstGeom prst="oval">
            <a:avLst/>
          </a:prstGeom>
          <a:solidFill>
            <a:srgbClr val="D8AB67"/>
          </a:solidFill>
          <a:ln w="12700">
            <a:solidFill>
              <a:srgbClr val="D8AB67"/>
            </a:solidFill>
            <a:prstDash val="solid"/>
          </a:ln>
        </p:spPr>
      </p:sp>
      <p:sp>
        <p:nvSpPr>
          <p:cNvPr id="28" name="Text 26"/>
          <p:cNvSpPr/>
          <p:nvPr/>
        </p:nvSpPr>
        <p:spPr>
          <a:xfrm>
            <a:off x="6099048"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F</a:t>
            </a:r>
            <a:endParaRPr lang="en-US" sz="1300" dirty="0"/>
          </a:p>
        </p:txBody>
      </p:sp>
      <p:sp>
        <p:nvSpPr>
          <p:cNvPr id="29" name="Text 27"/>
          <p:cNvSpPr/>
          <p:nvPr/>
        </p:nvSpPr>
        <p:spPr>
          <a:xfrm>
            <a:off x="5614416"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Fundraising</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&amp; Finance</a:t>
            </a:r>
            <a:endParaRPr lang="en-US" sz="1050" dirty="0"/>
          </a:p>
        </p:txBody>
      </p:sp>
      <p:sp>
        <p:nvSpPr>
          <p:cNvPr id="30" name="Text 28"/>
          <p:cNvSpPr/>
          <p:nvPr/>
        </p:nvSpPr>
        <p:spPr>
          <a:xfrm>
            <a:off x="5614416"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Fundraising strategy, grants, donor database</a:t>
            </a:r>
            <a:endParaRPr lang="en-US" sz="850" dirty="0"/>
          </a:p>
        </p:txBody>
      </p:sp>
      <p:sp>
        <p:nvSpPr>
          <p:cNvPr id="31" name="Text 29"/>
          <p:cNvSpPr/>
          <p:nvPr/>
        </p:nvSpPr>
        <p:spPr>
          <a:xfrm>
            <a:off x="5614416"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___________</a:t>
            </a:r>
            <a:endParaRPr lang="en-US" sz="850" dirty="0"/>
          </a:p>
        </p:txBody>
      </p:sp>
      <p:sp>
        <p:nvSpPr>
          <p:cNvPr id="32" name="Shape 30"/>
          <p:cNvSpPr/>
          <p:nvPr/>
        </p:nvSpPr>
        <p:spPr>
          <a:xfrm>
            <a:off x="7296912"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33" name="Shape 31"/>
          <p:cNvSpPr/>
          <p:nvPr/>
        </p:nvSpPr>
        <p:spPr>
          <a:xfrm>
            <a:off x="7296912" y="1207008"/>
            <a:ext cx="1572768" cy="54864"/>
          </a:xfrm>
          <a:prstGeom prst="rect">
            <a:avLst/>
          </a:prstGeom>
          <a:solidFill>
            <a:srgbClr val="4A8A9A"/>
          </a:solidFill>
          <a:ln w="12700">
            <a:solidFill>
              <a:srgbClr val="4A8A9A"/>
            </a:solidFill>
            <a:prstDash val="solid"/>
          </a:ln>
        </p:spPr>
      </p:sp>
      <p:sp>
        <p:nvSpPr>
          <p:cNvPr id="34" name="Shape 32"/>
          <p:cNvSpPr/>
          <p:nvPr/>
        </p:nvSpPr>
        <p:spPr>
          <a:xfrm>
            <a:off x="7854696" y="1335024"/>
            <a:ext cx="457200" cy="457200"/>
          </a:xfrm>
          <a:prstGeom prst="oval">
            <a:avLst/>
          </a:prstGeom>
          <a:solidFill>
            <a:srgbClr val="4A8A9A"/>
          </a:solidFill>
          <a:ln w="12700">
            <a:solidFill>
              <a:srgbClr val="4A8A9A"/>
            </a:solidFill>
            <a:prstDash val="solid"/>
          </a:ln>
        </p:spPr>
      </p:sp>
      <p:sp>
        <p:nvSpPr>
          <p:cNvPr id="35" name="Text 33"/>
          <p:cNvSpPr/>
          <p:nvPr/>
        </p:nvSpPr>
        <p:spPr>
          <a:xfrm>
            <a:off x="7854696"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PR</a:t>
            </a:r>
            <a:endParaRPr lang="en-US" sz="1300" dirty="0"/>
          </a:p>
        </p:txBody>
      </p:sp>
      <p:sp>
        <p:nvSpPr>
          <p:cNvPr id="36" name="Text 34"/>
          <p:cNvSpPr/>
          <p:nvPr/>
        </p:nvSpPr>
        <p:spPr>
          <a:xfrm>
            <a:off x="7370064"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Comms</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&amp; Brand</a:t>
            </a:r>
            <a:endParaRPr lang="en-US" sz="1050" dirty="0"/>
          </a:p>
        </p:txBody>
      </p:sp>
      <p:sp>
        <p:nvSpPr>
          <p:cNvPr id="37" name="Text 35"/>
          <p:cNvSpPr/>
          <p:nvPr/>
        </p:nvSpPr>
        <p:spPr>
          <a:xfrm>
            <a:off x="7370064"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Website, social, logo, foundation name vote</a:t>
            </a:r>
            <a:endParaRPr lang="en-US" sz="850" dirty="0"/>
          </a:p>
        </p:txBody>
      </p:sp>
      <p:sp>
        <p:nvSpPr>
          <p:cNvPr id="38" name="Text 36"/>
          <p:cNvSpPr/>
          <p:nvPr/>
        </p:nvSpPr>
        <p:spPr>
          <a:xfrm>
            <a:off x="7370064"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___________</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3A45"/>
        </a:solidFill>
      </p:bgPr>
    </p:bg>
    <p:spTree>
      <p:nvGrpSpPr>
        <p:cNvPr id="1" name=""/>
        <p:cNvGrpSpPr/>
        <p:nvPr/>
      </p:nvGrpSpPr>
      <p:grpSpPr>
        <a:xfrm>
          <a:off x="0" y="0"/>
          <a:ext cx="0" cy="0"/>
          <a:chOff x="0" y="0"/>
          <a:chExt cx="0" cy="0"/>
        </a:xfrm>
      </p:grpSpPr>
      <p:sp>
        <p:nvSpPr>
          <p:cNvPr id="2" name="Text 0"/>
          <p:cNvSpPr/>
          <p:nvPr/>
        </p:nvSpPr>
        <p:spPr>
          <a:xfrm>
            <a:off x="502920" y="457200"/>
            <a:ext cx="8138160" cy="411480"/>
          </a:xfrm>
          <a:prstGeom prst="rect">
            <a:avLst/>
          </a:prstGeom>
          <a:noFill/>
          <a:ln/>
        </p:spPr>
        <p:txBody>
          <a:bodyPr wrap="square" rtlCol="0" anchor="ctr"/>
          <a:lstStyle/>
          <a:p>
            <a:pPr algn="ctr" indent="0" marL="0">
              <a:buNone/>
            </a:pPr>
            <a:r>
              <a:rPr lang="en-US" sz="2200" b="1" spc="800" kern="0" dirty="0">
                <a:solidFill>
                  <a:srgbClr val="D8AB67"/>
                </a:solidFill>
                <a:latin typeface="Open Sans" pitchFamily="34" charset="0"/>
                <a:ea typeface="Open Sans" pitchFamily="34" charset="-122"/>
                <a:cs typeface="Open Sans" pitchFamily="34" charset="-120"/>
              </a:rPr>
              <a:t>M I S S I O N</a:t>
            </a:r>
            <a:endParaRPr lang="en-US" sz="2200" dirty="0"/>
          </a:p>
        </p:txBody>
      </p:sp>
      <p:sp>
        <p:nvSpPr>
          <p:cNvPr id="3" name="Shape 1"/>
          <p:cNvSpPr/>
          <p:nvPr/>
        </p:nvSpPr>
        <p:spPr>
          <a:xfrm>
            <a:off x="3474720" y="969264"/>
            <a:ext cx="2194560" cy="36576"/>
          </a:xfrm>
          <a:prstGeom prst="rect">
            <a:avLst/>
          </a:prstGeom>
          <a:solidFill>
            <a:srgbClr val="D17E64"/>
          </a:solidFill>
          <a:ln w="12700">
            <a:solidFill>
              <a:srgbClr val="D17E64"/>
            </a:solidFill>
            <a:prstDash val="solid"/>
          </a:ln>
        </p:spPr>
      </p:sp>
      <p:sp>
        <p:nvSpPr>
          <p:cNvPr id="4" name="Text 2"/>
          <p:cNvSpPr/>
          <p:nvPr/>
        </p:nvSpPr>
        <p:spPr>
          <a:xfrm>
            <a:off x="914400" y="1152144"/>
            <a:ext cx="7315200" cy="2633472"/>
          </a:xfrm>
          <a:prstGeom prst="rect">
            <a:avLst/>
          </a:prstGeom>
          <a:noFill/>
          <a:ln/>
        </p:spPr>
        <p:txBody>
          <a:bodyPr wrap="square" rtlCol="0" anchor="ctr"/>
          <a:lstStyle/>
          <a:p>
            <a:pPr algn="ctr" indent="0" marL="0">
              <a:lnSpc>
                <a:spcPct val="155000"/>
              </a:lnSpc>
              <a:buNone/>
            </a:pPr>
            <a:r>
              <a:rPr lang="en-US" sz="1550" dirty="0">
                <a:solidFill>
                  <a:srgbClr val="FFFFFF"/>
                </a:solidFill>
                <a:latin typeface="Open Sans" pitchFamily="34" charset="0"/>
                <a:ea typeface="Open Sans" pitchFamily="34" charset="-122"/>
                <a:cs typeface="Open Sans" pitchFamily="34" charset="-120"/>
              </a:rPr>
              <a:t>The SETD5 Syndrome Foundation exists to drive research from discovery to clinical trials, unite and strengthen the global SETD5 community, and champion awareness and advocacy worldwide. Through strategic research investment, family support, data and registry development, and cross-sector collaboration, we are committed to improving lives today while accelerating the path toward transformative treatments and a cure.</a:t>
            </a:r>
            <a:endParaRPr lang="en-US" sz="1550" dirty="0"/>
          </a:p>
        </p:txBody>
      </p:sp>
      <p:sp>
        <p:nvSpPr>
          <p:cNvPr id="5" name="Shape 3"/>
          <p:cNvSpPr/>
          <p:nvPr/>
        </p:nvSpPr>
        <p:spPr>
          <a:xfrm>
            <a:off x="3474720" y="3840480"/>
            <a:ext cx="2194560" cy="36576"/>
          </a:xfrm>
          <a:prstGeom prst="rect">
            <a:avLst/>
          </a:prstGeom>
          <a:solidFill>
            <a:srgbClr val="D17E64"/>
          </a:solidFill>
          <a:ln w="12700">
            <a:solidFill>
              <a:srgbClr val="D17E64"/>
            </a:solidFill>
            <a:prstDash val="solid"/>
          </a:ln>
        </p:spPr>
      </p:sp>
      <p:sp>
        <p:nvSpPr>
          <p:cNvPr id="6" name="Text 4"/>
          <p:cNvSpPr/>
          <p:nvPr/>
        </p:nvSpPr>
        <p:spPr>
          <a:xfrm>
            <a:off x="502920" y="4133088"/>
            <a:ext cx="8138160" cy="347472"/>
          </a:xfrm>
          <a:prstGeom prst="rect">
            <a:avLst/>
          </a:prstGeom>
          <a:noFill/>
          <a:ln/>
        </p:spPr>
        <p:txBody>
          <a:bodyPr wrap="square" rtlCol="0" anchor="ctr"/>
          <a:lstStyle/>
          <a:p>
            <a:pPr algn="ctr" indent="0" marL="0">
              <a:buNone/>
            </a:pPr>
            <a:r>
              <a:rPr lang="en-US" sz="1200" b="1" spc="300" kern="0" dirty="0">
                <a:solidFill>
                  <a:srgbClr val="D8AB67"/>
                </a:solidFill>
                <a:latin typeface="Open Sans" pitchFamily="34" charset="0"/>
                <a:ea typeface="Open Sans" pitchFamily="34" charset="-122"/>
                <a:cs typeface="Open Sans" pitchFamily="34" charset="-120"/>
              </a:rPr>
              <a:t>Research  ·  Community  ·  Advocacy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502920" y="384048"/>
            <a:ext cx="8138160" cy="256032"/>
          </a:xfrm>
          <a:prstGeom prst="rect">
            <a:avLst/>
          </a:prstGeom>
          <a:noFill/>
          <a:ln/>
        </p:spPr>
        <p:txBody>
          <a:bodyPr wrap="square" rtlCol="0" anchor="ctr"/>
          <a:lstStyle/>
          <a:p>
            <a:pPr algn="l" indent="0" marL="0">
              <a:buNone/>
            </a:pPr>
            <a:r>
              <a:rPr lang="en-US" sz="1100" b="1" spc="300" kern="0" dirty="0">
                <a:solidFill>
                  <a:srgbClr val="D17E64"/>
                </a:solidFill>
                <a:latin typeface="Open Sans" pitchFamily="34" charset="0"/>
                <a:ea typeface="Open Sans" pitchFamily="34" charset="-122"/>
                <a:cs typeface="Open Sans" pitchFamily="34" charset="-120"/>
              </a:rPr>
              <a:t>DISCUSSION</a:t>
            </a:r>
            <a:endParaRPr lang="en-US" sz="1100" dirty="0"/>
          </a:p>
        </p:txBody>
      </p:sp>
      <p:sp>
        <p:nvSpPr>
          <p:cNvPr id="3" name="Text 1"/>
          <p:cNvSpPr/>
          <p:nvPr/>
        </p:nvSpPr>
        <p:spPr>
          <a:xfrm>
            <a:off x="502920" y="658368"/>
            <a:ext cx="8138160" cy="658368"/>
          </a:xfrm>
          <a:prstGeom prst="rect">
            <a:avLst/>
          </a:prstGeom>
          <a:noFill/>
          <a:ln/>
        </p:spPr>
        <p:txBody>
          <a:bodyPr wrap="square" rtlCol="0" anchor="ctr"/>
          <a:lstStyle/>
          <a:p>
            <a:pPr algn="ctr" indent="0" marL="0">
              <a:buNone/>
            </a:pPr>
            <a:r>
              <a:rPr lang="en-US" sz="3000" b="1" dirty="0">
                <a:solidFill>
                  <a:srgbClr val="2F5361"/>
                </a:solidFill>
                <a:latin typeface="Open Sans" pitchFamily="34" charset="0"/>
                <a:ea typeface="Open Sans" pitchFamily="34" charset="-122"/>
                <a:cs typeface="Open Sans" pitchFamily="34" charset="-120"/>
              </a:rPr>
              <a:t>What Should We Call Ourselves?</a:t>
            </a:r>
            <a:endParaRPr lang="en-US" sz="3000" dirty="0"/>
          </a:p>
        </p:txBody>
      </p:sp>
      <p:sp>
        <p:nvSpPr>
          <p:cNvPr id="4" name="Shape 2"/>
          <p:cNvSpPr/>
          <p:nvPr/>
        </p:nvSpPr>
        <p:spPr>
          <a:xfrm>
            <a:off x="1371600" y="1737360"/>
            <a:ext cx="6400800" cy="777240"/>
          </a:xfrm>
          <a:prstGeom prst="rect">
            <a:avLst/>
          </a:prstGeom>
          <a:solidFill>
            <a:srgbClr val="E6F0F3"/>
          </a:solidFill>
          <a:ln w="19050">
            <a:solidFill>
              <a:srgbClr val="2F5361"/>
            </a:solidFill>
            <a:prstDash val="solid"/>
          </a:ln>
        </p:spPr>
      </p:sp>
      <p:sp>
        <p:nvSpPr>
          <p:cNvPr id="5" name="Shape 3"/>
          <p:cNvSpPr/>
          <p:nvPr/>
        </p:nvSpPr>
        <p:spPr>
          <a:xfrm>
            <a:off x="1371600" y="1737360"/>
            <a:ext cx="54864" cy="777240"/>
          </a:xfrm>
          <a:prstGeom prst="rect">
            <a:avLst/>
          </a:prstGeom>
          <a:solidFill>
            <a:srgbClr val="2F5361"/>
          </a:solidFill>
          <a:ln w="12700">
            <a:solidFill>
              <a:srgbClr val="2F5361"/>
            </a:solidFill>
            <a:prstDash val="solid"/>
          </a:ln>
        </p:spPr>
      </p:sp>
      <p:sp>
        <p:nvSpPr>
          <p:cNvPr id="6" name="Text 4"/>
          <p:cNvSpPr/>
          <p:nvPr/>
        </p:nvSpPr>
        <p:spPr>
          <a:xfrm>
            <a:off x="1572768" y="1828800"/>
            <a:ext cx="5998464" cy="329184"/>
          </a:xfrm>
          <a:prstGeom prst="rect">
            <a:avLst/>
          </a:prstGeom>
          <a:noFill/>
          <a:ln/>
        </p:spPr>
        <p:txBody>
          <a:bodyPr wrap="square" rtlCol="0" anchor="ctr"/>
          <a:lstStyle/>
          <a:p>
            <a:pPr algn="l" indent="0" marL="0">
              <a:buNone/>
            </a:pPr>
            <a:r>
              <a:rPr lang="en-US" sz="1500" b="1" dirty="0">
                <a:solidFill>
                  <a:srgbClr val="2F5361"/>
                </a:solidFill>
                <a:latin typeface="Open Sans" pitchFamily="34" charset="0"/>
                <a:ea typeface="Open Sans" pitchFamily="34" charset="-122"/>
                <a:cs typeface="Open Sans" pitchFamily="34" charset="-120"/>
              </a:rPr>
              <a:t>SETD5 Syndrome Foundation</a:t>
            </a:r>
            <a:endParaRPr lang="en-US" sz="1500" dirty="0"/>
          </a:p>
        </p:txBody>
      </p:sp>
      <p:sp>
        <p:nvSpPr>
          <p:cNvPr id="7" name="Text 5"/>
          <p:cNvSpPr/>
          <p:nvPr/>
        </p:nvSpPr>
        <p:spPr>
          <a:xfrm>
            <a:off x="1572768" y="2176272"/>
            <a:ext cx="5998464" cy="274320"/>
          </a:xfrm>
          <a:prstGeom prst="rect">
            <a:avLst/>
          </a:prstGeom>
          <a:noFill/>
          <a:ln/>
        </p:spPr>
        <p:txBody>
          <a:bodyPr wrap="square" rtlCol="0" anchor="ctr"/>
          <a:lstStyle/>
          <a:p>
            <a:pPr algn="l" indent="0" marL="0">
              <a:buNone/>
            </a:pPr>
            <a:r>
              <a:rPr lang="en-US" sz="1050" dirty="0">
                <a:solidFill>
                  <a:srgbClr val="4A6B78"/>
                </a:solidFill>
                <a:latin typeface="Open Sans" pitchFamily="34" charset="0"/>
                <a:ea typeface="Open Sans" pitchFamily="34" charset="-122"/>
                <a:cs typeface="Open Sans" pitchFamily="34" charset="-120"/>
              </a:rPr>
              <a:t>Most descriptive; directly links the name to the diagnosis</a:t>
            </a:r>
            <a:endParaRPr lang="en-US" sz="1050" dirty="0"/>
          </a:p>
        </p:txBody>
      </p:sp>
      <p:sp>
        <p:nvSpPr>
          <p:cNvPr id="8" name="Shape 6"/>
          <p:cNvSpPr/>
          <p:nvPr/>
        </p:nvSpPr>
        <p:spPr>
          <a:xfrm>
            <a:off x="1371600" y="2734056"/>
            <a:ext cx="6400800" cy="777240"/>
          </a:xfrm>
          <a:prstGeom prst="rect">
            <a:avLst/>
          </a:prstGeom>
          <a:solidFill>
            <a:srgbClr val="FFFFFF"/>
          </a:solidFill>
          <a:ln w="9525">
            <a:solidFill>
              <a:srgbClr val="DDE8EC"/>
            </a:solidFill>
            <a:prstDash val="solid"/>
          </a:ln>
        </p:spPr>
      </p:sp>
      <p:sp>
        <p:nvSpPr>
          <p:cNvPr id="9" name="Text 7"/>
          <p:cNvSpPr/>
          <p:nvPr/>
        </p:nvSpPr>
        <p:spPr>
          <a:xfrm>
            <a:off x="1572768" y="2825496"/>
            <a:ext cx="5998464" cy="329184"/>
          </a:xfrm>
          <a:prstGeom prst="rect">
            <a:avLst/>
          </a:prstGeom>
          <a:noFill/>
          <a:ln/>
        </p:spPr>
        <p:txBody>
          <a:bodyPr wrap="square" rtlCol="0" anchor="ctr"/>
          <a:lstStyle/>
          <a:p>
            <a:pPr algn="l" indent="0" marL="0">
              <a:buNone/>
            </a:pPr>
            <a:r>
              <a:rPr lang="en-US" sz="1500" b="1" dirty="0">
                <a:solidFill>
                  <a:srgbClr val="2F5361"/>
                </a:solidFill>
                <a:latin typeface="Open Sans" pitchFamily="34" charset="0"/>
                <a:ea typeface="Open Sans" pitchFamily="34" charset="-122"/>
                <a:cs typeface="Open Sans" pitchFamily="34" charset="-120"/>
              </a:rPr>
              <a:t>SETD5 Foundation</a:t>
            </a:r>
            <a:endParaRPr lang="en-US" sz="1500" dirty="0"/>
          </a:p>
        </p:txBody>
      </p:sp>
      <p:sp>
        <p:nvSpPr>
          <p:cNvPr id="10" name="Text 8"/>
          <p:cNvSpPr/>
          <p:nvPr/>
        </p:nvSpPr>
        <p:spPr>
          <a:xfrm>
            <a:off x="1572768" y="3172968"/>
            <a:ext cx="5998464" cy="274320"/>
          </a:xfrm>
          <a:prstGeom prst="rect">
            <a:avLst/>
          </a:prstGeom>
          <a:noFill/>
          <a:ln/>
        </p:spPr>
        <p:txBody>
          <a:bodyPr wrap="square" rtlCol="0" anchor="ctr"/>
          <a:lstStyle/>
          <a:p>
            <a:pPr algn="l" indent="0" marL="0">
              <a:buNone/>
            </a:pPr>
            <a:r>
              <a:rPr lang="en-US" sz="1050" dirty="0">
                <a:solidFill>
                  <a:srgbClr val="4A6B78"/>
                </a:solidFill>
                <a:latin typeface="Open Sans" pitchFamily="34" charset="0"/>
                <a:ea typeface="Open Sans" pitchFamily="34" charset="-122"/>
                <a:cs typeface="Open Sans" pitchFamily="34" charset="-120"/>
              </a:rPr>
              <a:t>Shorter and simpler, still clearly gene-focused</a:t>
            </a:r>
            <a:endParaRPr lang="en-US" sz="1050" dirty="0"/>
          </a:p>
        </p:txBody>
      </p:sp>
      <p:sp>
        <p:nvSpPr>
          <p:cNvPr id="11" name="Shape 9"/>
          <p:cNvSpPr/>
          <p:nvPr/>
        </p:nvSpPr>
        <p:spPr>
          <a:xfrm>
            <a:off x="1371600" y="3730752"/>
            <a:ext cx="6400800" cy="777240"/>
          </a:xfrm>
          <a:prstGeom prst="rect">
            <a:avLst/>
          </a:prstGeom>
          <a:solidFill>
            <a:srgbClr val="FFFFFF"/>
          </a:solidFill>
          <a:ln w="9525">
            <a:solidFill>
              <a:srgbClr val="DDE8EC"/>
            </a:solidFill>
            <a:prstDash val="solid"/>
          </a:ln>
        </p:spPr>
      </p:sp>
      <p:sp>
        <p:nvSpPr>
          <p:cNvPr id="12" name="Text 10"/>
          <p:cNvSpPr/>
          <p:nvPr/>
        </p:nvSpPr>
        <p:spPr>
          <a:xfrm>
            <a:off x="1572768" y="3822192"/>
            <a:ext cx="5998464" cy="329184"/>
          </a:xfrm>
          <a:prstGeom prst="rect">
            <a:avLst/>
          </a:prstGeom>
          <a:noFill/>
          <a:ln/>
        </p:spPr>
        <p:txBody>
          <a:bodyPr wrap="square" rtlCol="0" anchor="ctr"/>
          <a:lstStyle/>
          <a:p>
            <a:pPr algn="l" indent="0" marL="0">
              <a:buNone/>
            </a:pPr>
            <a:r>
              <a:rPr lang="en-US" sz="1500" b="1" dirty="0">
                <a:solidFill>
                  <a:srgbClr val="2F5361"/>
                </a:solidFill>
                <a:latin typeface="Open Sans" pitchFamily="34" charset="0"/>
                <a:ea typeface="Open Sans" pitchFamily="34" charset="-122"/>
                <a:cs typeface="Open Sans" pitchFamily="34" charset="-120"/>
              </a:rPr>
              <a:t>???</a:t>
            </a:r>
            <a:endParaRPr lang="en-US" sz="1500" dirty="0"/>
          </a:p>
        </p:txBody>
      </p:sp>
      <p:sp>
        <p:nvSpPr>
          <p:cNvPr id="13" name="Text 11"/>
          <p:cNvSpPr/>
          <p:nvPr/>
        </p:nvSpPr>
        <p:spPr>
          <a:xfrm>
            <a:off x="1572768" y="4169664"/>
            <a:ext cx="5998464" cy="274320"/>
          </a:xfrm>
          <a:prstGeom prst="rect">
            <a:avLst/>
          </a:prstGeom>
          <a:noFill/>
          <a:ln/>
        </p:spPr>
        <p:txBody>
          <a:bodyPr wrap="square" rtlCol="0" anchor="ctr"/>
          <a:lstStyle/>
          <a:p>
            <a:pPr algn="l" indent="0" marL="0">
              <a:buNone/>
            </a:pPr>
            <a:r>
              <a:rPr lang="en-US" sz="1050" dirty="0">
                <a:solidFill>
                  <a:srgbClr val="4A6B78"/>
                </a:solidFill>
                <a:latin typeface="Open Sans" pitchFamily="34" charset="0"/>
                <a:ea typeface="Open Sans" pitchFamily="34" charset="-122"/>
                <a:cs typeface="Open Sans" pitchFamily="34" charset="-120"/>
              </a:rPr>
              <a:t>Open for your ideas; share in chat!</a:t>
            </a:r>
            <a:endParaRPr lang="en-US" sz="1050" dirty="0"/>
          </a:p>
        </p:txBody>
      </p:sp>
      <p:sp>
        <p:nvSpPr>
          <p:cNvPr id="14" name="Shape 12"/>
          <p:cNvSpPr/>
          <p:nvPr/>
        </p:nvSpPr>
        <p:spPr>
          <a:xfrm>
            <a:off x="0" y="4773168"/>
            <a:ext cx="9144000" cy="9144"/>
          </a:xfrm>
          <a:prstGeom prst="rect">
            <a:avLst/>
          </a:prstGeom>
          <a:solidFill>
            <a:srgbClr val="DDE8EC"/>
          </a:solidFill>
          <a:ln w="12700">
            <a:solidFill>
              <a:srgbClr val="DDE8EC"/>
            </a:solidFill>
            <a:prstDash val="solid"/>
          </a:ln>
        </p:spPr>
      </p:sp>
      <p:sp>
        <p:nvSpPr>
          <p:cNvPr id="15" name="Text 13"/>
          <p:cNvSpPr/>
          <p:nvPr/>
        </p:nvSpPr>
        <p:spPr>
          <a:xfrm>
            <a:off x="502920" y="4828032"/>
            <a:ext cx="8138160" cy="182880"/>
          </a:xfrm>
          <a:prstGeom prst="rect">
            <a:avLst/>
          </a:prstGeom>
          <a:noFill/>
          <a:ln/>
        </p:spPr>
        <p:txBody>
          <a:bodyPr wrap="square" rtlCol="0" anchor="ctr"/>
          <a:lstStyle/>
          <a:p>
            <a:pPr algn="l" indent="0" marL="0">
              <a:buNone/>
            </a:pPr>
            <a:r>
              <a:rPr lang="en-US" sz="800" dirty="0">
                <a:solidFill>
                  <a:srgbClr val="7A9BAB"/>
                </a:solidFill>
                <a:latin typeface="Open Sans" pitchFamily="34" charset="0"/>
                <a:ea typeface="Open Sans" pitchFamily="34" charset="-122"/>
                <a:cs typeface="Open Sans" pitchFamily="34" charset="-120"/>
              </a:rPr>
              <a:t>SETD5 Syndrome Foundation  ·  Founding Meeting</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256032"/>
          </a:xfrm>
          <a:prstGeom prst="rect">
            <a:avLst/>
          </a:prstGeom>
          <a:noFill/>
          <a:ln/>
        </p:spPr>
        <p:txBody>
          <a:bodyPr wrap="square" rtlCol="0" anchor="ctr"/>
          <a:lstStyle/>
          <a:p>
            <a:pPr algn="l" indent="0" marL="0">
              <a:buNone/>
            </a:pPr>
            <a:r>
              <a:rPr lang="en-US" sz="1100" b="1" spc="300" kern="0" dirty="0">
                <a:solidFill>
                  <a:srgbClr val="D17E64"/>
                </a:solidFill>
                <a:latin typeface="Open Sans" pitchFamily="34" charset="0"/>
                <a:ea typeface="Open Sans" pitchFamily="34" charset="-122"/>
                <a:cs typeface="Open Sans" pitchFamily="34" charset="-120"/>
              </a:rPr>
              <a:t>PARTNER RESOURCE</a:t>
            </a:r>
            <a:endParaRPr lang="en-US" sz="1100" dirty="0"/>
          </a:p>
        </p:txBody>
      </p:sp>
      <p:sp>
        <p:nvSpPr>
          <p:cNvPr id="3" name="Text 1"/>
          <p:cNvSpPr/>
          <p:nvPr/>
        </p:nvSpPr>
        <p:spPr>
          <a:xfrm>
            <a:off x="502920" y="566928"/>
            <a:ext cx="5303520" cy="914400"/>
          </a:xfrm>
          <a:prstGeom prst="rect">
            <a:avLst/>
          </a:prstGeom>
          <a:noFill/>
          <a:ln/>
        </p:spPr>
        <p:txBody>
          <a:bodyPr wrap="square" rtlCol="0" anchor="ctr"/>
          <a:lstStyle/>
          <a:p>
            <a:pPr algn="l" indent="0" marL="0">
              <a:buNone/>
            </a:pPr>
            <a:r>
              <a:rPr lang="en-US" sz="2500" b="1" dirty="0">
                <a:solidFill>
                  <a:srgbClr val="2F5361"/>
                </a:solidFill>
                <a:latin typeface="Open Sans" pitchFamily="34" charset="0"/>
                <a:ea typeface="Open Sans" pitchFamily="34" charset="-122"/>
                <a:cs typeface="Open Sans" pitchFamily="34" charset="-120"/>
              </a:rPr>
              <a:t>Simons Searchlight:</a:t>
            </a:r>
            <a:endParaRPr lang="en-US" sz="2500" dirty="0"/>
          </a:p>
          <a:p>
            <a:pPr algn="l" indent="0" marL="0">
              <a:buNone/>
            </a:pPr>
            <a:r>
              <a:rPr lang="en-US" sz="2500" b="1" dirty="0">
                <a:solidFill>
                  <a:srgbClr val="2F5361"/>
                </a:solidFill>
                <a:latin typeface="Open Sans" pitchFamily="34" charset="0"/>
                <a:ea typeface="Open Sans" pitchFamily="34" charset="-122"/>
                <a:cs typeface="Open Sans" pitchFamily="34" charset="-120"/>
              </a:rPr>
              <a:t>A Key Registry Partner</a:t>
            </a:r>
            <a:endParaRPr lang="en-US" sz="2500" dirty="0"/>
          </a:p>
        </p:txBody>
      </p:sp>
      <p:sp>
        <p:nvSpPr>
          <p:cNvPr id="4" name="Text 2"/>
          <p:cNvSpPr/>
          <p:nvPr/>
        </p:nvSpPr>
        <p:spPr>
          <a:xfrm>
            <a:off x="502920" y="1609344"/>
            <a:ext cx="5212080" cy="2148840"/>
          </a:xfrm>
          <a:prstGeom prst="rect">
            <a:avLst/>
          </a:prstGeom>
          <a:noFill/>
          <a:ln/>
        </p:spPr>
        <p:txBody>
          <a:bodyPr wrap="square" rtlCol="0" anchor="ctr"/>
          <a:lstStyle/>
          <a:p>
            <a:pPr algn="l" indent="0" marL="0">
              <a:lnSpc>
                <a:spcPct val="145000"/>
              </a:lnSpc>
              <a:buNone/>
            </a:pPr>
            <a:r>
              <a:rPr lang="en-US" sz="1100" dirty="0">
                <a:solidFill>
                  <a:srgbClr val="4A6B78"/>
                </a:solidFill>
                <a:latin typeface="Open Sans" pitchFamily="34" charset="0"/>
                <a:ea typeface="Open Sans" pitchFamily="34" charset="-122"/>
                <a:cs typeface="Open Sans" pitchFamily="34" charset="-120"/>
              </a:rPr>
              <a:t>Simons Searchlight collects online parent and participant-reported survey data in 184+ rare genetic neurodevelopmental disorders (including SETD5 Syndrome), plus blood samples for potential biospecimen creation.</a:t>
            </a:r>
            <a:endParaRPr lang="en-US" sz="1100" dirty="0"/>
          </a:p>
          <a:p>
            <a:pPr algn="l" indent="0" marL="0">
              <a:lnSpc>
                <a:spcPct val="145000"/>
              </a:lnSpc>
              <a:buNone/>
            </a:pPr>
            <a:endParaRPr lang="en-US" sz="1100" dirty="0"/>
          </a:p>
          <a:p>
            <a:pPr algn="l" indent="0" marL="0">
              <a:lnSpc>
                <a:spcPct val="145000"/>
              </a:lnSpc>
              <a:buNone/>
            </a:pPr>
            <a:r>
              <a:rPr lang="en-US" sz="1100" dirty="0">
                <a:solidFill>
                  <a:srgbClr val="4A6B78"/>
                </a:solidFill>
                <a:latin typeface="Open Sans" pitchFamily="34" charset="0"/>
                <a:ea typeface="Open Sans" pitchFamily="34" charset="-122"/>
                <a:cs typeface="Open Sans" pitchFamily="34" charset="-120"/>
              </a:rPr>
              <a:t>All phenotypic, genetic, and biospecimen data are available for qualified researchers via SFARI Base. Their Research Match program helps investigators recruit participants for external studies.</a:t>
            </a:r>
            <a:endParaRPr lang="en-US" sz="1100" dirty="0"/>
          </a:p>
        </p:txBody>
      </p:sp>
      <p:sp>
        <p:nvSpPr>
          <p:cNvPr id="5" name="Text 3">
            <a:hlinkClick r:id="rId1" tooltip=""/>
          </p:cNvPr>
          <p:cNvSpPr/>
          <p:nvPr/>
        </p:nvSpPr>
        <p:spPr>
          <a:xfrm>
            <a:off x="502920" y="3822192"/>
            <a:ext cx="3200400" cy="320040"/>
          </a:xfrm>
          <a:prstGeom prst="rect">
            <a:avLst/>
          </a:prstGeom>
          <a:noFill/>
          <a:ln/>
        </p:spPr>
        <p:txBody>
          <a:bodyPr wrap="square" rtlCol="0" anchor="ctr"/>
          <a:lstStyle/>
          <a:p>
            <a:pPr indent="0" marL="0">
              <a:buNone/>
            </a:pPr>
            <a:r>
              <a:rPr lang="en-US" sz="1150" b="1" u="sng" dirty="0">
                <a:solidFill>
                  <a:srgbClr val="2F5361"/>
                </a:solidFill>
                <a:latin typeface="Open Sans" pitchFamily="34" charset="0"/>
                <a:ea typeface="Open Sans" pitchFamily="34" charset="-122"/>
                <a:cs typeface="Open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youtu.be/FuvhmiPsXbo</a:t>
            </a:r>
            <a:endParaRPr lang="en-US" sz="1150" dirty="0"/>
          </a:p>
        </p:txBody>
      </p:sp>
      <p:pic>
        <p:nvPicPr>
          <p:cNvPr id="6" name="Image 0" descr="/sessions/funny-amazing-bohr/unpacked/ppt/media/image4.png">    </p:cNvPr>
          <p:cNvPicPr>
            <a:picLocks noChangeAspect="1"/>
          </p:cNvPicPr>
          <p:nvPr/>
        </p:nvPicPr>
        <p:blipFill>
          <a:blip r:embed="rId2"/>
          <a:stretch>
            <a:fillRect/>
          </a:stretch>
        </p:blipFill>
        <p:spPr>
          <a:xfrm>
            <a:off x="6080760" y="1417320"/>
            <a:ext cx="2651760" cy="2651760"/>
          </a:xfrm>
          <a:prstGeom prst="rect">
            <a:avLst/>
          </a:prstGeom>
        </p:spPr>
      </p:pic>
      <p:sp>
        <p:nvSpPr>
          <p:cNvPr id="7" name="Shape 4"/>
          <p:cNvSpPr/>
          <p:nvPr/>
        </p:nvSpPr>
        <p:spPr>
          <a:xfrm>
            <a:off x="0" y="4773168"/>
            <a:ext cx="9144000" cy="9144"/>
          </a:xfrm>
          <a:prstGeom prst="rect">
            <a:avLst/>
          </a:prstGeom>
          <a:solidFill>
            <a:srgbClr val="DDE8EC"/>
          </a:solidFill>
          <a:ln w="12700">
            <a:solidFill>
              <a:srgbClr val="DDE8EC"/>
            </a:solidFill>
            <a:prstDash val="solid"/>
          </a:ln>
        </p:spPr>
      </p:sp>
      <p:sp>
        <p:nvSpPr>
          <p:cNvPr id="8" name="Text 5"/>
          <p:cNvSpPr/>
          <p:nvPr/>
        </p:nvSpPr>
        <p:spPr>
          <a:xfrm>
            <a:off x="502920" y="4828032"/>
            <a:ext cx="8138160" cy="182880"/>
          </a:xfrm>
          <a:prstGeom prst="rect">
            <a:avLst/>
          </a:prstGeom>
          <a:noFill/>
          <a:ln/>
        </p:spPr>
        <p:txBody>
          <a:bodyPr wrap="square" rtlCol="0" anchor="ctr"/>
          <a:lstStyle/>
          <a:p>
            <a:pPr algn="l" indent="0" marL="0">
              <a:buNone/>
            </a:pPr>
            <a:r>
              <a:rPr lang="en-US" sz="800" dirty="0">
                <a:solidFill>
                  <a:srgbClr val="7A9BAB"/>
                </a:solidFill>
                <a:latin typeface="Open Sans" pitchFamily="34" charset="0"/>
                <a:ea typeface="Open Sans" pitchFamily="34" charset="-122"/>
                <a:cs typeface="Open Sans" pitchFamily="34" charset="-120"/>
              </a:rPr>
              <a:t>SETD5 Syndrome Foundation  ·  Founding Meeting</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502920" y="274320"/>
            <a:ext cx="8138160" cy="256032"/>
          </a:xfrm>
          <a:prstGeom prst="rect">
            <a:avLst/>
          </a:prstGeom>
          <a:noFill/>
          <a:ln/>
        </p:spPr>
        <p:txBody>
          <a:bodyPr wrap="square" rtlCol="0" anchor="ctr"/>
          <a:lstStyle/>
          <a:p>
            <a:pPr algn="l" indent="0" marL="0">
              <a:buNone/>
            </a:pPr>
            <a:r>
              <a:rPr lang="en-US" sz="1100" b="1" spc="300" kern="0" dirty="0">
                <a:solidFill>
                  <a:srgbClr val="D17E64"/>
                </a:solidFill>
                <a:latin typeface="Open Sans" pitchFamily="34" charset="0"/>
                <a:ea typeface="Open Sans" pitchFamily="34" charset="-122"/>
                <a:cs typeface="Open Sans" pitchFamily="34" charset="-120"/>
              </a:rPr>
              <a:t>BRAND IDENTITY</a:t>
            </a:r>
            <a:endParaRPr lang="en-US" sz="1100" dirty="0"/>
          </a:p>
        </p:txBody>
      </p:sp>
      <p:sp>
        <p:nvSpPr>
          <p:cNvPr id="3" name="Text 1"/>
          <p:cNvSpPr/>
          <p:nvPr/>
        </p:nvSpPr>
        <p:spPr>
          <a:xfrm>
            <a:off x="502920" y="548640"/>
            <a:ext cx="8138160" cy="658368"/>
          </a:xfrm>
          <a:prstGeom prst="rect">
            <a:avLst/>
          </a:prstGeom>
          <a:noFill/>
          <a:ln/>
        </p:spPr>
        <p:txBody>
          <a:bodyPr wrap="square" rtlCol="0" anchor="ctr"/>
          <a:lstStyle/>
          <a:p>
            <a:pPr algn="l" indent="0" marL="0">
              <a:buNone/>
            </a:pPr>
            <a:r>
              <a:rPr lang="en-US" sz="2600" b="1" dirty="0">
                <a:solidFill>
                  <a:srgbClr val="2F5361"/>
                </a:solidFill>
                <a:latin typeface="Open Sans" pitchFamily="34" charset="0"/>
                <a:ea typeface="Open Sans" pitchFamily="34" charset="-122"/>
                <a:cs typeface="Open Sans" pitchFamily="34" charset="-120"/>
              </a:rPr>
              <a:t>Logo &amp; Identity Options</a:t>
            </a:r>
            <a:endParaRPr lang="en-US" sz="2600" dirty="0"/>
          </a:p>
        </p:txBody>
      </p:sp>
      <p:sp>
        <p:nvSpPr>
          <p:cNvPr id="4" name="Text 2"/>
          <p:cNvSpPr/>
          <p:nvPr/>
        </p:nvSpPr>
        <p:spPr>
          <a:xfrm>
            <a:off x="502920" y="1261872"/>
            <a:ext cx="8138160" cy="320040"/>
          </a:xfrm>
          <a:prstGeom prst="rect">
            <a:avLst/>
          </a:prstGeom>
          <a:noFill/>
          <a:ln/>
        </p:spPr>
        <p:txBody>
          <a:bodyPr wrap="square" rtlCol="0" anchor="ctr"/>
          <a:lstStyle/>
          <a:p>
            <a:pPr indent="0" marL="0">
              <a:buNone/>
            </a:pPr>
            <a:r>
              <a:rPr lang="en-US" sz="1100" dirty="0">
                <a:solidFill>
                  <a:srgbClr val="4A6B78"/>
                </a:solidFill>
                <a:latin typeface="Open Sans" pitchFamily="34" charset="0"/>
                <a:ea typeface="Open Sans" pitchFamily="34" charset="-122"/>
                <a:cs typeface="Open Sans" pitchFamily="34" charset="-120"/>
              </a:rPr>
              <a:t>Our visual identity should feel hopeful, scientific, and community-driven. Here are concepts to discuss:</a:t>
            </a:r>
            <a:endParaRPr lang="en-US" sz="1100" dirty="0"/>
          </a:p>
        </p:txBody>
      </p:sp>
      <p:sp>
        <p:nvSpPr>
          <p:cNvPr id="5" name="Shape 3"/>
          <p:cNvSpPr/>
          <p:nvPr/>
        </p:nvSpPr>
        <p:spPr>
          <a:xfrm>
            <a:off x="475488" y="1691640"/>
            <a:ext cx="2560320" cy="2788920"/>
          </a:xfrm>
          <a:prstGeom prst="rect">
            <a:avLst/>
          </a:prstGeom>
          <a:solidFill>
            <a:srgbClr val="FFFFFF"/>
          </a:solidFill>
          <a:ln/>
          <a:effectLst>
            <a:outerShdw sx="100000" sy="100000" kx="0" ky="0" algn="bl" rotWithShape="0" blurRad="101600" dist="25400" dir="8100000">
              <a:srgbClr val="2F5361">
                <a:alpha val="10000"/>
              </a:srgbClr>
            </a:outerShdw>
          </a:effectLst>
        </p:spPr>
      </p:sp>
      <p:pic>
        <p:nvPicPr>
          <p:cNvPr id="6" name="Image 0" descr="/sessions/funny-amazing-bohr/unpacked/ppt/media/image5.jpg">    </p:cNvPr>
          <p:cNvPicPr>
            <a:picLocks noChangeAspect="1"/>
          </p:cNvPicPr>
          <p:nvPr/>
        </p:nvPicPr>
        <p:blipFill>
          <a:blip r:embed="rId1"/>
          <a:srcRect l="0" r="0" t="0" b="0"/>
          <a:stretch/>
        </p:blipFill>
        <p:spPr>
          <a:xfrm>
            <a:off x="612648" y="1828800"/>
            <a:ext cx="2286000" cy="1938528"/>
          </a:xfrm>
          <a:prstGeom prst="rect">
            <a:avLst/>
          </a:prstGeom>
        </p:spPr>
      </p:pic>
      <p:sp>
        <p:nvSpPr>
          <p:cNvPr id="7" name="Text 4"/>
          <p:cNvSpPr/>
          <p:nvPr/>
        </p:nvSpPr>
        <p:spPr>
          <a:xfrm>
            <a:off x="475488" y="3831336"/>
            <a:ext cx="2560320" cy="548640"/>
          </a:xfrm>
          <a:prstGeom prst="rect">
            <a:avLst/>
          </a:prstGeom>
          <a:noFill/>
          <a:ln/>
        </p:spPr>
        <p:txBody>
          <a:bodyPr wrap="square" rtlCol="0" anchor="ctr"/>
          <a:lstStyle/>
          <a:p>
            <a:pPr algn="ctr" indent="0" marL="0">
              <a:buNone/>
            </a:pPr>
            <a:r>
              <a:rPr lang="en-US" sz="950" dirty="0">
                <a:solidFill>
                  <a:srgbClr val="4A6B78"/>
                </a:solidFill>
                <a:latin typeface="Open Sans" pitchFamily="34" charset="0"/>
                <a:ea typeface="Open Sans" pitchFamily="34" charset="-122"/>
                <a:cs typeface="Open Sans" pitchFamily="34" charset="-120"/>
              </a:rPr>
              <a:t>Hummingbird</a:t>
            </a:r>
            <a:endParaRPr lang="en-US" sz="950" dirty="0"/>
          </a:p>
          <a:p>
            <a:pPr algn="ctr" indent="0" marL="0">
              <a:buNone/>
            </a:pPr>
            <a:r>
              <a:rPr lang="en-US" sz="950" dirty="0">
                <a:solidFill>
                  <a:srgbClr val="4A6B78"/>
                </a:solidFill>
                <a:latin typeface="Open Sans" pitchFamily="34" charset="0"/>
                <a:ea typeface="Open Sans" pitchFamily="34" charset="-122"/>
                <a:cs typeface="Open Sans" pitchFamily="34" charset="-120"/>
              </a:rPr>
              <a:t>Strength + Hope</a:t>
            </a:r>
            <a:endParaRPr lang="en-US" sz="950" dirty="0"/>
          </a:p>
        </p:txBody>
      </p:sp>
      <p:sp>
        <p:nvSpPr>
          <p:cNvPr id="8" name="Shape 5"/>
          <p:cNvSpPr/>
          <p:nvPr/>
        </p:nvSpPr>
        <p:spPr>
          <a:xfrm>
            <a:off x="3291840" y="1691640"/>
            <a:ext cx="2560320" cy="2788920"/>
          </a:xfrm>
          <a:prstGeom prst="rect">
            <a:avLst/>
          </a:prstGeom>
          <a:solidFill>
            <a:srgbClr val="FFFFFF"/>
          </a:solidFill>
          <a:ln/>
          <a:effectLst>
            <a:outerShdw sx="100000" sy="100000" kx="0" ky="0" algn="bl" rotWithShape="0" blurRad="101600" dist="25400" dir="8100000">
              <a:srgbClr val="2F5361">
                <a:alpha val="10000"/>
              </a:srgbClr>
            </a:outerShdw>
          </a:effectLst>
        </p:spPr>
      </p:sp>
      <p:pic>
        <p:nvPicPr>
          <p:cNvPr id="9" name="Image 1" descr="/sessions/funny-amazing-bohr/unpacked/ppt/media/image6.jpeg">    </p:cNvPr>
          <p:cNvPicPr>
            <a:picLocks noChangeAspect="1"/>
          </p:cNvPicPr>
          <p:nvPr/>
        </p:nvPicPr>
        <p:blipFill>
          <a:blip r:embed="rId2"/>
          <a:srcRect l="0" r="0" t="0" b="0"/>
          <a:stretch/>
        </p:blipFill>
        <p:spPr>
          <a:xfrm>
            <a:off x="3429000" y="1828800"/>
            <a:ext cx="2286000" cy="1938528"/>
          </a:xfrm>
          <a:prstGeom prst="rect">
            <a:avLst/>
          </a:prstGeom>
        </p:spPr>
      </p:pic>
      <p:sp>
        <p:nvSpPr>
          <p:cNvPr id="10" name="Text 6"/>
          <p:cNvSpPr/>
          <p:nvPr/>
        </p:nvSpPr>
        <p:spPr>
          <a:xfrm>
            <a:off x="3291840" y="3831336"/>
            <a:ext cx="2560320" cy="548640"/>
          </a:xfrm>
          <a:prstGeom prst="rect">
            <a:avLst/>
          </a:prstGeom>
          <a:noFill/>
          <a:ln/>
        </p:spPr>
        <p:txBody>
          <a:bodyPr wrap="square" rtlCol="0" anchor="ctr"/>
          <a:lstStyle/>
          <a:p>
            <a:pPr algn="ctr" indent="0" marL="0">
              <a:buNone/>
            </a:pPr>
            <a:r>
              <a:rPr lang="en-US" sz="950" dirty="0">
                <a:solidFill>
                  <a:srgbClr val="4A6B78"/>
                </a:solidFill>
                <a:latin typeface="Open Sans" pitchFamily="34" charset="0"/>
                <a:ea typeface="Open Sans" pitchFamily="34" charset="-122"/>
                <a:cs typeface="Open Sans" pitchFamily="34" charset="-120"/>
              </a:rPr>
              <a:t>Circular DNA</a:t>
            </a:r>
            <a:endParaRPr lang="en-US" sz="950" dirty="0"/>
          </a:p>
          <a:p>
            <a:pPr algn="ctr" indent="0" marL="0">
              <a:buNone/>
            </a:pPr>
            <a:r>
              <a:rPr lang="en-US" sz="950" dirty="0">
                <a:solidFill>
                  <a:srgbClr val="4A6B78"/>
                </a:solidFill>
                <a:latin typeface="Open Sans" pitchFamily="34" charset="0"/>
                <a:ea typeface="Open Sans" pitchFamily="34" charset="-122"/>
                <a:cs typeface="Open Sans" pitchFamily="34" charset="-120"/>
              </a:rPr>
              <a:t>Community + Science</a:t>
            </a:r>
            <a:endParaRPr lang="en-US" sz="950" dirty="0"/>
          </a:p>
        </p:txBody>
      </p:sp>
      <p:sp>
        <p:nvSpPr>
          <p:cNvPr id="11" name="Shape 7"/>
          <p:cNvSpPr/>
          <p:nvPr/>
        </p:nvSpPr>
        <p:spPr>
          <a:xfrm>
            <a:off x="6108192" y="1691640"/>
            <a:ext cx="2560320" cy="2788920"/>
          </a:xfrm>
          <a:prstGeom prst="rect">
            <a:avLst/>
          </a:prstGeom>
          <a:solidFill>
            <a:srgbClr val="FFFFFF"/>
          </a:solidFill>
          <a:ln/>
          <a:effectLst>
            <a:outerShdw sx="100000" sy="100000" kx="0" ky="0" algn="bl" rotWithShape="0" blurRad="101600" dist="25400" dir="8100000">
              <a:srgbClr val="2F5361">
                <a:alpha val="10000"/>
              </a:srgbClr>
            </a:outerShdw>
          </a:effectLst>
        </p:spPr>
      </p:sp>
      <p:pic>
        <p:nvPicPr>
          <p:cNvPr id="12" name="Image 2" descr="/sessions/funny-amazing-bohr/unpacked/ppt/media/image9.jpeg">    </p:cNvPr>
          <p:cNvPicPr>
            <a:picLocks noChangeAspect="1"/>
          </p:cNvPicPr>
          <p:nvPr/>
        </p:nvPicPr>
        <p:blipFill>
          <a:blip r:embed="rId3"/>
          <a:srcRect l="0" r="0" t="0" b="0"/>
          <a:stretch/>
        </p:blipFill>
        <p:spPr>
          <a:xfrm>
            <a:off x="6245352" y="1828800"/>
            <a:ext cx="2286000" cy="1938528"/>
          </a:xfrm>
          <a:prstGeom prst="rect">
            <a:avLst/>
          </a:prstGeom>
        </p:spPr>
      </p:pic>
      <p:sp>
        <p:nvSpPr>
          <p:cNvPr id="13" name="Text 8"/>
          <p:cNvSpPr/>
          <p:nvPr/>
        </p:nvSpPr>
        <p:spPr>
          <a:xfrm>
            <a:off x="6108192" y="3831336"/>
            <a:ext cx="2560320" cy="548640"/>
          </a:xfrm>
          <a:prstGeom prst="rect">
            <a:avLst/>
          </a:prstGeom>
          <a:noFill/>
          <a:ln/>
        </p:spPr>
        <p:txBody>
          <a:bodyPr wrap="square" rtlCol="0" anchor="ctr"/>
          <a:lstStyle/>
          <a:p>
            <a:pPr algn="ctr" indent="0" marL="0">
              <a:buNone/>
            </a:pPr>
            <a:r>
              <a:rPr lang="en-US" sz="950" dirty="0">
                <a:solidFill>
                  <a:srgbClr val="4A6B78"/>
                </a:solidFill>
                <a:latin typeface="Open Sans" pitchFamily="34" charset="0"/>
                <a:ea typeface="Open Sans" pitchFamily="34" charset="-122"/>
                <a:cs typeface="Open Sans" pitchFamily="34" charset="-120"/>
              </a:rPr>
              <a:t>SETD5 Teal Crest</a:t>
            </a:r>
            <a:endParaRPr lang="en-US" sz="950" dirty="0"/>
          </a:p>
          <a:p>
            <a:pPr algn="ctr" indent="0" marL="0">
              <a:buNone/>
            </a:pPr>
            <a:r>
              <a:rPr lang="en-US" sz="950" dirty="0">
                <a:solidFill>
                  <a:srgbClr val="4A6B78"/>
                </a:solidFill>
                <a:latin typeface="Open Sans" pitchFamily="34" charset="0"/>
                <a:ea typeface="Open Sans" pitchFamily="34" charset="-122"/>
                <a:cs typeface="Open Sans" pitchFamily="34" charset="-120"/>
              </a:rPr>
              <a:t>Recognition + Identity</a:t>
            </a:r>
            <a:endParaRPr lang="en-US" sz="950" dirty="0"/>
          </a:p>
        </p:txBody>
      </p:sp>
      <p:sp>
        <p:nvSpPr>
          <p:cNvPr id="14" name="Shape 9"/>
          <p:cNvSpPr/>
          <p:nvPr/>
        </p:nvSpPr>
        <p:spPr>
          <a:xfrm>
            <a:off x="0" y="4773168"/>
            <a:ext cx="9144000" cy="9144"/>
          </a:xfrm>
          <a:prstGeom prst="rect">
            <a:avLst/>
          </a:prstGeom>
          <a:solidFill>
            <a:srgbClr val="DDE8EC"/>
          </a:solidFill>
          <a:ln w="12700">
            <a:solidFill>
              <a:srgbClr val="DDE8EC"/>
            </a:solidFill>
            <a:prstDash val="solid"/>
          </a:ln>
        </p:spPr>
      </p:sp>
      <p:sp>
        <p:nvSpPr>
          <p:cNvPr id="15" name="Text 10"/>
          <p:cNvSpPr/>
          <p:nvPr/>
        </p:nvSpPr>
        <p:spPr>
          <a:xfrm>
            <a:off x="502920" y="4828032"/>
            <a:ext cx="8138160" cy="182880"/>
          </a:xfrm>
          <a:prstGeom prst="rect">
            <a:avLst/>
          </a:prstGeom>
          <a:noFill/>
          <a:ln/>
        </p:spPr>
        <p:txBody>
          <a:bodyPr wrap="square" rtlCol="0" anchor="ctr"/>
          <a:lstStyle/>
          <a:p>
            <a:pPr algn="l" indent="0" marL="0">
              <a:buNone/>
            </a:pPr>
            <a:r>
              <a:rPr lang="en-US" sz="800" dirty="0">
                <a:solidFill>
                  <a:srgbClr val="7A9BAB"/>
                </a:solidFill>
                <a:latin typeface="Open Sans" pitchFamily="34" charset="0"/>
                <a:ea typeface="Open Sans" pitchFamily="34" charset="-122"/>
                <a:cs typeface="Open Sans" pitchFamily="34" charset="-120"/>
              </a:rPr>
              <a:t>SETD5 Syndrome Foundation  ·  Founding Meeting</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F5361"/>
        </a:solidFill>
      </p:bgPr>
    </p:bg>
    <p:spTree>
      <p:nvGrpSpPr>
        <p:cNvPr id="1" name=""/>
        <p:cNvGrpSpPr/>
        <p:nvPr/>
      </p:nvGrpSpPr>
      <p:grpSpPr>
        <a:xfrm>
          <a:off x="0" y="0"/>
          <a:ext cx="0" cy="0"/>
          <a:chOff x="0" y="0"/>
          <a:chExt cx="0" cy="0"/>
        </a:xfrm>
      </p:grpSpPr>
      <p:sp>
        <p:nvSpPr>
          <p:cNvPr id="2" name="Text 0"/>
          <p:cNvSpPr/>
          <p:nvPr/>
        </p:nvSpPr>
        <p:spPr>
          <a:xfrm>
            <a:off x="502920" y="457200"/>
            <a:ext cx="8138160" cy="594360"/>
          </a:xfrm>
          <a:prstGeom prst="rect">
            <a:avLst/>
          </a:prstGeom>
          <a:noFill/>
          <a:ln/>
        </p:spPr>
        <p:txBody>
          <a:bodyPr wrap="square" rtlCol="0" anchor="ctr"/>
          <a:lstStyle/>
          <a:p>
            <a:pPr algn="ctr" indent="0" marL="0">
              <a:buNone/>
            </a:pPr>
            <a:r>
              <a:rPr lang="en-US" sz="3000" b="1" dirty="0">
                <a:solidFill>
                  <a:srgbClr val="FFFFFF"/>
                </a:solidFill>
                <a:latin typeface="Open Sans" pitchFamily="34" charset="0"/>
                <a:ea typeface="Open Sans" pitchFamily="34" charset="-122"/>
                <a:cs typeface="Open Sans" pitchFamily="34" charset="-120"/>
              </a:rPr>
              <a:t>Initial Board Members</a:t>
            </a:r>
            <a:endParaRPr lang="en-US" sz="3000" dirty="0"/>
          </a:p>
        </p:txBody>
      </p:sp>
      <p:sp>
        <p:nvSpPr>
          <p:cNvPr id="3" name="Text 1"/>
          <p:cNvSpPr/>
          <p:nvPr/>
        </p:nvSpPr>
        <p:spPr>
          <a:xfrm>
            <a:off x="914400" y="1143000"/>
            <a:ext cx="7315200" cy="365760"/>
          </a:xfrm>
          <a:prstGeom prst="rect">
            <a:avLst/>
          </a:prstGeom>
          <a:noFill/>
          <a:ln/>
        </p:spPr>
        <p:txBody>
          <a:bodyPr wrap="square" rtlCol="0" anchor="ctr"/>
          <a:lstStyle/>
          <a:p>
            <a:pPr algn="ctr" indent="0" marL="0">
              <a:buNone/>
            </a:pPr>
            <a:r>
              <a:rPr lang="en-US" sz="1100" dirty="0">
                <a:solidFill>
                  <a:srgbClr val="E6F0F3"/>
                </a:solidFill>
                <a:latin typeface="Open Sans" pitchFamily="34" charset="0"/>
                <a:ea typeface="Open Sans" pitchFamily="34" charset="-122"/>
                <a:cs typeface="Open Sans" pitchFamily="34" charset="-120"/>
              </a:rPr>
              <a:t>Founding team acting as directors for incorporation, pending formal vote after bylaws are adopted.</a:t>
            </a:r>
            <a:endParaRPr lang="en-US" sz="1100" dirty="0"/>
          </a:p>
        </p:txBody>
      </p:sp>
      <p:sp>
        <p:nvSpPr>
          <p:cNvPr id="4" name="Shape 2"/>
          <p:cNvSpPr/>
          <p:nvPr/>
        </p:nvSpPr>
        <p:spPr>
          <a:xfrm>
            <a:off x="685800" y="1691640"/>
            <a:ext cx="1737360" cy="1828800"/>
          </a:xfrm>
          <a:prstGeom prst="rect">
            <a:avLst/>
          </a:prstGeom>
          <a:solidFill>
            <a:srgbClr val="1E3A45"/>
          </a:solidFill>
          <a:ln w="12700">
            <a:solidFill>
              <a:srgbClr val="D8AB67"/>
            </a:solidFill>
            <a:prstDash val="solid"/>
          </a:ln>
        </p:spPr>
      </p:sp>
      <p:sp>
        <p:nvSpPr>
          <p:cNvPr id="5" name="Shape 3"/>
          <p:cNvSpPr/>
          <p:nvPr/>
        </p:nvSpPr>
        <p:spPr>
          <a:xfrm>
            <a:off x="685800" y="1691640"/>
            <a:ext cx="1737360" cy="54864"/>
          </a:xfrm>
          <a:prstGeom prst="rect">
            <a:avLst/>
          </a:prstGeom>
          <a:solidFill>
            <a:srgbClr val="D17E64"/>
          </a:solidFill>
          <a:ln w="12700">
            <a:solidFill>
              <a:srgbClr val="D17E64"/>
            </a:solidFill>
            <a:prstDash val="solid"/>
          </a:ln>
        </p:spPr>
      </p:sp>
      <p:sp>
        <p:nvSpPr>
          <p:cNvPr id="6" name="Shape 4"/>
          <p:cNvSpPr/>
          <p:nvPr/>
        </p:nvSpPr>
        <p:spPr>
          <a:xfrm>
            <a:off x="1271016" y="1874520"/>
            <a:ext cx="566928" cy="566928"/>
          </a:xfrm>
          <a:prstGeom prst="oval">
            <a:avLst/>
          </a:prstGeom>
          <a:solidFill>
            <a:srgbClr val="D17E64"/>
          </a:solidFill>
          <a:ln w="12700">
            <a:solidFill>
              <a:srgbClr val="D17E64"/>
            </a:solidFill>
            <a:prstDash val="solid"/>
          </a:ln>
        </p:spPr>
      </p:sp>
      <p:sp>
        <p:nvSpPr>
          <p:cNvPr id="7" name="Text 5"/>
          <p:cNvSpPr/>
          <p:nvPr/>
        </p:nvSpPr>
        <p:spPr>
          <a:xfrm>
            <a:off x="1271016" y="187452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LB</a:t>
            </a:r>
            <a:endParaRPr lang="en-US" sz="1300" dirty="0"/>
          </a:p>
        </p:txBody>
      </p:sp>
      <p:sp>
        <p:nvSpPr>
          <p:cNvPr id="8" name="Text 6"/>
          <p:cNvSpPr/>
          <p:nvPr/>
        </p:nvSpPr>
        <p:spPr>
          <a:xfrm>
            <a:off x="777240" y="2606040"/>
            <a:ext cx="1554480" cy="685800"/>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Laura Biazon</a:t>
            </a:r>
            <a:endParaRPr lang="en-US" sz="1300" dirty="0"/>
          </a:p>
        </p:txBody>
      </p:sp>
      <p:sp>
        <p:nvSpPr>
          <p:cNvPr id="9" name="Shape 7"/>
          <p:cNvSpPr/>
          <p:nvPr/>
        </p:nvSpPr>
        <p:spPr>
          <a:xfrm>
            <a:off x="2697480" y="1691640"/>
            <a:ext cx="1737360" cy="1828800"/>
          </a:xfrm>
          <a:prstGeom prst="rect">
            <a:avLst/>
          </a:prstGeom>
          <a:solidFill>
            <a:srgbClr val="1E3A45"/>
          </a:solidFill>
          <a:ln w="12700">
            <a:solidFill>
              <a:srgbClr val="D8AB67"/>
            </a:solidFill>
            <a:prstDash val="solid"/>
          </a:ln>
        </p:spPr>
      </p:sp>
      <p:sp>
        <p:nvSpPr>
          <p:cNvPr id="10" name="Shape 8"/>
          <p:cNvSpPr/>
          <p:nvPr/>
        </p:nvSpPr>
        <p:spPr>
          <a:xfrm>
            <a:off x="2697480" y="1691640"/>
            <a:ext cx="1737360" cy="54864"/>
          </a:xfrm>
          <a:prstGeom prst="rect">
            <a:avLst/>
          </a:prstGeom>
          <a:solidFill>
            <a:srgbClr val="D17E64"/>
          </a:solidFill>
          <a:ln w="12700">
            <a:solidFill>
              <a:srgbClr val="D17E64"/>
            </a:solidFill>
            <a:prstDash val="solid"/>
          </a:ln>
        </p:spPr>
      </p:sp>
      <p:sp>
        <p:nvSpPr>
          <p:cNvPr id="11" name="Shape 9"/>
          <p:cNvSpPr/>
          <p:nvPr/>
        </p:nvSpPr>
        <p:spPr>
          <a:xfrm>
            <a:off x="3282696" y="1874520"/>
            <a:ext cx="566928" cy="566928"/>
          </a:xfrm>
          <a:prstGeom prst="oval">
            <a:avLst/>
          </a:prstGeom>
          <a:solidFill>
            <a:srgbClr val="D17E64"/>
          </a:solidFill>
          <a:ln w="12700">
            <a:solidFill>
              <a:srgbClr val="D17E64"/>
            </a:solidFill>
            <a:prstDash val="solid"/>
          </a:ln>
        </p:spPr>
      </p:sp>
      <p:sp>
        <p:nvSpPr>
          <p:cNvPr id="12" name="Text 10"/>
          <p:cNvSpPr/>
          <p:nvPr/>
        </p:nvSpPr>
        <p:spPr>
          <a:xfrm>
            <a:off x="3282696" y="187452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MW</a:t>
            </a:r>
            <a:endParaRPr lang="en-US" sz="1300" dirty="0"/>
          </a:p>
        </p:txBody>
      </p:sp>
      <p:sp>
        <p:nvSpPr>
          <p:cNvPr id="13" name="Text 11"/>
          <p:cNvSpPr/>
          <p:nvPr/>
        </p:nvSpPr>
        <p:spPr>
          <a:xfrm>
            <a:off x="2788920" y="2606040"/>
            <a:ext cx="1554480" cy="685800"/>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Mandy Wittenberg</a:t>
            </a:r>
            <a:endParaRPr lang="en-US" sz="1300" dirty="0"/>
          </a:p>
        </p:txBody>
      </p:sp>
      <p:sp>
        <p:nvSpPr>
          <p:cNvPr id="14" name="Shape 12"/>
          <p:cNvSpPr/>
          <p:nvPr/>
        </p:nvSpPr>
        <p:spPr>
          <a:xfrm>
            <a:off x="4709160" y="1691640"/>
            <a:ext cx="1737360" cy="1828800"/>
          </a:xfrm>
          <a:prstGeom prst="rect">
            <a:avLst/>
          </a:prstGeom>
          <a:solidFill>
            <a:srgbClr val="1E3A45"/>
          </a:solidFill>
          <a:ln w="12700">
            <a:solidFill>
              <a:srgbClr val="D8AB67"/>
            </a:solidFill>
            <a:prstDash val="solid"/>
          </a:ln>
        </p:spPr>
      </p:sp>
      <p:sp>
        <p:nvSpPr>
          <p:cNvPr id="15" name="Shape 13"/>
          <p:cNvSpPr/>
          <p:nvPr/>
        </p:nvSpPr>
        <p:spPr>
          <a:xfrm>
            <a:off x="4709160" y="1691640"/>
            <a:ext cx="1737360" cy="54864"/>
          </a:xfrm>
          <a:prstGeom prst="rect">
            <a:avLst/>
          </a:prstGeom>
          <a:solidFill>
            <a:srgbClr val="D17E64"/>
          </a:solidFill>
          <a:ln w="12700">
            <a:solidFill>
              <a:srgbClr val="D17E64"/>
            </a:solidFill>
            <a:prstDash val="solid"/>
          </a:ln>
        </p:spPr>
      </p:sp>
      <p:sp>
        <p:nvSpPr>
          <p:cNvPr id="16" name="Shape 14"/>
          <p:cNvSpPr/>
          <p:nvPr/>
        </p:nvSpPr>
        <p:spPr>
          <a:xfrm>
            <a:off x="5294376" y="1874520"/>
            <a:ext cx="566928" cy="566928"/>
          </a:xfrm>
          <a:prstGeom prst="oval">
            <a:avLst/>
          </a:prstGeom>
          <a:solidFill>
            <a:srgbClr val="D17E64"/>
          </a:solidFill>
          <a:ln w="12700">
            <a:solidFill>
              <a:srgbClr val="D17E64"/>
            </a:solidFill>
            <a:prstDash val="solid"/>
          </a:ln>
        </p:spPr>
      </p:sp>
      <p:sp>
        <p:nvSpPr>
          <p:cNvPr id="17" name="Text 15"/>
          <p:cNvSpPr/>
          <p:nvPr/>
        </p:nvSpPr>
        <p:spPr>
          <a:xfrm>
            <a:off x="5294376" y="187452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JM</a:t>
            </a:r>
            <a:endParaRPr lang="en-US" sz="1300" dirty="0"/>
          </a:p>
        </p:txBody>
      </p:sp>
      <p:sp>
        <p:nvSpPr>
          <p:cNvPr id="18" name="Text 16"/>
          <p:cNvSpPr/>
          <p:nvPr/>
        </p:nvSpPr>
        <p:spPr>
          <a:xfrm>
            <a:off x="4800600" y="2606040"/>
            <a:ext cx="1554480" cy="685800"/>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Jesiree Mendez</a:t>
            </a:r>
            <a:endParaRPr lang="en-US" sz="1300" dirty="0"/>
          </a:p>
        </p:txBody>
      </p:sp>
      <p:sp>
        <p:nvSpPr>
          <p:cNvPr id="19" name="Shape 17"/>
          <p:cNvSpPr/>
          <p:nvPr/>
        </p:nvSpPr>
        <p:spPr>
          <a:xfrm>
            <a:off x="6720840" y="1691640"/>
            <a:ext cx="1737360" cy="1828800"/>
          </a:xfrm>
          <a:prstGeom prst="rect">
            <a:avLst/>
          </a:prstGeom>
          <a:solidFill>
            <a:srgbClr val="1E3A45"/>
          </a:solidFill>
          <a:ln w="12700">
            <a:solidFill>
              <a:srgbClr val="D8AB67"/>
            </a:solidFill>
            <a:prstDash val="solid"/>
          </a:ln>
        </p:spPr>
      </p:sp>
      <p:sp>
        <p:nvSpPr>
          <p:cNvPr id="20" name="Shape 18"/>
          <p:cNvSpPr/>
          <p:nvPr/>
        </p:nvSpPr>
        <p:spPr>
          <a:xfrm>
            <a:off x="6720840" y="1691640"/>
            <a:ext cx="1737360" cy="54864"/>
          </a:xfrm>
          <a:prstGeom prst="rect">
            <a:avLst/>
          </a:prstGeom>
          <a:solidFill>
            <a:srgbClr val="D17E64"/>
          </a:solidFill>
          <a:ln w="12700">
            <a:solidFill>
              <a:srgbClr val="D17E64"/>
            </a:solidFill>
            <a:prstDash val="solid"/>
          </a:ln>
        </p:spPr>
      </p:sp>
      <p:sp>
        <p:nvSpPr>
          <p:cNvPr id="21" name="Shape 19"/>
          <p:cNvSpPr/>
          <p:nvPr/>
        </p:nvSpPr>
        <p:spPr>
          <a:xfrm>
            <a:off x="7306056" y="1874520"/>
            <a:ext cx="566928" cy="566928"/>
          </a:xfrm>
          <a:prstGeom prst="oval">
            <a:avLst/>
          </a:prstGeom>
          <a:solidFill>
            <a:srgbClr val="D17E64"/>
          </a:solidFill>
          <a:ln w="12700">
            <a:solidFill>
              <a:srgbClr val="D17E64"/>
            </a:solidFill>
            <a:prstDash val="solid"/>
          </a:ln>
        </p:spPr>
      </p:sp>
      <p:sp>
        <p:nvSpPr>
          <p:cNvPr id="22" name="Text 20"/>
          <p:cNvSpPr/>
          <p:nvPr/>
        </p:nvSpPr>
        <p:spPr>
          <a:xfrm>
            <a:off x="7306056" y="187452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AM</a:t>
            </a:r>
            <a:endParaRPr lang="en-US" sz="1300" dirty="0"/>
          </a:p>
        </p:txBody>
      </p:sp>
      <p:sp>
        <p:nvSpPr>
          <p:cNvPr id="23" name="Text 21"/>
          <p:cNvSpPr/>
          <p:nvPr/>
        </p:nvSpPr>
        <p:spPr>
          <a:xfrm>
            <a:off x="6812280" y="2606040"/>
            <a:ext cx="1554480" cy="685800"/>
          </a:xfrm>
          <a:prstGeom prst="rect">
            <a:avLst/>
          </a:prstGeom>
          <a:noFill/>
          <a:ln/>
        </p:spPr>
        <p:txBody>
          <a:bodyPr wrap="square"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Amelia Marie</a:t>
            </a:r>
            <a:endParaRPr lang="en-US" sz="1300" dirty="0"/>
          </a:p>
        </p:txBody>
      </p:sp>
      <p:sp>
        <p:nvSpPr>
          <p:cNvPr id="24" name="Text 22"/>
          <p:cNvSpPr/>
          <p:nvPr/>
        </p:nvSpPr>
        <p:spPr>
          <a:xfrm>
            <a:off x="502920" y="4754880"/>
            <a:ext cx="8138160" cy="256032"/>
          </a:xfrm>
          <a:prstGeom prst="rect">
            <a:avLst/>
          </a:prstGeom>
          <a:noFill/>
          <a:ln/>
        </p:spPr>
        <p:txBody>
          <a:bodyPr wrap="square" rtlCol="0" anchor="ctr"/>
          <a:lstStyle/>
          <a:p>
            <a:pPr algn="ctr" indent="0" marL="0">
              <a:buNone/>
            </a:pPr>
            <a:r>
              <a:rPr lang="en-US" sz="950" b="1" spc="200" kern="0" dirty="0">
                <a:solidFill>
                  <a:srgbClr val="E6F0F3"/>
                </a:solidFill>
                <a:latin typeface="Open Sans" pitchFamily="34" charset="0"/>
                <a:ea typeface="Open Sans" pitchFamily="34" charset="-122"/>
                <a:cs typeface="Open Sans" pitchFamily="34" charset="-120"/>
              </a:rPr>
              <a:t>Research  ·  Community  ·  Advocacy</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3A45"/>
        </a:solidFill>
      </p:bgPr>
    </p:bg>
    <p:spTree>
      <p:nvGrpSpPr>
        <p:cNvPr id="1" name=""/>
        <p:cNvGrpSpPr/>
        <p:nvPr/>
      </p:nvGrpSpPr>
      <p:grpSpPr>
        <a:xfrm>
          <a:off x="0" y="0"/>
          <a:ext cx="0" cy="0"/>
          <a:chOff x="0" y="0"/>
          <a:chExt cx="0" cy="0"/>
        </a:xfrm>
      </p:grpSpPr>
      <p:sp>
        <p:nvSpPr>
          <p:cNvPr id="2" name="Text 0"/>
          <p:cNvSpPr/>
          <p:nvPr/>
        </p:nvSpPr>
        <p:spPr>
          <a:xfrm>
            <a:off x="502920" y="256032"/>
            <a:ext cx="8138160" cy="530352"/>
          </a:xfrm>
          <a:prstGeom prst="rect">
            <a:avLst/>
          </a:prstGeom>
          <a:noFill/>
          <a:ln/>
        </p:spPr>
        <p:txBody>
          <a:bodyPr wrap="square" rtlCol="0" anchor="ctr"/>
          <a:lstStyle/>
          <a:p>
            <a:pPr algn="ctr" indent="0" marL="0">
              <a:buNone/>
            </a:pPr>
            <a:r>
              <a:rPr lang="en-US" sz="2600" b="1" dirty="0">
                <a:solidFill>
                  <a:srgbClr val="FFFFFF"/>
                </a:solidFill>
                <a:latin typeface="Open Sans" pitchFamily="34" charset="0"/>
                <a:ea typeface="Open Sans" pitchFamily="34" charset="-122"/>
                <a:cs typeface="Open Sans" pitchFamily="34" charset="-120"/>
              </a:rPr>
              <a:t>Working Groups: Sign Up Today!</a:t>
            </a:r>
            <a:endParaRPr lang="en-US" sz="2600" dirty="0"/>
          </a:p>
        </p:txBody>
      </p:sp>
      <p:sp>
        <p:nvSpPr>
          <p:cNvPr id="3" name="Text 1"/>
          <p:cNvSpPr/>
          <p:nvPr/>
        </p:nvSpPr>
        <p:spPr>
          <a:xfrm>
            <a:off x="502920" y="822960"/>
            <a:ext cx="8138160" cy="274320"/>
          </a:xfrm>
          <a:prstGeom prst="rect">
            <a:avLst/>
          </a:prstGeom>
          <a:noFill/>
          <a:ln/>
        </p:spPr>
        <p:txBody>
          <a:bodyPr wrap="square" rtlCol="0" anchor="ctr"/>
          <a:lstStyle/>
          <a:p>
            <a:pPr algn="ctr" indent="0" marL="0">
              <a:buNone/>
            </a:pPr>
            <a:r>
              <a:rPr lang="en-US" sz="1150" dirty="0">
                <a:solidFill>
                  <a:srgbClr val="D8AB67"/>
                </a:solidFill>
                <a:latin typeface="Open Sans" pitchFamily="34" charset="0"/>
                <a:ea typeface="Open Sans" pitchFamily="34" charset="-122"/>
                <a:cs typeface="Open Sans" pitchFamily="34" charset="-120"/>
              </a:rPr>
              <a:t>Each group needs a Lead + 2-4 members  ·  Report back in 30 days</a:t>
            </a:r>
            <a:endParaRPr lang="en-US" sz="1150" dirty="0"/>
          </a:p>
        </p:txBody>
      </p:sp>
      <p:sp>
        <p:nvSpPr>
          <p:cNvPr id="4" name="Shape 2"/>
          <p:cNvSpPr/>
          <p:nvPr/>
        </p:nvSpPr>
        <p:spPr>
          <a:xfrm>
            <a:off x="274320"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5" name="Shape 3"/>
          <p:cNvSpPr/>
          <p:nvPr/>
        </p:nvSpPr>
        <p:spPr>
          <a:xfrm>
            <a:off x="274320" y="1207008"/>
            <a:ext cx="1572768" cy="54864"/>
          </a:xfrm>
          <a:prstGeom prst="rect">
            <a:avLst/>
          </a:prstGeom>
          <a:solidFill>
            <a:srgbClr val="2F5361"/>
          </a:solidFill>
          <a:ln w="12700">
            <a:solidFill>
              <a:srgbClr val="2F5361"/>
            </a:solidFill>
            <a:prstDash val="solid"/>
          </a:ln>
        </p:spPr>
      </p:sp>
      <p:sp>
        <p:nvSpPr>
          <p:cNvPr id="6" name="Shape 4"/>
          <p:cNvSpPr/>
          <p:nvPr/>
        </p:nvSpPr>
        <p:spPr>
          <a:xfrm>
            <a:off x="832104" y="1335024"/>
            <a:ext cx="457200" cy="457200"/>
          </a:xfrm>
          <a:prstGeom prst="oval">
            <a:avLst/>
          </a:prstGeom>
          <a:solidFill>
            <a:srgbClr val="2F5361"/>
          </a:solidFill>
          <a:ln w="12700">
            <a:solidFill>
              <a:srgbClr val="2F5361"/>
            </a:solidFill>
            <a:prstDash val="solid"/>
          </a:ln>
        </p:spPr>
      </p:sp>
      <p:sp>
        <p:nvSpPr>
          <p:cNvPr id="7" name="Text 5"/>
          <p:cNvSpPr/>
          <p:nvPr/>
        </p:nvSpPr>
        <p:spPr>
          <a:xfrm>
            <a:off x="832104"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G</a:t>
            </a:r>
            <a:endParaRPr lang="en-US" sz="1300" dirty="0"/>
          </a:p>
        </p:txBody>
      </p:sp>
      <p:sp>
        <p:nvSpPr>
          <p:cNvPr id="8" name="Text 6"/>
          <p:cNvSpPr/>
          <p:nvPr/>
        </p:nvSpPr>
        <p:spPr>
          <a:xfrm>
            <a:off x="347472"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Governance</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&amp; Legal</a:t>
            </a:r>
            <a:endParaRPr lang="en-US" sz="1050" dirty="0"/>
          </a:p>
        </p:txBody>
      </p:sp>
      <p:sp>
        <p:nvSpPr>
          <p:cNvPr id="9" name="Text 7"/>
          <p:cNvSpPr/>
          <p:nvPr/>
        </p:nvSpPr>
        <p:spPr>
          <a:xfrm>
            <a:off x="347472"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Incorporation, bylaws, 501(c)(3), attorney</a:t>
            </a:r>
            <a:endParaRPr lang="en-US" sz="850" dirty="0"/>
          </a:p>
        </p:txBody>
      </p:sp>
      <p:sp>
        <p:nvSpPr>
          <p:cNvPr id="10" name="Text 8"/>
          <p:cNvSpPr/>
          <p:nvPr/>
        </p:nvSpPr>
        <p:spPr>
          <a:xfrm>
            <a:off x="347472"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Laura Biazon?</a:t>
            </a:r>
            <a:endParaRPr lang="en-US" sz="850" dirty="0"/>
          </a:p>
        </p:txBody>
      </p:sp>
      <p:sp>
        <p:nvSpPr>
          <p:cNvPr id="11" name="Shape 9"/>
          <p:cNvSpPr/>
          <p:nvPr/>
        </p:nvSpPr>
        <p:spPr>
          <a:xfrm>
            <a:off x="2029968"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12" name="Shape 10"/>
          <p:cNvSpPr/>
          <p:nvPr/>
        </p:nvSpPr>
        <p:spPr>
          <a:xfrm>
            <a:off x="2029968" y="1207008"/>
            <a:ext cx="1572768" cy="54864"/>
          </a:xfrm>
          <a:prstGeom prst="rect">
            <a:avLst/>
          </a:prstGeom>
          <a:solidFill>
            <a:srgbClr val="4A8A9A"/>
          </a:solidFill>
          <a:ln w="12700">
            <a:solidFill>
              <a:srgbClr val="4A8A9A"/>
            </a:solidFill>
            <a:prstDash val="solid"/>
          </a:ln>
        </p:spPr>
      </p:sp>
      <p:sp>
        <p:nvSpPr>
          <p:cNvPr id="13" name="Shape 11"/>
          <p:cNvSpPr/>
          <p:nvPr/>
        </p:nvSpPr>
        <p:spPr>
          <a:xfrm>
            <a:off x="2587752" y="1335024"/>
            <a:ext cx="457200" cy="457200"/>
          </a:xfrm>
          <a:prstGeom prst="oval">
            <a:avLst/>
          </a:prstGeom>
          <a:solidFill>
            <a:srgbClr val="4A8A9A"/>
          </a:solidFill>
          <a:ln w="12700">
            <a:solidFill>
              <a:srgbClr val="4A8A9A"/>
            </a:solidFill>
            <a:prstDash val="solid"/>
          </a:ln>
        </p:spPr>
      </p:sp>
      <p:sp>
        <p:nvSpPr>
          <p:cNvPr id="14" name="Text 12"/>
          <p:cNvSpPr/>
          <p:nvPr/>
        </p:nvSpPr>
        <p:spPr>
          <a:xfrm>
            <a:off x="2587752"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Sci</a:t>
            </a:r>
            <a:endParaRPr lang="en-US" sz="1300" dirty="0"/>
          </a:p>
        </p:txBody>
      </p:sp>
      <p:sp>
        <p:nvSpPr>
          <p:cNvPr id="15" name="Text 13"/>
          <p:cNvSpPr/>
          <p:nvPr/>
        </p:nvSpPr>
        <p:spPr>
          <a:xfrm>
            <a:off x="2103120"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Medical &amp;</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Scientific</a:t>
            </a:r>
            <a:endParaRPr lang="en-US" sz="1050" dirty="0"/>
          </a:p>
        </p:txBody>
      </p:sp>
      <p:sp>
        <p:nvSpPr>
          <p:cNvPr id="16" name="Text 14"/>
          <p:cNvSpPr/>
          <p:nvPr/>
        </p:nvSpPr>
        <p:spPr>
          <a:xfrm>
            <a:off x="2103120"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Recruit SAB, researcher relationships, registry</a:t>
            </a:r>
            <a:endParaRPr lang="en-US" sz="850" dirty="0"/>
          </a:p>
        </p:txBody>
      </p:sp>
      <p:sp>
        <p:nvSpPr>
          <p:cNvPr id="17" name="Text 15"/>
          <p:cNvSpPr/>
          <p:nvPr/>
        </p:nvSpPr>
        <p:spPr>
          <a:xfrm>
            <a:off x="2103120"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Laura Biazon?</a:t>
            </a:r>
            <a:endParaRPr lang="en-US" sz="850" dirty="0"/>
          </a:p>
        </p:txBody>
      </p:sp>
      <p:sp>
        <p:nvSpPr>
          <p:cNvPr id="18" name="Shape 16"/>
          <p:cNvSpPr/>
          <p:nvPr/>
        </p:nvSpPr>
        <p:spPr>
          <a:xfrm>
            <a:off x="3785616"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19" name="Shape 17"/>
          <p:cNvSpPr/>
          <p:nvPr/>
        </p:nvSpPr>
        <p:spPr>
          <a:xfrm>
            <a:off x="3785616" y="1207008"/>
            <a:ext cx="1572768" cy="54864"/>
          </a:xfrm>
          <a:prstGeom prst="rect">
            <a:avLst/>
          </a:prstGeom>
          <a:solidFill>
            <a:srgbClr val="D17E64"/>
          </a:solidFill>
          <a:ln w="12700">
            <a:solidFill>
              <a:srgbClr val="D17E64"/>
            </a:solidFill>
            <a:prstDash val="solid"/>
          </a:ln>
        </p:spPr>
      </p:sp>
      <p:sp>
        <p:nvSpPr>
          <p:cNvPr id="20" name="Shape 18"/>
          <p:cNvSpPr/>
          <p:nvPr/>
        </p:nvSpPr>
        <p:spPr>
          <a:xfrm>
            <a:off x="4343400" y="1335024"/>
            <a:ext cx="457200" cy="457200"/>
          </a:xfrm>
          <a:prstGeom prst="oval">
            <a:avLst/>
          </a:prstGeom>
          <a:solidFill>
            <a:srgbClr val="D17E64"/>
          </a:solidFill>
          <a:ln w="12700">
            <a:solidFill>
              <a:srgbClr val="D17E64"/>
            </a:solidFill>
            <a:prstDash val="solid"/>
          </a:ln>
        </p:spPr>
      </p:sp>
      <p:sp>
        <p:nvSpPr>
          <p:cNvPr id="21" name="Text 19"/>
          <p:cNvSpPr/>
          <p:nvPr/>
        </p:nvSpPr>
        <p:spPr>
          <a:xfrm>
            <a:off x="4343400"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C</a:t>
            </a:r>
            <a:endParaRPr lang="en-US" sz="1300" dirty="0"/>
          </a:p>
        </p:txBody>
      </p:sp>
      <p:sp>
        <p:nvSpPr>
          <p:cNvPr id="22" name="Text 20"/>
          <p:cNvSpPr/>
          <p:nvPr/>
        </p:nvSpPr>
        <p:spPr>
          <a:xfrm>
            <a:off x="3858768"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Community</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Support</a:t>
            </a:r>
            <a:endParaRPr lang="en-US" sz="1050" dirty="0"/>
          </a:p>
        </p:txBody>
      </p:sp>
      <p:sp>
        <p:nvSpPr>
          <p:cNvPr id="23" name="Text 21"/>
          <p:cNvSpPr/>
          <p:nvPr/>
        </p:nvSpPr>
        <p:spPr>
          <a:xfrm>
            <a:off x="3858768"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Family resources, peer support, online community</a:t>
            </a:r>
            <a:endParaRPr lang="en-US" sz="850" dirty="0"/>
          </a:p>
        </p:txBody>
      </p:sp>
      <p:sp>
        <p:nvSpPr>
          <p:cNvPr id="24" name="Text 22"/>
          <p:cNvSpPr/>
          <p:nvPr/>
        </p:nvSpPr>
        <p:spPr>
          <a:xfrm>
            <a:off x="3858768"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___________</a:t>
            </a:r>
            <a:endParaRPr lang="en-US" sz="850" dirty="0"/>
          </a:p>
        </p:txBody>
      </p:sp>
      <p:sp>
        <p:nvSpPr>
          <p:cNvPr id="25" name="Shape 23"/>
          <p:cNvSpPr/>
          <p:nvPr/>
        </p:nvSpPr>
        <p:spPr>
          <a:xfrm>
            <a:off x="5541264"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26" name="Shape 24"/>
          <p:cNvSpPr/>
          <p:nvPr/>
        </p:nvSpPr>
        <p:spPr>
          <a:xfrm>
            <a:off x="5541264" y="1207008"/>
            <a:ext cx="1572768" cy="54864"/>
          </a:xfrm>
          <a:prstGeom prst="rect">
            <a:avLst/>
          </a:prstGeom>
          <a:solidFill>
            <a:srgbClr val="D8AB67"/>
          </a:solidFill>
          <a:ln w="12700">
            <a:solidFill>
              <a:srgbClr val="D8AB67"/>
            </a:solidFill>
            <a:prstDash val="solid"/>
          </a:ln>
        </p:spPr>
      </p:sp>
      <p:sp>
        <p:nvSpPr>
          <p:cNvPr id="27" name="Shape 25"/>
          <p:cNvSpPr/>
          <p:nvPr/>
        </p:nvSpPr>
        <p:spPr>
          <a:xfrm>
            <a:off x="6099048" y="1335024"/>
            <a:ext cx="457200" cy="457200"/>
          </a:xfrm>
          <a:prstGeom prst="oval">
            <a:avLst/>
          </a:prstGeom>
          <a:solidFill>
            <a:srgbClr val="D8AB67"/>
          </a:solidFill>
          <a:ln w="12700">
            <a:solidFill>
              <a:srgbClr val="D8AB67"/>
            </a:solidFill>
            <a:prstDash val="solid"/>
          </a:ln>
        </p:spPr>
      </p:sp>
      <p:sp>
        <p:nvSpPr>
          <p:cNvPr id="28" name="Text 26"/>
          <p:cNvSpPr/>
          <p:nvPr/>
        </p:nvSpPr>
        <p:spPr>
          <a:xfrm>
            <a:off x="6099048"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F</a:t>
            </a:r>
            <a:endParaRPr lang="en-US" sz="1300" dirty="0"/>
          </a:p>
        </p:txBody>
      </p:sp>
      <p:sp>
        <p:nvSpPr>
          <p:cNvPr id="29" name="Text 27"/>
          <p:cNvSpPr/>
          <p:nvPr/>
        </p:nvSpPr>
        <p:spPr>
          <a:xfrm>
            <a:off x="5614416"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Fundraising</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&amp; Finance</a:t>
            </a:r>
            <a:endParaRPr lang="en-US" sz="1050" dirty="0"/>
          </a:p>
        </p:txBody>
      </p:sp>
      <p:sp>
        <p:nvSpPr>
          <p:cNvPr id="30" name="Text 28"/>
          <p:cNvSpPr/>
          <p:nvPr/>
        </p:nvSpPr>
        <p:spPr>
          <a:xfrm>
            <a:off x="5614416"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Fundraising strategy, grants, donor database</a:t>
            </a:r>
            <a:endParaRPr lang="en-US" sz="850" dirty="0"/>
          </a:p>
        </p:txBody>
      </p:sp>
      <p:sp>
        <p:nvSpPr>
          <p:cNvPr id="31" name="Text 29"/>
          <p:cNvSpPr/>
          <p:nvPr/>
        </p:nvSpPr>
        <p:spPr>
          <a:xfrm>
            <a:off x="5614416"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___________</a:t>
            </a:r>
            <a:endParaRPr lang="en-US" sz="850" dirty="0"/>
          </a:p>
        </p:txBody>
      </p:sp>
      <p:sp>
        <p:nvSpPr>
          <p:cNvPr id="32" name="Shape 30"/>
          <p:cNvSpPr/>
          <p:nvPr/>
        </p:nvSpPr>
        <p:spPr>
          <a:xfrm>
            <a:off x="7296912" y="1207008"/>
            <a:ext cx="1572768" cy="3200400"/>
          </a:xfrm>
          <a:prstGeom prst="rect">
            <a:avLst/>
          </a:prstGeom>
          <a:solidFill>
            <a:srgbClr val="FFFFFF"/>
          </a:solidFill>
          <a:ln/>
          <a:effectLst>
            <a:outerShdw sx="100000" sy="100000" kx="0" ky="0" algn="bl" rotWithShape="0" blurRad="101600" dist="38100" dir="8100000">
              <a:srgbClr val="1e3a45">
                <a:alpha val="25000"/>
              </a:srgbClr>
            </a:outerShdw>
          </a:effectLst>
        </p:spPr>
      </p:sp>
      <p:sp>
        <p:nvSpPr>
          <p:cNvPr id="33" name="Shape 31"/>
          <p:cNvSpPr/>
          <p:nvPr/>
        </p:nvSpPr>
        <p:spPr>
          <a:xfrm>
            <a:off x="7296912" y="1207008"/>
            <a:ext cx="1572768" cy="54864"/>
          </a:xfrm>
          <a:prstGeom prst="rect">
            <a:avLst/>
          </a:prstGeom>
          <a:solidFill>
            <a:srgbClr val="4A8A9A"/>
          </a:solidFill>
          <a:ln w="12700">
            <a:solidFill>
              <a:srgbClr val="4A8A9A"/>
            </a:solidFill>
            <a:prstDash val="solid"/>
          </a:ln>
        </p:spPr>
      </p:sp>
      <p:sp>
        <p:nvSpPr>
          <p:cNvPr id="34" name="Shape 32"/>
          <p:cNvSpPr/>
          <p:nvPr/>
        </p:nvSpPr>
        <p:spPr>
          <a:xfrm>
            <a:off x="7854696" y="1335024"/>
            <a:ext cx="457200" cy="457200"/>
          </a:xfrm>
          <a:prstGeom prst="oval">
            <a:avLst/>
          </a:prstGeom>
          <a:solidFill>
            <a:srgbClr val="4A8A9A"/>
          </a:solidFill>
          <a:ln w="12700">
            <a:solidFill>
              <a:srgbClr val="4A8A9A"/>
            </a:solidFill>
            <a:prstDash val="solid"/>
          </a:ln>
        </p:spPr>
      </p:sp>
      <p:sp>
        <p:nvSpPr>
          <p:cNvPr id="35" name="Text 33"/>
          <p:cNvSpPr/>
          <p:nvPr/>
        </p:nvSpPr>
        <p:spPr>
          <a:xfrm>
            <a:off x="7854696" y="133502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Open Sans" pitchFamily="34" charset="0"/>
                <a:ea typeface="Open Sans" pitchFamily="34" charset="-122"/>
                <a:cs typeface="Open Sans" pitchFamily="34" charset="-120"/>
              </a:rPr>
              <a:t>PR</a:t>
            </a:r>
            <a:endParaRPr lang="en-US" sz="1300" dirty="0"/>
          </a:p>
        </p:txBody>
      </p:sp>
      <p:sp>
        <p:nvSpPr>
          <p:cNvPr id="36" name="Text 34"/>
          <p:cNvSpPr/>
          <p:nvPr/>
        </p:nvSpPr>
        <p:spPr>
          <a:xfrm>
            <a:off x="7370064" y="1865376"/>
            <a:ext cx="1426464" cy="457200"/>
          </a:xfrm>
          <a:prstGeom prst="rect">
            <a:avLst/>
          </a:prstGeom>
          <a:noFill/>
          <a:ln/>
        </p:spPr>
        <p:txBody>
          <a:bodyPr wrap="square" rtlCol="0" anchor="ctr"/>
          <a:lstStyle/>
          <a:p>
            <a:pPr algn="ctr" indent="0" marL="0">
              <a:buNone/>
            </a:pPr>
            <a:r>
              <a:rPr lang="en-US" sz="1050" b="1" dirty="0">
                <a:solidFill>
                  <a:srgbClr val="2F5361"/>
                </a:solidFill>
                <a:latin typeface="Open Sans" pitchFamily="34" charset="0"/>
                <a:ea typeface="Open Sans" pitchFamily="34" charset="-122"/>
                <a:cs typeface="Open Sans" pitchFamily="34" charset="-120"/>
              </a:rPr>
              <a:t>Comms</a:t>
            </a:r>
            <a:endParaRPr lang="en-US" sz="1050" dirty="0"/>
          </a:p>
          <a:p>
            <a:pPr algn="ctr" indent="0" marL="0">
              <a:buNone/>
            </a:pPr>
            <a:r>
              <a:rPr lang="en-US" sz="1050" b="1" dirty="0">
                <a:solidFill>
                  <a:srgbClr val="2F5361"/>
                </a:solidFill>
                <a:latin typeface="Open Sans" pitchFamily="34" charset="0"/>
                <a:ea typeface="Open Sans" pitchFamily="34" charset="-122"/>
                <a:cs typeface="Open Sans" pitchFamily="34" charset="-120"/>
              </a:rPr>
              <a:t>&amp; Brand</a:t>
            </a:r>
            <a:endParaRPr lang="en-US" sz="1050" dirty="0"/>
          </a:p>
        </p:txBody>
      </p:sp>
      <p:sp>
        <p:nvSpPr>
          <p:cNvPr id="37" name="Text 35"/>
          <p:cNvSpPr/>
          <p:nvPr/>
        </p:nvSpPr>
        <p:spPr>
          <a:xfrm>
            <a:off x="7370064" y="2359152"/>
            <a:ext cx="1426464" cy="1627632"/>
          </a:xfrm>
          <a:prstGeom prst="rect">
            <a:avLst/>
          </a:prstGeom>
          <a:noFill/>
          <a:ln/>
        </p:spPr>
        <p:txBody>
          <a:bodyPr wrap="square" rtlCol="0" anchor="t"/>
          <a:lstStyle/>
          <a:p>
            <a:pPr algn="ctr" indent="0" marL="0">
              <a:buNone/>
            </a:pPr>
            <a:r>
              <a:rPr lang="en-US" sz="850" dirty="0">
                <a:solidFill>
                  <a:srgbClr val="4A6B78"/>
                </a:solidFill>
                <a:latin typeface="Open Sans" pitchFamily="34" charset="0"/>
                <a:ea typeface="Open Sans" pitchFamily="34" charset="-122"/>
                <a:cs typeface="Open Sans" pitchFamily="34" charset="-120"/>
              </a:rPr>
              <a:t>Website, social, logo, foundation name vote</a:t>
            </a:r>
            <a:endParaRPr lang="en-US" sz="850" dirty="0"/>
          </a:p>
        </p:txBody>
      </p:sp>
      <p:sp>
        <p:nvSpPr>
          <p:cNvPr id="38" name="Text 36"/>
          <p:cNvSpPr/>
          <p:nvPr/>
        </p:nvSpPr>
        <p:spPr>
          <a:xfrm>
            <a:off x="7370064" y="4078224"/>
            <a:ext cx="1426464" cy="256032"/>
          </a:xfrm>
          <a:prstGeom prst="rect">
            <a:avLst/>
          </a:prstGeom>
          <a:noFill/>
          <a:ln/>
        </p:spPr>
        <p:txBody>
          <a:bodyPr wrap="square" rtlCol="0" anchor="ctr"/>
          <a:lstStyle/>
          <a:p>
            <a:pPr algn="ctr" indent="0" marL="0">
              <a:buNone/>
            </a:pPr>
            <a:r>
              <a:rPr lang="en-US" sz="850" b="1" dirty="0">
                <a:solidFill>
                  <a:srgbClr val="D17E64"/>
                </a:solidFill>
                <a:latin typeface="Open Sans" pitchFamily="34" charset="0"/>
                <a:ea typeface="Open Sans" pitchFamily="34" charset="-122"/>
                <a:cs typeface="Open Sans" pitchFamily="34" charset="-120"/>
              </a:rPr>
              <a:t>Lead: ___________</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138160" cy="256032"/>
          </a:xfrm>
          <a:prstGeom prst="rect">
            <a:avLst/>
          </a:prstGeom>
          <a:noFill/>
          <a:ln/>
        </p:spPr>
        <p:txBody>
          <a:bodyPr wrap="square" rtlCol="0" anchor="ctr"/>
          <a:lstStyle/>
          <a:p>
            <a:pPr algn="l" indent="0" marL="0">
              <a:buNone/>
            </a:pPr>
            <a:r>
              <a:rPr lang="en-US" sz="1100" b="1" spc="300" kern="0" dirty="0">
                <a:solidFill>
                  <a:srgbClr val="D17E64"/>
                </a:solidFill>
                <a:latin typeface="Open Sans" pitchFamily="34" charset="0"/>
                <a:ea typeface="Open Sans" pitchFamily="34" charset="-122"/>
                <a:cs typeface="Open Sans" pitchFamily="34" charset="-120"/>
              </a:rPr>
              <a:t>NEXT STEPS</a:t>
            </a:r>
            <a:endParaRPr lang="en-US" sz="1100" dirty="0"/>
          </a:p>
        </p:txBody>
      </p:sp>
      <p:sp>
        <p:nvSpPr>
          <p:cNvPr id="3" name="Text 1"/>
          <p:cNvSpPr/>
          <p:nvPr/>
        </p:nvSpPr>
        <p:spPr>
          <a:xfrm>
            <a:off x="502920" y="530352"/>
            <a:ext cx="8138160" cy="658368"/>
          </a:xfrm>
          <a:prstGeom prst="rect">
            <a:avLst/>
          </a:prstGeom>
          <a:noFill/>
          <a:ln/>
        </p:spPr>
        <p:txBody>
          <a:bodyPr wrap="square" rtlCol="0" anchor="ctr"/>
          <a:lstStyle/>
          <a:p>
            <a:pPr algn="l" indent="0" marL="0">
              <a:buNone/>
            </a:pPr>
            <a:r>
              <a:rPr lang="en-US" sz="2800" b="1" dirty="0">
                <a:solidFill>
                  <a:srgbClr val="2F5361"/>
                </a:solidFill>
                <a:latin typeface="Open Sans" pitchFamily="34" charset="0"/>
                <a:ea typeface="Open Sans" pitchFamily="34" charset="-122"/>
                <a:cs typeface="Open Sans" pitchFamily="34" charset="-120"/>
              </a:rPr>
              <a:t>Action Items: Next 60 Days</a:t>
            </a:r>
            <a:endParaRPr lang="en-US" sz="2800" dirty="0"/>
          </a:p>
        </p:txBody>
      </p:sp>
      <p:sp>
        <p:nvSpPr>
          <p:cNvPr id="4" name="Shape 2"/>
          <p:cNvSpPr/>
          <p:nvPr/>
        </p:nvSpPr>
        <p:spPr>
          <a:xfrm>
            <a:off x="502920" y="1298448"/>
            <a:ext cx="8138160" cy="420624"/>
          </a:xfrm>
          <a:prstGeom prst="rect">
            <a:avLst/>
          </a:prstGeom>
          <a:solidFill>
            <a:srgbClr val="F7F3EE"/>
          </a:solidFill>
          <a:ln w="6350">
            <a:solidFill>
              <a:srgbClr val="DDE8EC"/>
            </a:solidFill>
            <a:prstDash val="solid"/>
          </a:ln>
        </p:spPr>
      </p:sp>
      <p:sp>
        <p:nvSpPr>
          <p:cNvPr id="5" name="Shape 3"/>
          <p:cNvSpPr/>
          <p:nvPr/>
        </p:nvSpPr>
        <p:spPr>
          <a:xfrm>
            <a:off x="630936" y="1426464"/>
            <a:ext cx="164592" cy="164592"/>
          </a:xfrm>
          <a:prstGeom prst="oval">
            <a:avLst/>
          </a:prstGeom>
          <a:solidFill>
            <a:srgbClr val="2F5361"/>
          </a:solidFill>
          <a:ln w="12700">
            <a:solidFill>
              <a:srgbClr val="2F5361"/>
            </a:solidFill>
            <a:prstDash val="solid"/>
          </a:ln>
        </p:spPr>
      </p:sp>
      <p:sp>
        <p:nvSpPr>
          <p:cNvPr id="6" name="Text 4"/>
          <p:cNvSpPr/>
          <p:nvPr/>
        </p:nvSpPr>
        <p:spPr>
          <a:xfrm>
            <a:off x="905256" y="1335024"/>
            <a:ext cx="5669280" cy="347472"/>
          </a:xfrm>
          <a:prstGeom prst="rect">
            <a:avLst/>
          </a:prstGeom>
          <a:noFill/>
          <a:ln/>
        </p:spPr>
        <p:txBody>
          <a:bodyPr wrap="square" rtlCol="0" anchor="ctr"/>
          <a:lstStyle/>
          <a:p>
            <a:pPr algn="l" indent="0" marL="0">
              <a:buNone/>
            </a:pPr>
            <a:r>
              <a:rPr lang="en-US" sz="1150" dirty="0">
                <a:solidFill>
                  <a:srgbClr val="1A3340"/>
                </a:solidFill>
                <a:latin typeface="Open Sans" pitchFamily="34" charset="0"/>
                <a:ea typeface="Open Sans" pitchFamily="34" charset="-122"/>
                <a:cs typeface="Open Sans" pitchFamily="34" charset="-120"/>
              </a:rPr>
              <a:t>Confirm all working group leads and members</a:t>
            </a:r>
            <a:endParaRPr lang="en-US" sz="1150" dirty="0"/>
          </a:p>
        </p:txBody>
      </p:sp>
      <p:sp>
        <p:nvSpPr>
          <p:cNvPr id="7" name="Text 5"/>
          <p:cNvSpPr/>
          <p:nvPr/>
        </p:nvSpPr>
        <p:spPr>
          <a:xfrm>
            <a:off x="6629400" y="1362456"/>
            <a:ext cx="1874520" cy="292608"/>
          </a:xfrm>
          <a:prstGeom prst="rect">
            <a:avLst/>
          </a:prstGeom>
          <a:noFill/>
          <a:ln/>
        </p:spPr>
        <p:txBody>
          <a:bodyPr wrap="square" rtlCol="0" anchor="ctr"/>
          <a:lstStyle/>
          <a:p>
            <a:pPr algn="r" indent="0" marL="0">
              <a:buNone/>
            </a:pPr>
            <a:r>
              <a:rPr lang="en-US" sz="950" b="1" dirty="0">
                <a:solidFill>
                  <a:srgbClr val="2F5361"/>
                </a:solidFill>
                <a:latin typeface="Open Sans" pitchFamily="34" charset="0"/>
                <a:ea typeface="Open Sans" pitchFamily="34" charset="-122"/>
                <a:cs typeface="Open Sans" pitchFamily="34" charset="-120"/>
              </a:rPr>
              <a:t>All attendees</a:t>
            </a:r>
            <a:endParaRPr lang="en-US" sz="950" dirty="0"/>
          </a:p>
        </p:txBody>
      </p:sp>
      <p:sp>
        <p:nvSpPr>
          <p:cNvPr id="8" name="Shape 6"/>
          <p:cNvSpPr/>
          <p:nvPr/>
        </p:nvSpPr>
        <p:spPr>
          <a:xfrm>
            <a:off x="502920" y="1769364"/>
            <a:ext cx="8138160" cy="420624"/>
          </a:xfrm>
          <a:prstGeom prst="rect">
            <a:avLst/>
          </a:prstGeom>
          <a:solidFill>
            <a:srgbClr val="FFFFFF"/>
          </a:solidFill>
          <a:ln w="6350">
            <a:solidFill>
              <a:srgbClr val="DDE8EC"/>
            </a:solidFill>
            <a:prstDash val="solid"/>
          </a:ln>
        </p:spPr>
      </p:sp>
      <p:sp>
        <p:nvSpPr>
          <p:cNvPr id="9" name="Shape 7"/>
          <p:cNvSpPr/>
          <p:nvPr/>
        </p:nvSpPr>
        <p:spPr>
          <a:xfrm>
            <a:off x="630936" y="1897380"/>
            <a:ext cx="164592" cy="164592"/>
          </a:xfrm>
          <a:prstGeom prst="oval">
            <a:avLst/>
          </a:prstGeom>
          <a:solidFill>
            <a:srgbClr val="2F5361"/>
          </a:solidFill>
          <a:ln w="12700">
            <a:solidFill>
              <a:srgbClr val="2F5361"/>
            </a:solidFill>
            <a:prstDash val="solid"/>
          </a:ln>
        </p:spPr>
      </p:sp>
      <p:sp>
        <p:nvSpPr>
          <p:cNvPr id="10" name="Text 8"/>
          <p:cNvSpPr/>
          <p:nvPr/>
        </p:nvSpPr>
        <p:spPr>
          <a:xfrm>
            <a:off x="905256" y="1805940"/>
            <a:ext cx="5669280" cy="347472"/>
          </a:xfrm>
          <a:prstGeom prst="rect">
            <a:avLst/>
          </a:prstGeom>
          <a:noFill/>
          <a:ln/>
        </p:spPr>
        <p:txBody>
          <a:bodyPr wrap="square" rtlCol="0" anchor="ctr"/>
          <a:lstStyle/>
          <a:p>
            <a:pPr algn="l" indent="0" marL="0">
              <a:buNone/>
            </a:pPr>
            <a:r>
              <a:rPr lang="en-US" sz="1150" dirty="0">
                <a:solidFill>
                  <a:srgbClr val="1A3340"/>
                </a:solidFill>
                <a:latin typeface="Open Sans" pitchFamily="34" charset="0"/>
                <a:ea typeface="Open Sans" pitchFamily="34" charset="-122"/>
                <a:cs typeface="Open Sans" pitchFamily="34" charset="-120"/>
              </a:rPr>
              <a:t>Select state of incorporation</a:t>
            </a:r>
            <a:endParaRPr lang="en-US" sz="1150" dirty="0"/>
          </a:p>
        </p:txBody>
      </p:sp>
      <p:sp>
        <p:nvSpPr>
          <p:cNvPr id="11" name="Text 9"/>
          <p:cNvSpPr/>
          <p:nvPr/>
        </p:nvSpPr>
        <p:spPr>
          <a:xfrm>
            <a:off x="6629400" y="1833372"/>
            <a:ext cx="1874520" cy="292608"/>
          </a:xfrm>
          <a:prstGeom prst="rect">
            <a:avLst/>
          </a:prstGeom>
          <a:noFill/>
          <a:ln/>
        </p:spPr>
        <p:txBody>
          <a:bodyPr wrap="square" rtlCol="0" anchor="ctr"/>
          <a:lstStyle/>
          <a:p>
            <a:pPr algn="r" indent="0" marL="0">
              <a:buNone/>
            </a:pPr>
            <a:r>
              <a:rPr lang="en-US" sz="950" b="1" dirty="0">
                <a:solidFill>
                  <a:srgbClr val="2F5361"/>
                </a:solidFill>
                <a:latin typeface="Open Sans" pitchFamily="34" charset="0"/>
                <a:ea typeface="Open Sans" pitchFamily="34" charset="-122"/>
                <a:cs typeface="Open Sans" pitchFamily="34" charset="-120"/>
              </a:rPr>
              <a:t>Governance group</a:t>
            </a:r>
            <a:endParaRPr lang="en-US" sz="950" dirty="0"/>
          </a:p>
        </p:txBody>
      </p:sp>
      <p:sp>
        <p:nvSpPr>
          <p:cNvPr id="12" name="Shape 10"/>
          <p:cNvSpPr/>
          <p:nvPr/>
        </p:nvSpPr>
        <p:spPr>
          <a:xfrm>
            <a:off x="502920" y="2240280"/>
            <a:ext cx="8138160" cy="420624"/>
          </a:xfrm>
          <a:prstGeom prst="rect">
            <a:avLst/>
          </a:prstGeom>
          <a:solidFill>
            <a:srgbClr val="F7F3EE"/>
          </a:solidFill>
          <a:ln w="6350">
            <a:solidFill>
              <a:srgbClr val="DDE8EC"/>
            </a:solidFill>
            <a:prstDash val="solid"/>
          </a:ln>
        </p:spPr>
      </p:sp>
      <p:sp>
        <p:nvSpPr>
          <p:cNvPr id="13" name="Shape 11"/>
          <p:cNvSpPr/>
          <p:nvPr/>
        </p:nvSpPr>
        <p:spPr>
          <a:xfrm>
            <a:off x="630936" y="2368296"/>
            <a:ext cx="164592" cy="164592"/>
          </a:xfrm>
          <a:prstGeom prst="oval">
            <a:avLst/>
          </a:prstGeom>
          <a:solidFill>
            <a:srgbClr val="2F5361"/>
          </a:solidFill>
          <a:ln w="12700">
            <a:solidFill>
              <a:srgbClr val="2F5361"/>
            </a:solidFill>
            <a:prstDash val="solid"/>
          </a:ln>
        </p:spPr>
      </p:sp>
      <p:sp>
        <p:nvSpPr>
          <p:cNvPr id="14" name="Text 12"/>
          <p:cNvSpPr/>
          <p:nvPr/>
        </p:nvSpPr>
        <p:spPr>
          <a:xfrm>
            <a:off x="905256" y="2276856"/>
            <a:ext cx="5669280" cy="347472"/>
          </a:xfrm>
          <a:prstGeom prst="rect">
            <a:avLst/>
          </a:prstGeom>
          <a:noFill/>
          <a:ln/>
        </p:spPr>
        <p:txBody>
          <a:bodyPr wrap="square" rtlCol="0" anchor="ctr"/>
          <a:lstStyle/>
          <a:p>
            <a:pPr algn="l" indent="0" marL="0">
              <a:buNone/>
            </a:pPr>
            <a:r>
              <a:rPr lang="en-US" sz="1150" dirty="0">
                <a:solidFill>
                  <a:srgbClr val="1A3340"/>
                </a:solidFill>
                <a:latin typeface="Open Sans" pitchFamily="34" charset="0"/>
                <a:ea typeface="Open Sans" pitchFamily="34" charset="-122"/>
                <a:cs typeface="Open Sans" pitchFamily="34" charset="-120"/>
              </a:rPr>
              <a:t>Identify nonprofit legal help</a:t>
            </a:r>
            <a:endParaRPr lang="en-US" sz="1150" dirty="0"/>
          </a:p>
        </p:txBody>
      </p:sp>
      <p:sp>
        <p:nvSpPr>
          <p:cNvPr id="15" name="Text 13"/>
          <p:cNvSpPr/>
          <p:nvPr/>
        </p:nvSpPr>
        <p:spPr>
          <a:xfrm>
            <a:off x="6629400" y="2304288"/>
            <a:ext cx="1874520" cy="292608"/>
          </a:xfrm>
          <a:prstGeom prst="rect">
            <a:avLst/>
          </a:prstGeom>
          <a:noFill/>
          <a:ln/>
        </p:spPr>
        <p:txBody>
          <a:bodyPr wrap="square" rtlCol="0" anchor="ctr"/>
          <a:lstStyle/>
          <a:p>
            <a:pPr algn="r" indent="0" marL="0">
              <a:buNone/>
            </a:pPr>
            <a:r>
              <a:rPr lang="en-US" sz="950" b="1" dirty="0">
                <a:solidFill>
                  <a:srgbClr val="2F5361"/>
                </a:solidFill>
                <a:latin typeface="Open Sans" pitchFamily="34" charset="0"/>
                <a:ea typeface="Open Sans" pitchFamily="34" charset="-122"/>
                <a:cs typeface="Open Sans" pitchFamily="34" charset="-120"/>
              </a:rPr>
              <a:t>Governance group</a:t>
            </a:r>
            <a:endParaRPr lang="en-US" sz="950" dirty="0"/>
          </a:p>
        </p:txBody>
      </p:sp>
      <p:sp>
        <p:nvSpPr>
          <p:cNvPr id="16" name="Shape 14"/>
          <p:cNvSpPr/>
          <p:nvPr/>
        </p:nvSpPr>
        <p:spPr>
          <a:xfrm>
            <a:off x="502920" y="2711196"/>
            <a:ext cx="8138160" cy="420624"/>
          </a:xfrm>
          <a:prstGeom prst="rect">
            <a:avLst/>
          </a:prstGeom>
          <a:solidFill>
            <a:srgbClr val="FFFFFF"/>
          </a:solidFill>
          <a:ln w="6350">
            <a:solidFill>
              <a:srgbClr val="DDE8EC"/>
            </a:solidFill>
            <a:prstDash val="solid"/>
          </a:ln>
        </p:spPr>
      </p:sp>
      <p:sp>
        <p:nvSpPr>
          <p:cNvPr id="17" name="Shape 15"/>
          <p:cNvSpPr/>
          <p:nvPr/>
        </p:nvSpPr>
        <p:spPr>
          <a:xfrm>
            <a:off x="630936" y="2839212"/>
            <a:ext cx="164592" cy="164592"/>
          </a:xfrm>
          <a:prstGeom prst="oval">
            <a:avLst/>
          </a:prstGeom>
          <a:solidFill>
            <a:srgbClr val="D17E64"/>
          </a:solidFill>
          <a:ln w="12700">
            <a:solidFill>
              <a:srgbClr val="D17E64"/>
            </a:solidFill>
            <a:prstDash val="solid"/>
          </a:ln>
        </p:spPr>
      </p:sp>
      <p:sp>
        <p:nvSpPr>
          <p:cNvPr id="18" name="Text 16"/>
          <p:cNvSpPr/>
          <p:nvPr/>
        </p:nvSpPr>
        <p:spPr>
          <a:xfrm>
            <a:off x="905256" y="2747772"/>
            <a:ext cx="5669280" cy="347472"/>
          </a:xfrm>
          <a:prstGeom prst="rect">
            <a:avLst/>
          </a:prstGeom>
          <a:noFill/>
          <a:ln/>
        </p:spPr>
        <p:txBody>
          <a:bodyPr wrap="square" rtlCol="0" anchor="ctr"/>
          <a:lstStyle/>
          <a:p>
            <a:pPr algn="l" indent="0" marL="0">
              <a:buNone/>
            </a:pPr>
            <a:r>
              <a:rPr lang="en-US" sz="1150" dirty="0">
                <a:solidFill>
                  <a:srgbClr val="1A3340"/>
                </a:solidFill>
                <a:latin typeface="Open Sans" pitchFamily="34" charset="0"/>
                <a:ea typeface="Open Sans" pitchFamily="34" charset="-122"/>
                <a:cs typeface="Open Sans" pitchFamily="34" charset="-120"/>
              </a:rPr>
              <a:t>Website Under Construction</a:t>
            </a:r>
            <a:endParaRPr lang="en-US" sz="1150" dirty="0"/>
          </a:p>
        </p:txBody>
      </p:sp>
      <p:sp>
        <p:nvSpPr>
          <p:cNvPr id="19" name="Text 17"/>
          <p:cNvSpPr/>
          <p:nvPr/>
        </p:nvSpPr>
        <p:spPr>
          <a:xfrm>
            <a:off x="6629400" y="2775204"/>
            <a:ext cx="1874520" cy="292608"/>
          </a:xfrm>
          <a:prstGeom prst="rect">
            <a:avLst/>
          </a:prstGeom>
          <a:noFill/>
          <a:ln/>
        </p:spPr>
        <p:txBody>
          <a:bodyPr wrap="square" rtlCol="0" anchor="ctr"/>
          <a:lstStyle/>
          <a:p>
            <a:pPr algn="r" indent="0" marL="0">
              <a:buNone/>
            </a:pPr>
            <a:r>
              <a:rPr lang="en-US" sz="950" b="1" dirty="0">
                <a:solidFill>
                  <a:srgbClr val="D17E64"/>
                </a:solidFill>
                <a:latin typeface="Open Sans" pitchFamily="34" charset="0"/>
                <a:ea typeface="Open Sans" pitchFamily="34" charset="-122"/>
                <a:cs typeface="Open Sans" pitchFamily="34" charset="-120"/>
              </a:rPr>
              <a:t>Comms group</a:t>
            </a:r>
            <a:endParaRPr lang="en-US" sz="950" dirty="0"/>
          </a:p>
        </p:txBody>
      </p:sp>
      <p:sp>
        <p:nvSpPr>
          <p:cNvPr id="20" name="Shape 18"/>
          <p:cNvSpPr/>
          <p:nvPr/>
        </p:nvSpPr>
        <p:spPr>
          <a:xfrm>
            <a:off x="502920" y="3182112"/>
            <a:ext cx="8138160" cy="420624"/>
          </a:xfrm>
          <a:prstGeom prst="rect">
            <a:avLst/>
          </a:prstGeom>
          <a:solidFill>
            <a:srgbClr val="F7F3EE"/>
          </a:solidFill>
          <a:ln w="6350">
            <a:solidFill>
              <a:srgbClr val="DDE8EC"/>
            </a:solidFill>
            <a:prstDash val="solid"/>
          </a:ln>
        </p:spPr>
      </p:sp>
      <p:sp>
        <p:nvSpPr>
          <p:cNvPr id="21" name="Shape 19"/>
          <p:cNvSpPr/>
          <p:nvPr/>
        </p:nvSpPr>
        <p:spPr>
          <a:xfrm>
            <a:off x="630936" y="3310128"/>
            <a:ext cx="164592" cy="164592"/>
          </a:xfrm>
          <a:prstGeom prst="oval">
            <a:avLst/>
          </a:prstGeom>
          <a:solidFill>
            <a:srgbClr val="D17E64"/>
          </a:solidFill>
          <a:ln w="12700">
            <a:solidFill>
              <a:srgbClr val="D17E64"/>
            </a:solidFill>
            <a:prstDash val="solid"/>
          </a:ln>
        </p:spPr>
      </p:sp>
      <p:sp>
        <p:nvSpPr>
          <p:cNvPr id="22" name="Text 20"/>
          <p:cNvSpPr/>
          <p:nvPr/>
        </p:nvSpPr>
        <p:spPr>
          <a:xfrm>
            <a:off x="905256" y="3218688"/>
            <a:ext cx="5669280" cy="347472"/>
          </a:xfrm>
          <a:prstGeom prst="rect">
            <a:avLst/>
          </a:prstGeom>
          <a:noFill/>
          <a:ln/>
        </p:spPr>
        <p:txBody>
          <a:bodyPr wrap="square" rtlCol="0" anchor="ctr"/>
          <a:lstStyle/>
          <a:p>
            <a:pPr algn="l" indent="0" marL="0">
              <a:buNone/>
            </a:pPr>
            <a:r>
              <a:rPr lang="en-US" sz="1150" dirty="0">
                <a:solidFill>
                  <a:srgbClr val="1A3340"/>
                </a:solidFill>
                <a:latin typeface="Open Sans" pitchFamily="34" charset="0"/>
                <a:ea typeface="Open Sans" pitchFamily="34" charset="-122"/>
                <a:cs typeface="Open Sans" pitchFamily="34" charset="-120"/>
              </a:rPr>
              <a:t>Conceptualize foundation logo</a:t>
            </a:r>
            <a:endParaRPr lang="en-US" sz="1150" dirty="0"/>
          </a:p>
        </p:txBody>
      </p:sp>
      <p:sp>
        <p:nvSpPr>
          <p:cNvPr id="23" name="Text 21"/>
          <p:cNvSpPr/>
          <p:nvPr/>
        </p:nvSpPr>
        <p:spPr>
          <a:xfrm>
            <a:off x="6629400" y="3246120"/>
            <a:ext cx="1874520" cy="292608"/>
          </a:xfrm>
          <a:prstGeom prst="rect">
            <a:avLst/>
          </a:prstGeom>
          <a:noFill/>
          <a:ln/>
        </p:spPr>
        <p:txBody>
          <a:bodyPr wrap="square" rtlCol="0" anchor="ctr"/>
          <a:lstStyle/>
          <a:p>
            <a:pPr algn="r" indent="0" marL="0">
              <a:buNone/>
            </a:pPr>
            <a:r>
              <a:rPr lang="en-US" sz="950" b="1" dirty="0">
                <a:solidFill>
                  <a:srgbClr val="D17E64"/>
                </a:solidFill>
                <a:latin typeface="Open Sans" pitchFamily="34" charset="0"/>
                <a:ea typeface="Open Sans" pitchFamily="34" charset="-122"/>
                <a:cs typeface="Open Sans" pitchFamily="34" charset="-120"/>
              </a:rPr>
              <a:t>Comms group</a:t>
            </a:r>
            <a:endParaRPr lang="en-US" sz="950" dirty="0"/>
          </a:p>
        </p:txBody>
      </p:sp>
      <p:sp>
        <p:nvSpPr>
          <p:cNvPr id="24" name="Shape 22"/>
          <p:cNvSpPr/>
          <p:nvPr/>
        </p:nvSpPr>
        <p:spPr>
          <a:xfrm>
            <a:off x="502920" y="3653028"/>
            <a:ext cx="8138160" cy="420624"/>
          </a:xfrm>
          <a:prstGeom prst="rect">
            <a:avLst/>
          </a:prstGeom>
          <a:solidFill>
            <a:srgbClr val="FFFFFF"/>
          </a:solidFill>
          <a:ln w="6350">
            <a:solidFill>
              <a:srgbClr val="DDE8EC"/>
            </a:solidFill>
            <a:prstDash val="solid"/>
          </a:ln>
        </p:spPr>
      </p:sp>
      <p:sp>
        <p:nvSpPr>
          <p:cNvPr id="25" name="Shape 23"/>
          <p:cNvSpPr/>
          <p:nvPr/>
        </p:nvSpPr>
        <p:spPr>
          <a:xfrm>
            <a:off x="630936" y="3781044"/>
            <a:ext cx="164592" cy="164592"/>
          </a:xfrm>
          <a:prstGeom prst="oval">
            <a:avLst/>
          </a:prstGeom>
          <a:solidFill>
            <a:srgbClr val="2F5361"/>
          </a:solidFill>
          <a:ln w="12700">
            <a:solidFill>
              <a:srgbClr val="2F5361"/>
            </a:solidFill>
            <a:prstDash val="solid"/>
          </a:ln>
        </p:spPr>
      </p:sp>
      <p:sp>
        <p:nvSpPr>
          <p:cNvPr id="26" name="Text 24"/>
          <p:cNvSpPr/>
          <p:nvPr/>
        </p:nvSpPr>
        <p:spPr>
          <a:xfrm>
            <a:off x="905256" y="3689604"/>
            <a:ext cx="5669280" cy="347472"/>
          </a:xfrm>
          <a:prstGeom prst="rect">
            <a:avLst/>
          </a:prstGeom>
          <a:noFill/>
          <a:ln/>
        </p:spPr>
        <p:txBody>
          <a:bodyPr wrap="square" rtlCol="0" anchor="ctr"/>
          <a:lstStyle/>
          <a:p>
            <a:pPr algn="l" indent="0" marL="0">
              <a:buNone/>
            </a:pPr>
            <a:r>
              <a:rPr lang="en-US" sz="1150" dirty="0">
                <a:solidFill>
                  <a:srgbClr val="1A3340"/>
                </a:solidFill>
                <a:latin typeface="Open Sans" pitchFamily="34" charset="0"/>
                <a:ea typeface="Open Sans" pitchFamily="34" charset="-122"/>
                <a:cs typeface="Open Sans" pitchFamily="34" charset="-120"/>
              </a:rPr>
              <a:t>Draft bylaws for board review</a:t>
            </a:r>
            <a:endParaRPr lang="en-US" sz="1150" dirty="0"/>
          </a:p>
        </p:txBody>
      </p:sp>
      <p:sp>
        <p:nvSpPr>
          <p:cNvPr id="27" name="Text 25"/>
          <p:cNvSpPr/>
          <p:nvPr/>
        </p:nvSpPr>
        <p:spPr>
          <a:xfrm>
            <a:off x="6629400" y="3717036"/>
            <a:ext cx="1874520" cy="292608"/>
          </a:xfrm>
          <a:prstGeom prst="rect">
            <a:avLst/>
          </a:prstGeom>
          <a:noFill/>
          <a:ln/>
        </p:spPr>
        <p:txBody>
          <a:bodyPr wrap="square" rtlCol="0" anchor="ctr"/>
          <a:lstStyle/>
          <a:p>
            <a:pPr algn="r" indent="0" marL="0">
              <a:buNone/>
            </a:pPr>
            <a:r>
              <a:rPr lang="en-US" sz="950" b="1" dirty="0">
                <a:solidFill>
                  <a:srgbClr val="2F5361"/>
                </a:solidFill>
                <a:latin typeface="Open Sans" pitchFamily="34" charset="0"/>
                <a:ea typeface="Open Sans" pitchFamily="34" charset="-122"/>
                <a:cs typeface="Open Sans" pitchFamily="34" charset="-120"/>
              </a:rPr>
              <a:t>Governance group</a:t>
            </a:r>
            <a:endParaRPr lang="en-US" sz="950" dirty="0"/>
          </a:p>
        </p:txBody>
      </p:sp>
      <p:sp>
        <p:nvSpPr>
          <p:cNvPr id="28" name="Shape 26"/>
          <p:cNvSpPr/>
          <p:nvPr/>
        </p:nvSpPr>
        <p:spPr>
          <a:xfrm>
            <a:off x="502920" y="4123944"/>
            <a:ext cx="8138160" cy="420624"/>
          </a:xfrm>
          <a:prstGeom prst="rect">
            <a:avLst/>
          </a:prstGeom>
          <a:solidFill>
            <a:srgbClr val="F7F3EE"/>
          </a:solidFill>
          <a:ln w="6350">
            <a:solidFill>
              <a:srgbClr val="DDE8EC"/>
            </a:solidFill>
            <a:prstDash val="solid"/>
          </a:ln>
        </p:spPr>
      </p:sp>
      <p:sp>
        <p:nvSpPr>
          <p:cNvPr id="29" name="Shape 27"/>
          <p:cNvSpPr/>
          <p:nvPr/>
        </p:nvSpPr>
        <p:spPr>
          <a:xfrm>
            <a:off x="630936" y="4251960"/>
            <a:ext cx="164592" cy="164592"/>
          </a:xfrm>
          <a:prstGeom prst="oval">
            <a:avLst/>
          </a:prstGeom>
          <a:solidFill>
            <a:srgbClr val="D8AB67"/>
          </a:solidFill>
          <a:ln w="12700">
            <a:solidFill>
              <a:srgbClr val="D8AB67"/>
            </a:solidFill>
            <a:prstDash val="solid"/>
          </a:ln>
        </p:spPr>
      </p:sp>
      <p:sp>
        <p:nvSpPr>
          <p:cNvPr id="30" name="Text 28"/>
          <p:cNvSpPr/>
          <p:nvPr/>
        </p:nvSpPr>
        <p:spPr>
          <a:xfrm>
            <a:off x="905256" y="4160520"/>
            <a:ext cx="5669280" cy="347472"/>
          </a:xfrm>
          <a:prstGeom prst="rect">
            <a:avLst/>
          </a:prstGeom>
          <a:noFill/>
          <a:ln/>
        </p:spPr>
        <p:txBody>
          <a:bodyPr wrap="square" rtlCol="0" anchor="ctr"/>
          <a:lstStyle/>
          <a:p>
            <a:pPr algn="l" indent="0" marL="0">
              <a:buNone/>
            </a:pPr>
            <a:r>
              <a:rPr lang="en-US" sz="1150" dirty="0">
                <a:solidFill>
                  <a:srgbClr val="1A3340"/>
                </a:solidFill>
                <a:latin typeface="Open Sans" pitchFamily="34" charset="0"/>
                <a:ea typeface="Open Sans" pitchFamily="34" charset="-122"/>
                <a:cs typeface="Open Sans" pitchFamily="34" charset="-120"/>
              </a:rPr>
              <a:t>Schedule next meeting (60 days)</a:t>
            </a:r>
            <a:endParaRPr lang="en-US" sz="1150" dirty="0"/>
          </a:p>
        </p:txBody>
      </p:sp>
      <p:sp>
        <p:nvSpPr>
          <p:cNvPr id="31" name="Text 29"/>
          <p:cNvSpPr/>
          <p:nvPr/>
        </p:nvSpPr>
        <p:spPr>
          <a:xfrm>
            <a:off x="6629400" y="4187952"/>
            <a:ext cx="1874520" cy="292608"/>
          </a:xfrm>
          <a:prstGeom prst="rect">
            <a:avLst/>
          </a:prstGeom>
          <a:noFill/>
          <a:ln/>
        </p:spPr>
        <p:txBody>
          <a:bodyPr wrap="square" rtlCol="0" anchor="ctr"/>
          <a:lstStyle/>
          <a:p>
            <a:pPr algn="r" indent="0" marL="0">
              <a:buNone/>
            </a:pPr>
            <a:r>
              <a:rPr lang="en-US" sz="950" b="1" dirty="0">
                <a:solidFill>
                  <a:srgbClr val="D8AB67"/>
                </a:solidFill>
                <a:latin typeface="Open Sans" pitchFamily="34" charset="0"/>
                <a:ea typeface="Open Sans" pitchFamily="34" charset="-122"/>
                <a:cs typeface="Open Sans" pitchFamily="34" charset="-120"/>
              </a:rPr>
              <a:t>Chair</a:t>
            </a:r>
            <a:endParaRPr lang="en-US" sz="950" dirty="0"/>
          </a:p>
        </p:txBody>
      </p:sp>
      <p:sp>
        <p:nvSpPr>
          <p:cNvPr id="32" name="Shape 30"/>
          <p:cNvSpPr/>
          <p:nvPr/>
        </p:nvSpPr>
        <p:spPr>
          <a:xfrm>
            <a:off x="0" y="4773168"/>
            <a:ext cx="9144000" cy="9144"/>
          </a:xfrm>
          <a:prstGeom prst="rect">
            <a:avLst/>
          </a:prstGeom>
          <a:solidFill>
            <a:srgbClr val="DDE8EC"/>
          </a:solidFill>
          <a:ln w="12700">
            <a:solidFill>
              <a:srgbClr val="DDE8EC"/>
            </a:solidFill>
            <a:prstDash val="solid"/>
          </a:ln>
        </p:spPr>
      </p:sp>
      <p:sp>
        <p:nvSpPr>
          <p:cNvPr id="33" name="Text 31"/>
          <p:cNvSpPr/>
          <p:nvPr/>
        </p:nvSpPr>
        <p:spPr>
          <a:xfrm>
            <a:off x="502920" y="4828032"/>
            <a:ext cx="8138160" cy="182880"/>
          </a:xfrm>
          <a:prstGeom prst="rect">
            <a:avLst/>
          </a:prstGeom>
          <a:noFill/>
          <a:ln/>
        </p:spPr>
        <p:txBody>
          <a:bodyPr wrap="square" rtlCol="0" anchor="ctr"/>
          <a:lstStyle/>
          <a:p>
            <a:pPr algn="l" indent="0" marL="0">
              <a:buNone/>
            </a:pPr>
            <a:r>
              <a:rPr lang="en-US" sz="800" dirty="0">
                <a:solidFill>
                  <a:srgbClr val="7A9BAB"/>
                </a:solidFill>
                <a:latin typeface="Open Sans" pitchFamily="34" charset="0"/>
                <a:ea typeface="Open Sans" pitchFamily="34" charset="-122"/>
                <a:cs typeface="Open Sans" pitchFamily="34" charset="-120"/>
              </a:rPr>
              <a:t>SETD5 Syndrome Foundation  ·  Founding Meeting</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3EE"/>
        </a:solidFill>
      </p:bgPr>
    </p:bg>
    <p:spTree>
      <p:nvGrpSpPr>
        <p:cNvPr id="1" name=""/>
        <p:cNvGrpSpPr/>
        <p:nvPr/>
      </p:nvGrpSpPr>
      <p:grpSpPr>
        <a:xfrm>
          <a:off x="0" y="0"/>
          <a:ext cx="0" cy="0"/>
          <a:chOff x="0" y="0"/>
          <a:chExt cx="0" cy="0"/>
        </a:xfrm>
      </p:grpSpPr>
      <p:sp>
        <p:nvSpPr>
          <p:cNvPr id="2" name="Text 0"/>
          <p:cNvSpPr/>
          <p:nvPr/>
        </p:nvSpPr>
        <p:spPr>
          <a:xfrm>
            <a:off x="502920" y="256032"/>
            <a:ext cx="8138160" cy="256032"/>
          </a:xfrm>
          <a:prstGeom prst="rect">
            <a:avLst/>
          </a:prstGeom>
          <a:noFill/>
          <a:ln/>
        </p:spPr>
        <p:txBody>
          <a:bodyPr wrap="square" rtlCol="0" anchor="ctr"/>
          <a:lstStyle/>
          <a:p>
            <a:pPr algn="l" indent="0" marL="0">
              <a:buNone/>
            </a:pPr>
            <a:r>
              <a:rPr lang="en-US" sz="1100" b="1" spc="300" kern="0" dirty="0">
                <a:solidFill>
                  <a:srgbClr val="D17E64"/>
                </a:solidFill>
                <a:latin typeface="Open Sans" pitchFamily="34" charset="0"/>
                <a:ea typeface="Open Sans" pitchFamily="34" charset="-122"/>
                <a:cs typeface="Open Sans" pitchFamily="34" charset="-120"/>
              </a:rPr>
              <a:t>FROM SIMONS SEARCHLIGHT</a:t>
            </a:r>
            <a:endParaRPr lang="en-US" sz="1100" dirty="0"/>
          </a:p>
        </p:txBody>
      </p:sp>
      <p:sp>
        <p:nvSpPr>
          <p:cNvPr id="3" name="Text 1"/>
          <p:cNvSpPr/>
          <p:nvPr/>
        </p:nvSpPr>
        <p:spPr>
          <a:xfrm>
            <a:off x="502920" y="512064"/>
            <a:ext cx="8138160" cy="658368"/>
          </a:xfrm>
          <a:prstGeom prst="rect">
            <a:avLst/>
          </a:prstGeom>
          <a:noFill/>
          <a:ln/>
        </p:spPr>
        <p:txBody>
          <a:bodyPr wrap="square" rtlCol="0" anchor="ctr"/>
          <a:lstStyle/>
          <a:p>
            <a:pPr algn="l" indent="0" marL="0">
              <a:buNone/>
            </a:pPr>
            <a:r>
              <a:rPr lang="en-US" sz="2600" b="1" dirty="0">
                <a:solidFill>
                  <a:srgbClr val="2F5361"/>
                </a:solidFill>
                <a:latin typeface="Open Sans" pitchFamily="34" charset="0"/>
                <a:ea typeface="Open Sans" pitchFamily="34" charset="-122"/>
                <a:cs typeface="Open Sans" pitchFamily="34" charset="-120"/>
              </a:rPr>
              <a:t>Helpful Resources</a:t>
            </a:r>
            <a:endParaRPr lang="en-US" sz="2600" dirty="0"/>
          </a:p>
        </p:txBody>
      </p:sp>
      <p:sp>
        <p:nvSpPr>
          <p:cNvPr id="4" name="Text 2"/>
          <p:cNvSpPr/>
          <p:nvPr/>
        </p:nvSpPr>
        <p:spPr>
          <a:xfrm>
            <a:off x="502920" y="1298448"/>
            <a:ext cx="4937760" cy="3337560"/>
          </a:xfrm>
          <a:prstGeom prst="rect">
            <a:avLst/>
          </a:prstGeom>
          <a:noFill/>
          <a:ln/>
        </p:spPr>
        <p:txBody>
          <a:bodyPr wrap="square" rtlCol="0" anchor="ctr"/>
          <a:lstStyle/>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PAG-specific support resources</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Patient Advocacy Partnerships: Empowering Communities in Research</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Participation Progress Dashboard (current metrics on your community)</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PAG Outreach Toolkit: IRB-approved messaging, videos, and graphics</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SETD5 Gene Webpage</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Video: Simons Searchlight &amp; Jordan's Guardian Angels</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A Family Guide: Navigating Life After a Rare Genetic Diagnosis</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A Family Guide: Understanding Genetic and Clinical Diagnoses</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How to Add CRID</a:t>
            </a:r>
            <a:endParaRPr lang="en-US" sz="1000" dirty="0"/>
          </a:p>
        </p:txBody>
      </p:sp>
      <p:sp>
        <p:nvSpPr>
          <p:cNvPr id="5" name="Shape 3"/>
          <p:cNvSpPr/>
          <p:nvPr/>
        </p:nvSpPr>
        <p:spPr>
          <a:xfrm>
            <a:off x="5669280" y="1298448"/>
            <a:ext cx="36576" cy="3200400"/>
          </a:xfrm>
          <a:prstGeom prst="rect">
            <a:avLst/>
          </a:prstGeom>
          <a:solidFill>
            <a:srgbClr val="DDE8EC"/>
          </a:solidFill>
          <a:ln w="12700">
            <a:solidFill>
              <a:srgbClr val="DDE8EC"/>
            </a:solidFill>
            <a:prstDash val="solid"/>
          </a:ln>
        </p:spPr>
      </p:sp>
      <p:sp>
        <p:nvSpPr>
          <p:cNvPr id="6" name="Text 4"/>
          <p:cNvSpPr/>
          <p:nvPr/>
        </p:nvSpPr>
        <p:spPr>
          <a:xfrm>
            <a:off x="5943600" y="1298448"/>
            <a:ext cx="2880360" cy="292608"/>
          </a:xfrm>
          <a:prstGeom prst="rect">
            <a:avLst/>
          </a:prstGeom>
          <a:noFill/>
          <a:ln/>
        </p:spPr>
        <p:txBody>
          <a:bodyPr wrap="square" rtlCol="0" anchor="ctr"/>
          <a:lstStyle/>
          <a:p>
            <a:pPr indent="0" marL="0">
              <a:buNone/>
            </a:pPr>
            <a:r>
              <a:rPr lang="en-US" sz="1050" b="1" dirty="0">
                <a:solidFill>
                  <a:srgbClr val="2F5361"/>
                </a:solidFill>
                <a:latin typeface="Open Sans" pitchFamily="34" charset="0"/>
                <a:ea typeface="Open Sans" pitchFamily="34" charset="-122"/>
                <a:cs typeface="Open Sans" pitchFamily="34" charset="-120"/>
              </a:rPr>
              <a:t>Additional Resources</a:t>
            </a:r>
            <a:endParaRPr lang="en-US" sz="1050" dirty="0"/>
          </a:p>
        </p:txBody>
      </p:sp>
      <p:sp>
        <p:nvSpPr>
          <p:cNvPr id="7" name="Text 5"/>
          <p:cNvSpPr/>
          <p:nvPr/>
        </p:nvSpPr>
        <p:spPr>
          <a:xfrm>
            <a:off x="5943600" y="1664208"/>
            <a:ext cx="2880360" cy="1371600"/>
          </a:xfrm>
          <a:prstGeom prst="rect">
            <a:avLst/>
          </a:prstGeom>
          <a:noFill/>
          <a:ln/>
        </p:spPr>
        <p:txBody>
          <a:bodyPr wrap="square" rtlCol="0" anchor="ctr"/>
          <a:lstStyle/>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NCATS Toolkit: Starting a Patient Group</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NORD RareLaunch: Support for New Organizations</a:t>
            </a:r>
            <a:endParaRPr lang="en-US" sz="1000" dirty="0"/>
          </a:p>
          <a:p>
            <a:pPr marL="342900" indent="-342900">
              <a:buSzPct val="100000"/>
              <a:buChar char="•"/>
            </a:pPr>
            <a:r>
              <a:rPr lang="en-US" sz="1000" dirty="0">
                <a:solidFill>
                  <a:srgbClr val="4A6B78"/>
                </a:solidFill>
                <a:latin typeface="Open Sans" pitchFamily="34" charset="0"/>
                <a:ea typeface="Open Sans" pitchFamily="34" charset="-122"/>
                <a:cs typeface="Open Sans" pitchFamily="34" charset="-120"/>
              </a:rPr>
              <a:t>Rare Village Foundation</a:t>
            </a:r>
            <a:endParaRPr lang="en-US" sz="1000" dirty="0"/>
          </a:p>
        </p:txBody>
      </p:sp>
      <p:sp>
        <p:nvSpPr>
          <p:cNvPr id="8" name="Shape 6"/>
          <p:cNvSpPr/>
          <p:nvPr/>
        </p:nvSpPr>
        <p:spPr>
          <a:xfrm>
            <a:off x="0" y="4773168"/>
            <a:ext cx="9144000" cy="9144"/>
          </a:xfrm>
          <a:prstGeom prst="rect">
            <a:avLst/>
          </a:prstGeom>
          <a:solidFill>
            <a:srgbClr val="DDE8EC"/>
          </a:solidFill>
          <a:ln w="12700">
            <a:solidFill>
              <a:srgbClr val="DDE8EC"/>
            </a:solidFill>
            <a:prstDash val="solid"/>
          </a:ln>
        </p:spPr>
      </p:sp>
      <p:sp>
        <p:nvSpPr>
          <p:cNvPr id="9" name="Text 7"/>
          <p:cNvSpPr/>
          <p:nvPr/>
        </p:nvSpPr>
        <p:spPr>
          <a:xfrm>
            <a:off x="502920" y="4828032"/>
            <a:ext cx="8138160" cy="182880"/>
          </a:xfrm>
          <a:prstGeom prst="rect">
            <a:avLst/>
          </a:prstGeom>
          <a:noFill/>
          <a:ln/>
        </p:spPr>
        <p:txBody>
          <a:bodyPr wrap="square" rtlCol="0" anchor="ctr"/>
          <a:lstStyle/>
          <a:p>
            <a:pPr algn="l" indent="0" marL="0">
              <a:buNone/>
            </a:pPr>
            <a:r>
              <a:rPr lang="en-US" sz="800" dirty="0">
                <a:solidFill>
                  <a:srgbClr val="7A9BAB"/>
                </a:solidFill>
                <a:latin typeface="Open Sans" pitchFamily="34" charset="0"/>
                <a:ea typeface="Open Sans" pitchFamily="34" charset="-122"/>
                <a:cs typeface="Open Sans" pitchFamily="34" charset="-120"/>
              </a:rPr>
              <a:t>SETD5 Syndrome Foundation  ·  Founding Meeting</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3A45"/>
        </a:solidFill>
      </p:bgPr>
    </p:bg>
    <p:spTree>
      <p:nvGrpSpPr>
        <p:cNvPr id="1" name=""/>
        <p:cNvGrpSpPr/>
        <p:nvPr/>
      </p:nvGrpSpPr>
      <p:grpSpPr>
        <a:xfrm>
          <a:off x="0" y="0"/>
          <a:ext cx="0" cy="0"/>
          <a:chOff x="0" y="0"/>
          <a:chExt cx="0" cy="0"/>
        </a:xfrm>
      </p:grpSpPr>
      <p:pic>
        <p:nvPicPr>
          <p:cNvPr id="2" name="Image 0" descr="/sessions/funny-amazing-bohr/unpacked/ppt/media/image9.jpeg">    </p:cNvPr>
          <p:cNvPicPr>
            <a:picLocks noChangeAspect="1"/>
          </p:cNvPicPr>
          <p:nvPr/>
        </p:nvPicPr>
        <p:blipFill>
          <a:blip r:embed="rId1"/>
          <a:stretch>
            <a:fillRect/>
          </a:stretch>
        </p:blipFill>
        <p:spPr>
          <a:xfrm>
            <a:off x="3886200" y="274320"/>
            <a:ext cx="1371600" cy="1371600"/>
          </a:xfrm>
          <a:prstGeom prst="ellipse">
            <a:avLst/>
          </a:prstGeom>
        </p:spPr>
      </p:pic>
      <p:sp>
        <p:nvSpPr>
          <p:cNvPr id="3" name="Text 0"/>
          <p:cNvSpPr/>
          <p:nvPr/>
        </p:nvSpPr>
        <p:spPr>
          <a:xfrm>
            <a:off x="502920" y="1737360"/>
            <a:ext cx="8138160" cy="502920"/>
          </a:xfrm>
          <a:prstGeom prst="rect">
            <a:avLst/>
          </a:prstGeom>
          <a:noFill/>
          <a:ln/>
        </p:spPr>
        <p:txBody>
          <a:bodyPr wrap="square" rtlCol="0" anchor="ctr"/>
          <a:lstStyle/>
          <a:p>
            <a:pPr algn="ctr" indent="0" marL="0">
              <a:buNone/>
            </a:pPr>
            <a:r>
              <a:rPr lang="en-US" sz="2200" b="1" dirty="0">
                <a:solidFill>
                  <a:srgbClr val="FFFFFF"/>
                </a:solidFill>
                <a:latin typeface="Open Sans" pitchFamily="34" charset="0"/>
                <a:ea typeface="Open Sans" pitchFamily="34" charset="-122"/>
                <a:cs typeface="Open Sans" pitchFamily="34" charset="-120"/>
              </a:rPr>
              <a:t>SETD5 Syndrome Foundation</a:t>
            </a:r>
            <a:endParaRPr lang="en-US" sz="2200" dirty="0"/>
          </a:p>
        </p:txBody>
      </p:sp>
      <p:sp>
        <p:nvSpPr>
          <p:cNvPr id="4" name="Shape 1"/>
          <p:cNvSpPr/>
          <p:nvPr/>
        </p:nvSpPr>
        <p:spPr>
          <a:xfrm>
            <a:off x="3200400" y="2331720"/>
            <a:ext cx="2743200" cy="36576"/>
          </a:xfrm>
          <a:prstGeom prst="rect">
            <a:avLst/>
          </a:prstGeom>
          <a:solidFill>
            <a:srgbClr val="D17E64"/>
          </a:solidFill>
          <a:ln w="12700">
            <a:solidFill>
              <a:srgbClr val="D17E64"/>
            </a:solidFill>
            <a:prstDash val="solid"/>
          </a:ln>
        </p:spPr>
      </p:sp>
      <p:sp>
        <p:nvSpPr>
          <p:cNvPr id="5" name="Text 2"/>
          <p:cNvSpPr/>
          <p:nvPr/>
        </p:nvSpPr>
        <p:spPr>
          <a:xfrm>
            <a:off x="1097280" y="2514600"/>
            <a:ext cx="6949440" cy="1572768"/>
          </a:xfrm>
          <a:prstGeom prst="rect">
            <a:avLst/>
          </a:prstGeom>
          <a:noFill/>
          <a:ln/>
        </p:spPr>
        <p:txBody>
          <a:bodyPr wrap="square" rtlCol="0" anchor="ctr"/>
          <a:lstStyle/>
          <a:p>
            <a:pPr algn="ctr" indent="0" marL="0">
              <a:lnSpc>
                <a:spcPct val="150000"/>
              </a:lnSpc>
              <a:buNone/>
            </a:pPr>
            <a:r>
              <a:rPr lang="en-US" sz="1500" i="1" dirty="0">
                <a:solidFill>
                  <a:srgbClr val="FFFFFF"/>
                </a:solidFill>
                <a:latin typeface="Open Sans" pitchFamily="34" charset="0"/>
                <a:ea typeface="Open Sans" pitchFamily="34" charset="-122"/>
                <a:cs typeface="Open Sans" pitchFamily="34" charset="-120"/>
              </a:rPr>
              <a:t>"Every family who learns about SETD5 Syndrome in the future will have something real to turn to because of what we build together today."</a:t>
            </a:r>
            <a:endParaRPr lang="en-US" sz="1500" dirty="0"/>
          </a:p>
        </p:txBody>
      </p:sp>
      <p:sp>
        <p:nvSpPr>
          <p:cNvPr id="6" name="Shape 3"/>
          <p:cNvSpPr/>
          <p:nvPr/>
        </p:nvSpPr>
        <p:spPr>
          <a:xfrm>
            <a:off x="3200400" y="4169664"/>
            <a:ext cx="2743200" cy="36576"/>
          </a:xfrm>
          <a:prstGeom prst="rect">
            <a:avLst/>
          </a:prstGeom>
          <a:solidFill>
            <a:srgbClr val="D17E64"/>
          </a:solidFill>
          <a:ln w="12700">
            <a:solidFill>
              <a:srgbClr val="D17E64"/>
            </a:solidFill>
            <a:prstDash val="solid"/>
          </a:ln>
        </p:spPr>
      </p:sp>
      <p:sp>
        <p:nvSpPr>
          <p:cNvPr id="7" name="Text 4"/>
          <p:cNvSpPr/>
          <p:nvPr/>
        </p:nvSpPr>
        <p:spPr>
          <a:xfrm>
            <a:off x="502920" y="4389120"/>
            <a:ext cx="8138160" cy="320040"/>
          </a:xfrm>
          <a:prstGeom prst="rect">
            <a:avLst/>
          </a:prstGeom>
          <a:noFill/>
          <a:ln/>
        </p:spPr>
        <p:txBody>
          <a:bodyPr wrap="square" rtlCol="0" anchor="ctr"/>
          <a:lstStyle/>
          <a:p>
            <a:pPr algn="ctr" indent="0" marL="0">
              <a:buNone/>
            </a:pPr>
            <a:r>
              <a:rPr lang="en-US" sz="1100" b="1" spc="300" kern="0" dirty="0">
                <a:solidFill>
                  <a:srgbClr val="D8AB67"/>
                </a:solidFill>
                <a:latin typeface="Open Sans" pitchFamily="34" charset="0"/>
                <a:ea typeface="Open Sans" pitchFamily="34" charset="-122"/>
                <a:cs typeface="Open Sans" pitchFamily="34" charset="-120"/>
              </a:rPr>
              <a:t>Research  ·  Community  ·  Advocacy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SETD5 Syndrome Foundation — Founding Meeting</dc:title>
  <dc:subject>PptxGenJS Presentation</dc:subject>
  <dc:creator>PptxGenJS</dc:creator>
  <cp:lastModifiedBy>PptxGenJS</cp:lastModifiedBy>
  <cp:revision>1</cp:revision>
  <dcterms:created xsi:type="dcterms:W3CDTF">2026-03-22T03:22:01Z</dcterms:created>
  <dcterms:modified xsi:type="dcterms:W3CDTF">2026-03-22T03:22:01Z</dcterms:modified>
</cp:coreProperties>
</file>