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4" r:id="rId4"/>
    <p:sldId id="258" r:id="rId5"/>
    <p:sldId id="259" r:id="rId6"/>
    <p:sldId id="260" r:id="rId7"/>
    <p:sldId id="261" r:id="rId8"/>
    <p:sldId id="268" r:id="rId9"/>
    <p:sldId id="273" r:id="rId10"/>
    <p:sldId id="271" r:id="rId11"/>
    <p:sldId id="265" r:id="rId12"/>
    <p:sldId id="270" r:id="rId13"/>
    <p:sldId id="269" r:id="rId14"/>
    <p:sldId id="262" r:id="rId15"/>
    <p:sldId id="272" r:id="rId16"/>
    <p:sldId id="26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6423" autoAdjust="0"/>
  </p:normalViewPr>
  <p:slideViewPr>
    <p:cSldViewPr snapToGrid="0" snapToObjects="1">
      <p:cViewPr>
        <p:scale>
          <a:sx n="75" d="100"/>
          <a:sy n="75" d="100"/>
        </p:scale>
        <p:origin x="1373" y="4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0088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simonssearchlight.org/research/what-we-study/"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www.sfari.org/resource/research-match/" TargetMode="External"/><Relationship Id="rId5" Type="http://schemas.openxmlformats.org/officeDocument/2006/relationships/hyperlink" Target="https://base.sfari.org/" TargetMode="External"/><Relationship Id="rId4" Type="http://schemas.openxmlformats.org/officeDocument/2006/relationships/hyperlink" Target="https://www.sfari.org/resource/simons-searchlight/"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facebook.com/groups/463942983953125/user/620683474/?__cft__%5b0%5d=AZaB6Y2vayzPqg3PwHTVK6EselvJk7I4oEKnD_cHk7I34gqgYALZpT4hk3U8iVEn-SDA5-kkIMJdbUjJ62CqxtRXBSYo71ZbNqtJnkXj1fUujiqCh83CQ9l0am-9Pb8akpwDo1PY8WXFhTlO2Cy30sOHk3cCC9DKwYv--lH_k_X6zuIs1UYm_GoZk9KZ-60B31c&amp;__tn__=-UC%2CP-R"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Intros -  Laura Biazon, NP/DNP, Raina 2.5 – Her name means queen in </a:t>
            </a:r>
            <a:r>
              <a:rPr lang="en-US" dirty="0" err="1"/>
              <a:t>tagolog</a:t>
            </a:r>
            <a:r>
              <a:rPr lang="en-US" dirty="0"/>
              <a:t> and Spanish and her personality matches, </a:t>
            </a:r>
          </a:p>
          <a:p>
            <a:r>
              <a:rPr lang="en-US" dirty="0"/>
              <a:t>Kate Carr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Notes will be shared after the meeting</a:t>
            </a:r>
          </a:p>
          <a:p>
            <a:pPr lvl="0"/>
            <a:r>
              <a:rPr lang="en-US" sz="1200" kern="1200" dirty="0">
                <a:solidFill>
                  <a:schemeClr val="tx1"/>
                </a:solidFill>
                <a:effectLst/>
                <a:latin typeface="+mn-lt"/>
                <a:ea typeface="+mn-ea"/>
                <a:cs typeface="+mn-cs"/>
              </a:rPr>
              <a:t>Decisions today are directional — nothing is final until bylaws are adopted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publications in literature mention SETD5 </a:t>
            </a:r>
          </a:p>
          <a:p>
            <a:pPr lvl="1"/>
            <a:r>
              <a:rPr lang="en-US" dirty="0"/>
              <a:t>53 of which were published in the past 5 years</a:t>
            </a:r>
          </a:p>
          <a:p>
            <a:r>
              <a:rPr lang="en-US" dirty="0"/>
              <a:t>Mandy has a great resource list we will have to put out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Mandy makes the point ~ 350 members when I joined in 2022</a:t>
            </a:r>
          </a:p>
          <a:p>
            <a:pPr lvl="1"/>
            <a:r>
              <a:rPr lang="en-US" dirty="0"/>
              <a:t>+8 members in the last week alone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we want to incorporate?</a:t>
            </a:r>
          </a:p>
          <a:p>
            <a:r>
              <a:rPr lang="en-US" dirty="0"/>
              <a:t>Founding team</a:t>
            </a:r>
          </a:p>
          <a:p>
            <a:r>
              <a:rPr lang="en-US" dirty="0"/>
              <a:t>Incorporate state entity – </a:t>
            </a:r>
            <a:r>
              <a:rPr lang="en-US" i="1" dirty="0"/>
              <a:t>NORD template available</a:t>
            </a:r>
          </a:p>
          <a:p>
            <a:r>
              <a:rPr lang="en-US" dirty="0"/>
              <a:t>Draft bylaws – </a:t>
            </a:r>
            <a:r>
              <a:rPr lang="en-US" i="1" dirty="0"/>
              <a:t>NORD template available</a:t>
            </a:r>
          </a:p>
          <a:p>
            <a:pPr lvl="1"/>
            <a:r>
              <a:rPr lang="en-US" dirty="0"/>
              <a:t>Conflict of interest policy – </a:t>
            </a:r>
            <a:r>
              <a:rPr lang="en-US" i="1" dirty="0"/>
              <a:t>NORD template available</a:t>
            </a:r>
          </a:p>
          <a:p>
            <a:r>
              <a:rPr lang="en-US" dirty="0"/>
              <a:t>Draft governance policies</a:t>
            </a:r>
          </a:p>
          <a:p>
            <a:r>
              <a:rPr lang="en-US" dirty="0"/>
              <a:t>Hold inaugural board meeting </a:t>
            </a:r>
          </a:p>
          <a:p>
            <a:r>
              <a:rPr lang="en-US" dirty="0"/>
              <a:t>Get an EIN</a:t>
            </a:r>
          </a:p>
          <a:p>
            <a:pPr lvl="1"/>
            <a:r>
              <a:rPr lang="en-US" dirty="0"/>
              <a:t>1023-EZ vs. 1023 form</a:t>
            </a:r>
          </a:p>
          <a:p>
            <a:r>
              <a:rPr lang="en-US" dirty="0"/>
              <a:t>Apply for Federal 501[c](3)</a:t>
            </a:r>
          </a:p>
          <a:p>
            <a:r>
              <a:rPr lang="en-US" dirty="0"/>
              <a:t>Obtain state licenses &amp; tax exemptions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5B775-D579-807A-8872-3163E2CE0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32725-F037-144C-95C3-CAABEA29F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C7EE4-3822-8D8C-68E7-4BE8033A11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821F97-E425-DE2E-1F4F-C32DCFEE782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14303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28AB3-CE48-86E8-3803-0DF6FD110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20703-11F7-C5C0-A227-C8A237082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90DC29-2A28-A894-5995-B9E6B9D14C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91ECCF-2F5D-571D-7EEB-D661EED768D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31544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sz="1200" b="0" i="0" kern="1200" dirty="0">
                <a:solidFill>
                  <a:schemeClr val="tx1"/>
                </a:solidFill>
                <a:effectLst/>
                <a:latin typeface="+mn-lt"/>
                <a:ea typeface="+mn-ea"/>
                <a:cs typeface="+mn-cs"/>
              </a:rPr>
              <a:t>As we discussed, Simons Searchlight collects online parent and participant reported survey data in over </a:t>
            </a:r>
            <a:r>
              <a:rPr lang="en-US" sz="1200" b="0" i="0" u="none" strike="noStrike" kern="1200" dirty="0">
                <a:solidFill>
                  <a:schemeClr val="tx1"/>
                </a:solidFill>
                <a:effectLst/>
                <a:latin typeface="+mn-lt"/>
                <a:ea typeface="+mn-ea"/>
                <a:cs typeface="+mn-cs"/>
                <a:hlinkClick r:id="rId3"/>
              </a:rPr>
              <a:t>184 rare genetic neurodevelopmental disorders</a:t>
            </a:r>
            <a:r>
              <a:rPr lang="en-US" sz="1200" b="0" i="0" kern="1200" dirty="0">
                <a:solidFill>
                  <a:schemeClr val="tx1"/>
                </a:solidFill>
                <a:effectLst/>
                <a:latin typeface="+mn-lt"/>
                <a:ea typeface="+mn-ea"/>
                <a:cs typeface="+mn-cs"/>
              </a:rPr>
              <a:t> (including SETD5), as well as blood samples for potential creation of </a:t>
            </a:r>
            <a:r>
              <a:rPr lang="en-US" sz="1200" b="0" i="0" u="none" strike="noStrike" kern="1200" dirty="0">
                <a:solidFill>
                  <a:schemeClr val="tx1"/>
                </a:solidFill>
                <a:effectLst/>
                <a:latin typeface="+mn-lt"/>
                <a:ea typeface="+mn-ea"/>
                <a:cs typeface="+mn-cs"/>
                <a:hlinkClick r:id="rId4"/>
              </a:rPr>
              <a:t>biospecimens</a:t>
            </a:r>
            <a:r>
              <a:rPr lang="en-US" sz="1200" b="0" i="0" kern="1200" dirty="0">
                <a:solidFill>
                  <a:schemeClr val="tx1"/>
                </a:solidFill>
                <a:effectLst/>
                <a:latin typeface="+mn-lt"/>
                <a:ea typeface="+mn-ea"/>
                <a:cs typeface="+mn-cs"/>
              </a:rPr>
              <a:t>. We make all phenotypic, genetic, and biospecimens data available for qualified researchers to access and analyze via </a:t>
            </a:r>
            <a:r>
              <a:rPr lang="en-US" sz="1200" b="0" i="0" u="none" strike="noStrike" kern="1200" dirty="0">
                <a:solidFill>
                  <a:schemeClr val="tx1"/>
                </a:solidFill>
                <a:effectLst/>
                <a:latin typeface="+mn-lt"/>
                <a:ea typeface="+mn-ea"/>
                <a:cs typeface="+mn-cs"/>
                <a:hlinkClick r:id="rId5"/>
              </a:rPr>
              <a:t>SFARI Base</a:t>
            </a:r>
            <a:r>
              <a:rPr lang="en-US" sz="1200" b="0" i="0" kern="1200" dirty="0">
                <a:solidFill>
                  <a:schemeClr val="tx1"/>
                </a:solidFill>
                <a:effectLst/>
                <a:latin typeface="+mn-lt"/>
                <a:ea typeface="+mn-ea"/>
                <a:cs typeface="+mn-cs"/>
              </a:rPr>
              <a:t>, our data distribution platform managed by the Simons Foundation, our program funder. As mentioned, we also have the </a:t>
            </a:r>
            <a:r>
              <a:rPr lang="en-US" sz="1200" b="0" i="0" u="none" strike="noStrike" kern="1200" dirty="0">
                <a:solidFill>
                  <a:schemeClr val="tx1"/>
                </a:solidFill>
                <a:effectLst/>
                <a:latin typeface="+mn-lt"/>
                <a:ea typeface="+mn-ea"/>
                <a:cs typeface="+mn-cs"/>
                <a:hlinkClick r:id="rId6"/>
              </a:rPr>
              <a:t>Simons Searchlight Research Match program</a:t>
            </a:r>
            <a:r>
              <a:rPr lang="en-US" sz="1200" b="0" i="0" kern="1200" dirty="0">
                <a:solidFill>
                  <a:schemeClr val="tx1"/>
                </a:solidFill>
                <a:effectLst/>
                <a:latin typeface="+mn-lt"/>
                <a:ea typeface="+mn-ea"/>
                <a:cs typeface="+mn-cs"/>
              </a:rPr>
              <a:t> that gives investigators the opportunity to recruit Simons Searchlight participants for external studies or surveys.</a:t>
            </a:r>
            <a:endParaRPr lang="en-US" dirty="0"/>
          </a:p>
        </p:txBody>
      </p:sp>
    </p:spTree>
    <p:extLst>
      <p:ext uri="{BB962C8B-B14F-4D97-AF65-F5344CB8AC3E}">
        <p14:creationId xmlns:p14="http://schemas.microsoft.com/office/powerpoint/2010/main" val="3460654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Hummingbird – me, AI, of all the rare disease logos, I think CTNNB1s stands out the most and love the dragonfly with gene symbol in it. </a:t>
            </a:r>
            <a:r>
              <a:rPr lang="en-US" b="1" dirty="0"/>
              <a:t>1. Strength Despite Size</a:t>
            </a:r>
          </a:p>
          <a:p>
            <a:r>
              <a:rPr lang="en-US" dirty="0"/>
              <a:t>Hummingbirds are tiny but incredibly strong and resilient. They can travel long distances and survive demanding conditions. This mirrors many individuals with SETD5 mutations who face significant developmental challenges yet show remarkable strength and perseverance.</a:t>
            </a:r>
          </a:p>
          <a:p>
            <a:r>
              <a:rPr lang="en-US" b="1" dirty="0"/>
              <a:t>2. Uniqueness and Rarity</a:t>
            </a:r>
          </a:p>
          <a:p>
            <a:r>
              <a:rPr lang="en-US" dirty="0"/>
              <a:t>Just as hummingbirds are rare and extraordinary birds, SETD5-related disorder is a rare genetic condition. The hummingbird highlights the uniqueness of each individual and the importance of recognizing and supporting rare disease communities.</a:t>
            </a:r>
          </a:p>
          <a:p>
            <a:r>
              <a:rPr lang="en-US" b="1" dirty="0"/>
              <a:t>3. Energy and Determination</a:t>
            </a:r>
          </a:p>
          <a:p>
            <a:r>
              <a:rPr lang="en-US" dirty="0"/>
              <a:t>Hummingbirds must constantly move to survive. Their rapid wingbeats symbolize determination, endurance, and the continuous effort families put into therapies, advocacy, and care.</a:t>
            </a:r>
          </a:p>
          <a:p>
            <a:r>
              <a:rPr lang="en-US" b="1" dirty="0"/>
              <a:t>4. Hope and Joy</a:t>
            </a:r>
          </a:p>
          <a:p>
            <a:r>
              <a:rPr lang="en-US" dirty="0"/>
              <a:t>Across many cultures, hummingbirds symbolize hope, resilience, and joy. The foundation uses this symbol to represent optimism, progress in research, and a brighter future for those affected.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Liv Thornton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Samantha Cotter I’m drawn to imagery that reflects neurology and long-term resilience — like an owl (learning, seeing the world differently) or even a sea turtle (endurance and long journeys). I think either could feel very timeless and meaningful for a foundation.</a:t>
            </a:r>
          </a:p>
          <a:p>
            <a:r>
              <a:rPr lang="en-US" sz="1200" b="1" i="0" u="none" strike="noStrike" kern="1200" dirty="0">
                <a:solidFill>
                  <a:schemeClr val="tx1"/>
                </a:solidFill>
                <a:effectLst/>
                <a:latin typeface="+mn-lt"/>
                <a:ea typeface="+mn-ea"/>
                <a:cs typeface="+mn-cs"/>
                <a:hlinkClick r:id="rId3"/>
              </a:rPr>
              <a:t>Taryn Mildenhall</a:t>
            </a:r>
            <a:r>
              <a:rPr lang="en-US" sz="1200" b="1" i="0" u="none" strike="noStrike" kern="1200" dirty="0">
                <a:solidFill>
                  <a:schemeClr val="tx1"/>
                </a:solidFill>
                <a:effectLst/>
                <a:latin typeface="+mn-lt"/>
                <a:ea typeface="+mn-ea"/>
                <a:cs typeface="+mn-cs"/>
              </a:rPr>
              <a:t>- made a good point that an animal does not necessarily need to be our symbol.  Chat </a:t>
            </a:r>
            <a:r>
              <a:rPr lang="en-US" sz="1200" b="1" i="0" u="none" strike="noStrike" kern="1200" dirty="0" err="1">
                <a:solidFill>
                  <a:schemeClr val="tx1"/>
                </a:solidFill>
                <a:effectLst/>
                <a:latin typeface="+mn-lt"/>
                <a:ea typeface="+mn-ea"/>
                <a:cs typeface="+mn-cs"/>
              </a:rPr>
              <a:t>gpt</a:t>
            </a:r>
            <a:r>
              <a:rPr lang="en-US" sz="1200" b="1" i="0" u="none" strike="noStrike" kern="1200" dirty="0">
                <a:solidFill>
                  <a:schemeClr val="tx1"/>
                </a:solidFill>
                <a:effectLst/>
                <a:latin typeface="+mn-lt"/>
                <a:ea typeface="+mn-ea"/>
                <a:cs typeface="+mn-cs"/>
              </a:rPr>
              <a:t> made this one. </a:t>
            </a:r>
            <a:endParaRPr lang="en-US" dirty="0"/>
          </a:p>
        </p:txBody>
      </p:sp>
    </p:spTree>
    <p:extLst>
      <p:ext uri="{BB962C8B-B14F-4D97-AF65-F5344CB8AC3E}">
        <p14:creationId xmlns:p14="http://schemas.microsoft.com/office/powerpoint/2010/main" val="1038307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8F73D-731A-122B-3D4C-4AC6AE2AE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1C0FD-CDFA-02A1-D441-79F64001A3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EF287-CA78-5E2A-BB23-2F580808618F}"/>
              </a:ext>
            </a:extLst>
          </p:cNvPr>
          <p:cNvSpPr>
            <a:spLocks noGrp="1"/>
          </p:cNvSpPr>
          <p:nvPr>
            <p:ph type="body" idx="1"/>
          </p:nvPr>
        </p:nvSpPr>
        <p:spPr/>
        <p:txBody>
          <a:bodyPr/>
          <a:lstStyle/>
          <a:p>
            <a:r>
              <a:rPr lang="en-US" dirty="0"/>
              <a:t>Any objections or comments to this initial group who will act as the founding members for incorporation? , if not then we will have to hold a more formal vote after drafting bylaws</a:t>
            </a:r>
          </a:p>
        </p:txBody>
      </p:sp>
      <p:sp>
        <p:nvSpPr>
          <p:cNvPr id="4" name="Slide Number Placeholder 3">
            <a:extLst>
              <a:ext uri="{FF2B5EF4-FFF2-40B4-BE49-F238E27FC236}">
                <a16:creationId xmlns:a16="http://schemas.microsoft.com/office/drawing/2014/main" id="{4771275D-4833-C984-288E-A932409232F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07907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B0E90-7973-C810-8FDF-509FBAD6B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74C36-5F3D-2436-BF39-927C93C56B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01234-6C8C-D4E6-D227-D838CCA6FC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0AF79B-F1D3-B2B3-66BB-DEDE8D8B40B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117351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FuvhmiPsXbo"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hyperlink" Target="https://bit.ly/Searchlight_Family_Guide" TargetMode="External"/><Relationship Id="rId13" Type="http://schemas.openxmlformats.org/officeDocument/2006/relationships/hyperlink" Target="https://rarevillage.org/" TargetMode="External"/><Relationship Id="rId3" Type="http://schemas.openxmlformats.org/officeDocument/2006/relationships/hyperlink" Target="https://insight.tempusresearch.com/report/searchlight-participation-progress" TargetMode="External"/><Relationship Id="rId7" Type="http://schemas.openxmlformats.org/officeDocument/2006/relationships/hyperlink" Target="https://www.youtube.com/watch?v=FuvhmiPsXbo" TargetMode="External"/><Relationship Id="rId12" Type="http://schemas.openxmlformats.org/officeDocument/2006/relationships/hyperlink" Target="https://rarediseases.org/community-support/rarelaunch/" TargetMode="External"/><Relationship Id="rId2" Type="http://schemas.openxmlformats.org/officeDocument/2006/relationships/hyperlink" Target="https://www.simonssearchlight.org/patientadvocacypartnerships/" TargetMode="External"/><Relationship Id="rId1" Type="http://schemas.openxmlformats.org/officeDocument/2006/relationships/slideLayout" Target="../slideLayouts/slideLayout1.xml"/><Relationship Id="rId6" Type="http://schemas.openxmlformats.org/officeDocument/2006/relationships/hyperlink" Target="https://www.simonssearchlight.org/research/what-we-study/zbtb20/" TargetMode="External"/><Relationship Id="rId11" Type="http://schemas.openxmlformats.org/officeDocument/2006/relationships/hyperlink" Target="https://toolkit.ncats.nih.gov/module/getting-started/empower-your-patient-community-voice/starting-a-patient-group/" TargetMode="External"/><Relationship Id="rId5" Type="http://schemas.openxmlformats.org/officeDocument/2006/relationships/hyperlink" Target="https://www.simonssearchlight.org/research/what-we-study/setd5/" TargetMode="External"/><Relationship Id="rId10" Type="http://schemas.openxmlformats.org/officeDocument/2006/relationships/hyperlink" Target="https://www.simonssearchlight.org/2025/09/01/helping-rare-disease-research-with-crids/" TargetMode="External"/><Relationship Id="rId4" Type="http://schemas.openxmlformats.org/officeDocument/2006/relationships/hyperlink" Target="https://www.simonssearchlight.org/information-resources/community-outreach-toolkit/" TargetMode="External"/><Relationship Id="rId9" Type="http://schemas.openxmlformats.org/officeDocument/2006/relationships/hyperlink" Target="https://www.simonssearchlight.org/a-family-guide-understanding-genetic-and-clinical-diagnose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818"/>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E9B9B"/>
          </a:solidFill>
          <a:ln w="12700">
            <a:solidFill>
              <a:srgbClr val="0E9B9B"/>
            </a:solidFill>
            <a:prstDash val="solid"/>
          </a:ln>
        </p:spPr>
        <p:txBody>
          <a:bodyPr/>
          <a:lstStyle/>
          <a:p>
            <a:endParaRPr lang="en-US"/>
          </a:p>
        </p:txBody>
      </p:sp>
      <p:sp>
        <p:nvSpPr>
          <p:cNvPr id="3" name="Shape 1"/>
          <p:cNvSpPr/>
          <p:nvPr/>
        </p:nvSpPr>
        <p:spPr>
          <a:xfrm>
            <a:off x="6583680" y="-1097280"/>
            <a:ext cx="4572000" cy="4572000"/>
          </a:xfrm>
          <a:prstGeom prst="ellipse">
            <a:avLst/>
          </a:prstGeom>
          <a:solidFill>
            <a:srgbClr val="0E9B9B">
              <a:alpha val="12000"/>
            </a:srgbClr>
          </a:solidFill>
          <a:ln w="12700">
            <a:solidFill>
              <a:srgbClr val="0E9B9B">
                <a:alpha val="12000"/>
              </a:srgbClr>
            </a:solidFill>
            <a:prstDash val="solid"/>
          </a:ln>
        </p:spPr>
        <p:txBody>
          <a:bodyPr/>
          <a:lstStyle/>
          <a:p>
            <a:endParaRPr lang="en-US"/>
          </a:p>
        </p:txBody>
      </p:sp>
      <p:sp>
        <p:nvSpPr>
          <p:cNvPr id="4" name="Shape 2"/>
          <p:cNvSpPr/>
          <p:nvPr/>
        </p:nvSpPr>
        <p:spPr>
          <a:xfrm>
            <a:off x="5943600" y="2560320"/>
            <a:ext cx="3200400" cy="3200400"/>
          </a:xfrm>
          <a:prstGeom prst="ellipse">
            <a:avLst/>
          </a:prstGeom>
          <a:solidFill>
            <a:srgbClr val="6B4FA0">
              <a:alpha val="10000"/>
            </a:srgbClr>
          </a:solidFill>
          <a:ln w="12700">
            <a:solidFill>
              <a:srgbClr val="6B4FA0">
                <a:alpha val="10000"/>
              </a:srgbClr>
            </a:solidFill>
            <a:prstDash val="solid"/>
          </a:ln>
        </p:spPr>
        <p:txBody>
          <a:bodyPr/>
          <a:lstStyle/>
          <a:p>
            <a:endParaRPr lang="en-US"/>
          </a:p>
        </p:txBody>
      </p:sp>
      <p:sp>
        <p:nvSpPr>
          <p:cNvPr id="6" name="Text 3"/>
          <p:cNvSpPr/>
          <p:nvPr/>
        </p:nvSpPr>
        <p:spPr>
          <a:xfrm>
            <a:off x="4186428" y="612648"/>
            <a:ext cx="6858000" cy="411480"/>
          </a:xfrm>
          <a:prstGeom prst="rect">
            <a:avLst/>
          </a:prstGeom>
          <a:noFill/>
          <a:ln/>
        </p:spPr>
        <p:txBody>
          <a:bodyPr wrap="square" rtlCol="0" anchor="ctr"/>
          <a:lstStyle/>
          <a:p>
            <a:pPr marL="0" indent="0">
              <a:buNone/>
            </a:pPr>
            <a:r>
              <a:rPr lang="en-US" sz="1300" b="1" kern="0" spc="500" dirty="0">
                <a:solidFill>
                  <a:srgbClr val="5DCECE"/>
                </a:solidFill>
                <a:latin typeface="Calibri" pitchFamily="34" charset="0"/>
                <a:ea typeface="Calibri" pitchFamily="34" charset="-122"/>
                <a:cs typeface="Calibri" pitchFamily="34" charset="-120"/>
              </a:rPr>
              <a:t>SETD5 SYNDROME FOUNDATION</a:t>
            </a:r>
            <a:endParaRPr lang="en-US" sz="1300" dirty="0"/>
          </a:p>
        </p:txBody>
      </p:sp>
      <p:sp>
        <p:nvSpPr>
          <p:cNvPr id="7" name="Text 4"/>
          <p:cNvSpPr/>
          <p:nvPr/>
        </p:nvSpPr>
        <p:spPr>
          <a:xfrm>
            <a:off x="3499104" y="987552"/>
            <a:ext cx="6858000" cy="91440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Founding Meeting</a:t>
            </a:r>
            <a:endParaRPr lang="en-US" sz="4400" dirty="0"/>
          </a:p>
        </p:txBody>
      </p:sp>
      <p:sp>
        <p:nvSpPr>
          <p:cNvPr id="8" name="Text 5"/>
          <p:cNvSpPr/>
          <p:nvPr/>
        </p:nvSpPr>
        <p:spPr>
          <a:xfrm>
            <a:off x="4315968" y="1805941"/>
            <a:ext cx="6858000" cy="457200"/>
          </a:xfrm>
          <a:prstGeom prst="rect">
            <a:avLst/>
          </a:prstGeom>
          <a:noFill/>
          <a:ln/>
        </p:spPr>
        <p:txBody>
          <a:bodyPr wrap="square" rtlCol="0" anchor="ctr"/>
          <a:lstStyle/>
          <a:p>
            <a:pPr marL="0" indent="0">
              <a:buNone/>
            </a:pPr>
            <a:r>
              <a:rPr lang="en-US" sz="1800" i="1" dirty="0">
                <a:solidFill>
                  <a:srgbClr val="5DCECE"/>
                </a:solidFill>
                <a:latin typeface="Calibri" pitchFamily="34" charset="0"/>
                <a:ea typeface="Calibri" pitchFamily="34" charset="-122"/>
                <a:cs typeface="Calibri" pitchFamily="34" charset="-120"/>
              </a:rPr>
              <a:t>Building Something Real — Together</a:t>
            </a:r>
            <a:endParaRPr lang="en-US" sz="1800" dirty="0"/>
          </a:p>
        </p:txBody>
      </p:sp>
      <p:sp>
        <p:nvSpPr>
          <p:cNvPr id="9" name="Shape 6"/>
          <p:cNvSpPr/>
          <p:nvPr/>
        </p:nvSpPr>
        <p:spPr>
          <a:xfrm>
            <a:off x="3931920" y="2263141"/>
            <a:ext cx="5029200" cy="0"/>
          </a:xfrm>
          <a:prstGeom prst="line">
            <a:avLst/>
          </a:prstGeom>
          <a:noFill/>
          <a:ln w="19050">
            <a:solidFill>
              <a:srgbClr val="0E9B9B"/>
            </a:solidFill>
            <a:prstDash val="solid"/>
          </a:ln>
        </p:spPr>
        <p:txBody>
          <a:bodyPr/>
          <a:lstStyle/>
          <a:p>
            <a:endParaRPr lang="en-US"/>
          </a:p>
        </p:txBody>
      </p:sp>
      <p:sp>
        <p:nvSpPr>
          <p:cNvPr id="10" name="Text 7"/>
          <p:cNvSpPr/>
          <p:nvPr/>
        </p:nvSpPr>
        <p:spPr>
          <a:xfrm>
            <a:off x="4206240" y="2596896"/>
            <a:ext cx="6400800" cy="347472"/>
          </a:xfrm>
          <a:prstGeom prst="rect">
            <a:avLst/>
          </a:prstGeom>
          <a:noFill/>
          <a:ln/>
        </p:spPr>
        <p:txBody>
          <a:bodyPr wrap="square" rtlCol="0" anchor="ctr"/>
          <a:lstStyle/>
          <a:p>
            <a:pPr marL="0" indent="0">
              <a:buNone/>
            </a:pPr>
            <a:r>
              <a:rPr lang="en-US" sz="1400" b="1" dirty="0">
                <a:solidFill>
                  <a:srgbClr val="AAAAAA"/>
                </a:solidFill>
                <a:latin typeface="Calibri" pitchFamily="34" charset="0"/>
                <a:ea typeface="Calibri" pitchFamily="34" charset="-122"/>
                <a:cs typeface="Calibri" pitchFamily="34" charset="-120"/>
              </a:rPr>
              <a:t>Wednesday, 2/25/2026 830PM ET</a:t>
            </a:r>
            <a:r>
              <a:rPr lang="en-US" sz="1400" dirty="0">
                <a:solidFill>
                  <a:srgbClr val="AAAAAA"/>
                </a:solidFill>
                <a:latin typeface="Calibri" pitchFamily="34" charset="0"/>
                <a:ea typeface="Calibri" pitchFamily="34" charset="-122"/>
                <a:cs typeface="Calibri" pitchFamily="34" charset="-120"/>
              </a:rPr>
              <a:t>  ·  Zoom  ·  90 Minutes</a:t>
            </a:r>
          </a:p>
          <a:p>
            <a:pPr marL="0" indent="0">
              <a:buNone/>
            </a:pPr>
            <a:r>
              <a:rPr lang="en-US" sz="1400" dirty="0">
                <a:solidFill>
                  <a:srgbClr val="AAAAAA"/>
                </a:solidFill>
                <a:latin typeface="Calibri" pitchFamily="34" charset="0"/>
                <a:ea typeface="Calibri" pitchFamily="34" charset="-122"/>
                <a:cs typeface="Calibri" pitchFamily="34" charset="-120"/>
              </a:rPr>
              <a:t>Laura Biazon laura.biazon19@gmail.com</a:t>
            </a:r>
          </a:p>
          <a:p>
            <a:pPr marL="0" indent="0">
              <a:buNone/>
            </a:pPr>
            <a:r>
              <a:rPr lang="en-US" sz="1400" dirty="0">
                <a:solidFill>
                  <a:srgbClr val="AAAAAA"/>
                </a:solidFill>
                <a:latin typeface="Calibri" pitchFamily="34" charset="0"/>
                <a:ea typeface="Calibri" pitchFamily="34" charset="-122"/>
                <a:cs typeface="Calibri" pitchFamily="34" charset="-120"/>
              </a:rPr>
              <a:t>Mandy Wittenberg</a:t>
            </a:r>
            <a:endParaRPr lang="en-US" sz="1400" dirty="0"/>
          </a:p>
        </p:txBody>
      </p:sp>
      <p:sp>
        <p:nvSpPr>
          <p:cNvPr id="11" name="Shape 8"/>
          <p:cNvSpPr/>
          <p:nvPr/>
        </p:nvSpPr>
        <p:spPr>
          <a:xfrm>
            <a:off x="292608" y="3931920"/>
            <a:ext cx="201168" cy="201168"/>
          </a:xfrm>
          <a:prstGeom prst="ellipse">
            <a:avLst/>
          </a:prstGeom>
          <a:solidFill>
            <a:srgbClr val="0E9B9B"/>
          </a:solidFill>
          <a:ln w="12700">
            <a:solidFill>
              <a:srgbClr val="0E9B9B"/>
            </a:solidFill>
            <a:prstDash val="solid"/>
          </a:ln>
        </p:spPr>
        <p:txBody>
          <a:bodyPr/>
          <a:lstStyle/>
          <a:p>
            <a:endParaRPr lang="en-US"/>
          </a:p>
        </p:txBody>
      </p:sp>
      <p:sp>
        <p:nvSpPr>
          <p:cNvPr id="12" name="Text 9"/>
          <p:cNvSpPr/>
          <p:nvPr/>
        </p:nvSpPr>
        <p:spPr>
          <a:xfrm>
            <a:off x="91440" y="4187952"/>
            <a:ext cx="1554480" cy="365760"/>
          </a:xfrm>
          <a:prstGeom prst="rect">
            <a:avLst/>
          </a:prstGeom>
          <a:noFill/>
          <a:ln/>
        </p:spPr>
        <p:txBody>
          <a:bodyPr wrap="square" rtlCol="0" anchor="ctr"/>
          <a:lstStyle/>
          <a:p>
            <a:pPr marL="0" indent="0" algn="ctr">
              <a:buNone/>
            </a:pPr>
            <a:r>
              <a:rPr lang="en-US" sz="950" dirty="0">
                <a:solidFill>
                  <a:srgbClr val="CCCCCC"/>
                </a:solidFill>
                <a:latin typeface="Calibri" pitchFamily="34" charset="0"/>
                <a:ea typeface="Calibri" pitchFamily="34" charset="-122"/>
                <a:cs typeface="Calibri" pitchFamily="34" charset="-120"/>
              </a:rPr>
              <a:t>Intros &amp; Vision</a:t>
            </a:r>
            <a:endParaRPr lang="en-US" sz="950" dirty="0"/>
          </a:p>
        </p:txBody>
      </p:sp>
      <p:sp>
        <p:nvSpPr>
          <p:cNvPr id="13" name="Shape 10"/>
          <p:cNvSpPr/>
          <p:nvPr/>
        </p:nvSpPr>
        <p:spPr>
          <a:xfrm>
            <a:off x="2011680" y="3931920"/>
            <a:ext cx="201168" cy="201168"/>
          </a:xfrm>
          <a:prstGeom prst="ellipse">
            <a:avLst/>
          </a:prstGeom>
          <a:solidFill>
            <a:srgbClr val="0E9B9B"/>
          </a:solidFill>
          <a:ln w="12700">
            <a:solidFill>
              <a:srgbClr val="0E9B9B"/>
            </a:solidFill>
            <a:prstDash val="solid"/>
          </a:ln>
        </p:spPr>
        <p:txBody>
          <a:bodyPr/>
          <a:lstStyle/>
          <a:p>
            <a:endParaRPr lang="en-US"/>
          </a:p>
        </p:txBody>
      </p:sp>
      <p:sp>
        <p:nvSpPr>
          <p:cNvPr id="14" name="Text 11"/>
          <p:cNvSpPr/>
          <p:nvPr/>
        </p:nvSpPr>
        <p:spPr>
          <a:xfrm>
            <a:off x="1810512" y="4187952"/>
            <a:ext cx="1554480" cy="365760"/>
          </a:xfrm>
          <a:prstGeom prst="rect">
            <a:avLst/>
          </a:prstGeom>
          <a:noFill/>
          <a:ln/>
        </p:spPr>
        <p:txBody>
          <a:bodyPr wrap="square" rtlCol="0" anchor="ctr"/>
          <a:lstStyle/>
          <a:p>
            <a:pPr marL="0" indent="0" algn="ctr">
              <a:buNone/>
            </a:pPr>
            <a:r>
              <a:rPr lang="en-US" sz="950" dirty="0">
                <a:solidFill>
                  <a:srgbClr val="CCCCCC"/>
                </a:solidFill>
                <a:latin typeface="Calibri" pitchFamily="34" charset="0"/>
                <a:ea typeface="Calibri" pitchFamily="34" charset="-122"/>
                <a:cs typeface="Calibri" pitchFamily="34" charset="-120"/>
              </a:rPr>
              <a:t>Landscape Review</a:t>
            </a:r>
            <a:endParaRPr lang="en-US" sz="950" dirty="0"/>
          </a:p>
        </p:txBody>
      </p:sp>
      <p:sp>
        <p:nvSpPr>
          <p:cNvPr id="15" name="Shape 12"/>
          <p:cNvSpPr/>
          <p:nvPr/>
        </p:nvSpPr>
        <p:spPr>
          <a:xfrm>
            <a:off x="3730752" y="3931920"/>
            <a:ext cx="201168" cy="201168"/>
          </a:xfrm>
          <a:prstGeom prst="ellipse">
            <a:avLst/>
          </a:prstGeom>
          <a:solidFill>
            <a:srgbClr val="0E9B9B"/>
          </a:solidFill>
          <a:ln w="12700">
            <a:solidFill>
              <a:srgbClr val="0E9B9B"/>
            </a:solidFill>
            <a:prstDash val="solid"/>
          </a:ln>
        </p:spPr>
        <p:txBody>
          <a:bodyPr/>
          <a:lstStyle/>
          <a:p>
            <a:endParaRPr lang="en-US"/>
          </a:p>
        </p:txBody>
      </p:sp>
      <p:sp>
        <p:nvSpPr>
          <p:cNvPr id="16" name="Text 13"/>
          <p:cNvSpPr/>
          <p:nvPr/>
        </p:nvSpPr>
        <p:spPr>
          <a:xfrm>
            <a:off x="3529584" y="4187952"/>
            <a:ext cx="1554480" cy="365760"/>
          </a:xfrm>
          <a:prstGeom prst="rect">
            <a:avLst/>
          </a:prstGeom>
          <a:noFill/>
          <a:ln/>
        </p:spPr>
        <p:txBody>
          <a:bodyPr wrap="square" rtlCol="0" anchor="ctr"/>
          <a:lstStyle/>
          <a:p>
            <a:pPr marL="0" indent="0" algn="ctr">
              <a:buNone/>
            </a:pPr>
            <a:r>
              <a:rPr lang="en-US" sz="950" dirty="0">
                <a:solidFill>
                  <a:srgbClr val="CCCCCC"/>
                </a:solidFill>
                <a:latin typeface="Calibri" pitchFamily="34" charset="0"/>
                <a:ea typeface="Calibri" pitchFamily="34" charset="-122"/>
                <a:cs typeface="Calibri" pitchFamily="34" charset="-120"/>
              </a:rPr>
              <a:t>Formation Basics</a:t>
            </a:r>
            <a:endParaRPr lang="en-US" sz="950" dirty="0"/>
          </a:p>
        </p:txBody>
      </p:sp>
      <p:sp>
        <p:nvSpPr>
          <p:cNvPr id="17" name="Shape 14"/>
          <p:cNvSpPr/>
          <p:nvPr/>
        </p:nvSpPr>
        <p:spPr>
          <a:xfrm>
            <a:off x="5449824" y="3931920"/>
            <a:ext cx="201168" cy="201168"/>
          </a:xfrm>
          <a:prstGeom prst="ellipse">
            <a:avLst/>
          </a:prstGeom>
          <a:solidFill>
            <a:srgbClr val="0E9B9B"/>
          </a:solidFill>
          <a:ln w="12700">
            <a:solidFill>
              <a:srgbClr val="0E9B9B"/>
            </a:solidFill>
            <a:prstDash val="solid"/>
          </a:ln>
        </p:spPr>
        <p:txBody>
          <a:bodyPr/>
          <a:lstStyle/>
          <a:p>
            <a:endParaRPr lang="en-US"/>
          </a:p>
        </p:txBody>
      </p:sp>
      <p:sp>
        <p:nvSpPr>
          <p:cNvPr id="18" name="Text 15"/>
          <p:cNvSpPr/>
          <p:nvPr/>
        </p:nvSpPr>
        <p:spPr>
          <a:xfrm>
            <a:off x="5248656" y="4187952"/>
            <a:ext cx="1554480" cy="365760"/>
          </a:xfrm>
          <a:prstGeom prst="rect">
            <a:avLst/>
          </a:prstGeom>
          <a:noFill/>
          <a:ln/>
        </p:spPr>
        <p:txBody>
          <a:bodyPr wrap="square" rtlCol="0" anchor="ctr"/>
          <a:lstStyle/>
          <a:p>
            <a:pPr marL="0" indent="0" algn="ctr">
              <a:buNone/>
            </a:pPr>
            <a:r>
              <a:rPr lang="en-US" sz="950" dirty="0">
                <a:solidFill>
                  <a:srgbClr val="CCCCCC"/>
                </a:solidFill>
                <a:latin typeface="Calibri" pitchFamily="34" charset="0"/>
                <a:ea typeface="Calibri" pitchFamily="34" charset="-122"/>
                <a:cs typeface="Calibri" pitchFamily="34" charset="-120"/>
              </a:rPr>
              <a:t>Working Groups</a:t>
            </a:r>
            <a:endParaRPr lang="en-US" sz="950" dirty="0"/>
          </a:p>
        </p:txBody>
      </p:sp>
      <p:sp>
        <p:nvSpPr>
          <p:cNvPr id="19" name="Shape 16"/>
          <p:cNvSpPr/>
          <p:nvPr/>
        </p:nvSpPr>
        <p:spPr>
          <a:xfrm>
            <a:off x="7168896" y="3931920"/>
            <a:ext cx="201168" cy="201168"/>
          </a:xfrm>
          <a:prstGeom prst="ellipse">
            <a:avLst/>
          </a:prstGeom>
          <a:solidFill>
            <a:srgbClr val="0E9B9B"/>
          </a:solidFill>
          <a:ln w="12700">
            <a:solidFill>
              <a:srgbClr val="0E9B9B"/>
            </a:solidFill>
            <a:prstDash val="solid"/>
          </a:ln>
        </p:spPr>
        <p:txBody>
          <a:bodyPr/>
          <a:lstStyle/>
          <a:p>
            <a:endParaRPr lang="en-US"/>
          </a:p>
        </p:txBody>
      </p:sp>
      <p:sp>
        <p:nvSpPr>
          <p:cNvPr id="20" name="Text 17"/>
          <p:cNvSpPr/>
          <p:nvPr/>
        </p:nvSpPr>
        <p:spPr>
          <a:xfrm>
            <a:off x="6967728" y="4187952"/>
            <a:ext cx="1554480" cy="365760"/>
          </a:xfrm>
          <a:prstGeom prst="rect">
            <a:avLst/>
          </a:prstGeom>
          <a:noFill/>
          <a:ln/>
        </p:spPr>
        <p:txBody>
          <a:bodyPr wrap="square" rtlCol="0" anchor="ctr"/>
          <a:lstStyle/>
          <a:p>
            <a:pPr marL="0" indent="0" algn="ctr">
              <a:buNone/>
            </a:pPr>
            <a:r>
              <a:rPr lang="en-US" sz="950" dirty="0">
                <a:solidFill>
                  <a:srgbClr val="CCCCCC"/>
                </a:solidFill>
                <a:latin typeface="Calibri" pitchFamily="34" charset="0"/>
                <a:ea typeface="Calibri" pitchFamily="34" charset="-122"/>
                <a:cs typeface="Calibri" pitchFamily="34" charset="-120"/>
              </a:rPr>
              <a:t>Action Items</a:t>
            </a:r>
            <a:endParaRPr lang="en-US" sz="950" dirty="0"/>
          </a:p>
        </p:txBody>
      </p:sp>
      <p:pic>
        <p:nvPicPr>
          <p:cNvPr id="2050" name="Picture 2" descr="No photo description available.">
            <a:extLst>
              <a:ext uri="{FF2B5EF4-FFF2-40B4-BE49-F238E27FC236}">
                <a16:creationId xmlns:a16="http://schemas.microsoft.com/office/drawing/2014/main" id="{CA4AA509-AA0A-720B-37AA-B9724E11B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94" y="457203"/>
            <a:ext cx="3108477" cy="34198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p:cNvSpPr/>
          <p:nvPr/>
        </p:nvSpPr>
        <p:spPr>
          <a:xfrm>
            <a:off x="457200" y="804672"/>
            <a:ext cx="8229600" cy="640080"/>
          </a:xfrm>
          <a:prstGeom prst="rect">
            <a:avLst/>
          </a:prstGeom>
          <a:noFill/>
          <a:ln/>
        </p:spPr>
        <p:txBody>
          <a:bodyPr wrap="square" rtlCol="0" anchor="ctr"/>
          <a:lstStyle/>
          <a:p>
            <a:pPr marL="0" indent="0">
              <a:buNone/>
            </a:pPr>
            <a:r>
              <a:rPr lang="en-US" sz="3600" b="1" dirty="0">
                <a:solidFill>
                  <a:srgbClr val="0C1818"/>
                </a:solidFill>
                <a:latin typeface="Georgia" pitchFamily="34" charset="0"/>
                <a:ea typeface="Georgia" pitchFamily="34" charset="-122"/>
                <a:cs typeface="Georgia" pitchFamily="34" charset="-120"/>
              </a:rPr>
              <a:t>Why We're Here</a:t>
            </a:r>
            <a:endParaRPr lang="en-US" sz="3600" dirty="0"/>
          </a:p>
        </p:txBody>
      </p:sp>
      <p:sp>
        <p:nvSpPr>
          <p:cNvPr id="6" name="Shape 3"/>
          <p:cNvSpPr/>
          <p:nvPr/>
        </p:nvSpPr>
        <p:spPr>
          <a:xfrm>
            <a:off x="347472" y="1580651"/>
            <a:ext cx="2606040" cy="3063240"/>
          </a:xfrm>
          <a:prstGeom prst="rect">
            <a:avLst/>
          </a:prstGeom>
          <a:solidFill>
            <a:srgbClr val="E0F6F6"/>
          </a:solidFill>
          <a:ln w="19050">
            <a:solidFill>
              <a:srgbClr val="0E9B9B"/>
            </a:solidFill>
            <a:prstDash val="solid"/>
          </a:ln>
          <a:effectLst>
            <a:outerShdw blurRad="127000" dist="38100" dir="8100000" algn="bl" rotWithShape="0">
              <a:srgbClr val="000000">
                <a:alpha val="18000"/>
              </a:srgbClr>
            </a:outerShdw>
          </a:effectLst>
        </p:spPr>
        <p:txBody>
          <a:bodyPr/>
          <a:lstStyle/>
          <a:p>
            <a:endParaRPr lang="en-US"/>
          </a:p>
        </p:txBody>
      </p:sp>
      <p:sp>
        <p:nvSpPr>
          <p:cNvPr id="7" name="Shape 4"/>
          <p:cNvSpPr/>
          <p:nvPr/>
        </p:nvSpPr>
        <p:spPr>
          <a:xfrm>
            <a:off x="347472" y="1572768"/>
            <a:ext cx="2606040" cy="73152"/>
          </a:xfrm>
          <a:prstGeom prst="rect">
            <a:avLst/>
          </a:prstGeom>
          <a:solidFill>
            <a:srgbClr val="0E9B9B"/>
          </a:solidFill>
          <a:ln w="12700">
            <a:solidFill>
              <a:srgbClr val="0E9B9B"/>
            </a:solidFill>
            <a:prstDash val="solid"/>
          </a:ln>
        </p:spPr>
        <p:txBody>
          <a:bodyPr/>
          <a:lstStyle/>
          <a:p>
            <a:endParaRPr lang="en-US"/>
          </a:p>
        </p:txBody>
      </p:sp>
      <p:sp>
        <p:nvSpPr>
          <p:cNvPr id="8" name="Text 5"/>
          <p:cNvSpPr/>
          <p:nvPr/>
        </p:nvSpPr>
        <p:spPr>
          <a:xfrm>
            <a:off x="1170432" y="1719072"/>
            <a:ext cx="1005840" cy="5943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6"/>
          <p:cNvSpPr/>
          <p:nvPr/>
        </p:nvSpPr>
        <p:spPr>
          <a:xfrm>
            <a:off x="457200" y="2359152"/>
            <a:ext cx="2395728" cy="658368"/>
          </a:xfrm>
          <a:prstGeom prst="rect">
            <a:avLst/>
          </a:prstGeom>
          <a:noFill/>
          <a:ln/>
        </p:spPr>
        <p:txBody>
          <a:bodyPr wrap="square" rtlCol="0" anchor="ctr"/>
          <a:lstStyle/>
          <a:p>
            <a:pPr marL="0" indent="0" algn="ctr">
              <a:buNone/>
            </a:pPr>
            <a:r>
              <a:rPr lang="en-US" sz="1500" b="1" dirty="0">
                <a:solidFill>
                  <a:srgbClr val="0E9B9B"/>
                </a:solidFill>
                <a:latin typeface="Georgia" pitchFamily="34" charset="0"/>
                <a:ea typeface="Georgia" pitchFamily="34" charset="-122"/>
                <a:cs typeface="Georgia" pitchFamily="34" charset="-120"/>
              </a:rPr>
              <a:t>Research</a:t>
            </a:r>
            <a:endParaRPr lang="en-US" sz="1500" dirty="0"/>
          </a:p>
          <a:p>
            <a:pPr marL="0" indent="0" algn="ctr">
              <a:buNone/>
            </a:pPr>
            <a:r>
              <a:rPr lang="en-US" sz="1500" b="1" dirty="0">
                <a:solidFill>
                  <a:srgbClr val="0E9B9B"/>
                </a:solidFill>
                <a:latin typeface="Georgia" pitchFamily="34" charset="0"/>
                <a:ea typeface="Georgia" pitchFamily="34" charset="-122"/>
                <a:cs typeface="Georgia" pitchFamily="34" charset="-120"/>
              </a:rPr>
              <a:t>&amp; Science</a:t>
            </a:r>
            <a:endParaRPr lang="en-US" sz="1500" dirty="0"/>
          </a:p>
        </p:txBody>
      </p:sp>
      <p:sp>
        <p:nvSpPr>
          <p:cNvPr id="10" name="Text 7"/>
          <p:cNvSpPr/>
          <p:nvPr/>
        </p:nvSpPr>
        <p:spPr>
          <a:xfrm>
            <a:off x="512064" y="3072384"/>
            <a:ext cx="2286000" cy="1417320"/>
          </a:xfrm>
          <a:prstGeom prst="rect">
            <a:avLst/>
          </a:prstGeom>
          <a:noFill/>
          <a:ln/>
        </p:spPr>
        <p:txBody>
          <a:bodyPr wrap="square" rtlCol="0" anchor="t"/>
          <a:lstStyle/>
          <a:p>
            <a:pPr marL="0" indent="0" algn="ctr">
              <a:buNone/>
            </a:pPr>
            <a:r>
              <a:rPr lang="en-US" sz="1150" dirty="0">
                <a:solidFill>
                  <a:srgbClr val="444444"/>
                </a:solidFill>
                <a:latin typeface="Calibri" pitchFamily="34" charset="0"/>
                <a:ea typeface="Calibri" pitchFamily="34" charset="-122"/>
                <a:cs typeface="Calibri" pitchFamily="34" charset="-120"/>
              </a:rPr>
              <a:t>Fund studies, build a patient registry, attract researchers who will find answers for our children</a:t>
            </a:r>
          </a:p>
          <a:p>
            <a:pPr marL="0" indent="0" algn="ctr">
              <a:buNone/>
            </a:pPr>
            <a:endParaRPr lang="en-US" sz="1150" dirty="0">
              <a:solidFill>
                <a:srgbClr val="444444"/>
              </a:solidFill>
              <a:latin typeface="Calibri" pitchFamily="34" charset="0"/>
              <a:ea typeface="Calibri" pitchFamily="34" charset="-122"/>
              <a:cs typeface="Calibri" pitchFamily="34" charset="-120"/>
            </a:endParaRPr>
          </a:p>
          <a:p>
            <a:pPr marL="0" indent="0" algn="ctr">
              <a:buNone/>
            </a:pPr>
            <a:r>
              <a:rPr lang="en-US" sz="1150" dirty="0">
                <a:solidFill>
                  <a:srgbClr val="444444"/>
                </a:solidFill>
                <a:latin typeface="Calibri" pitchFamily="34" charset="0"/>
                <a:ea typeface="Calibri" pitchFamily="34" charset="-122"/>
                <a:cs typeface="Calibri" pitchFamily="34" charset="-120"/>
              </a:rPr>
              <a:t>101 publications, 53 in past 5 years</a:t>
            </a:r>
            <a:endParaRPr lang="en-US" sz="1150" dirty="0"/>
          </a:p>
        </p:txBody>
      </p:sp>
      <p:sp>
        <p:nvSpPr>
          <p:cNvPr id="11" name="Shape 8"/>
          <p:cNvSpPr/>
          <p:nvPr/>
        </p:nvSpPr>
        <p:spPr>
          <a:xfrm>
            <a:off x="3182112" y="1572768"/>
            <a:ext cx="2606040" cy="3063240"/>
          </a:xfrm>
          <a:prstGeom prst="rect">
            <a:avLst/>
          </a:prstGeom>
          <a:solidFill>
            <a:srgbClr val="EEE8F8"/>
          </a:solidFill>
          <a:ln w="19050">
            <a:solidFill>
              <a:srgbClr val="6B4FA0"/>
            </a:solidFill>
            <a:prstDash val="solid"/>
          </a:ln>
          <a:effectLst>
            <a:outerShdw blurRad="127000" dist="38100" dir="8100000" algn="bl" rotWithShape="0">
              <a:srgbClr val="000000">
                <a:alpha val="18000"/>
              </a:srgbClr>
            </a:outerShdw>
          </a:effectLst>
        </p:spPr>
        <p:txBody>
          <a:bodyPr/>
          <a:lstStyle/>
          <a:p>
            <a:endParaRPr lang="en-US"/>
          </a:p>
        </p:txBody>
      </p:sp>
      <p:sp>
        <p:nvSpPr>
          <p:cNvPr id="12" name="Shape 9"/>
          <p:cNvSpPr/>
          <p:nvPr/>
        </p:nvSpPr>
        <p:spPr>
          <a:xfrm>
            <a:off x="3182112" y="1572768"/>
            <a:ext cx="2606040" cy="73152"/>
          </a:xfrm>
          <a:prstGeom prst="rect">
            <a:avLst/>
          </a:prstGeom>
          <a:solidFill>
            <a:srgbClr val="6B4FA0"/>
          </a:solidFill>
          <a:ln w="12700">
            <a:solidFill>
              <a:srgbClr val="6B4FA0"/>
            </a:solidFill>
            <a:prstDash val="solid"/>
          </a:ln>
        </p:spPr>
        <p:txBody>
          <a:bodyPr/>
          <a:lstStyle/>
          <a:p>
            <a:endParaRPr lang="en-US"/>
          </a:p>
        </p:txBody>
      </p:sp>
      <p:sp>
        <p:nvSpPr>
          <p:cNvPr id="13" name="Text 10"/>
          <p:cNvSpPr/>
          <p:nvPr/>
        </p:nvSpPr>
        <p:spPr>
          <a:xfrm>
            <a:off x="4005072" y="1719072"/>
            <a:ext cx="1005840" cy="5943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4" name="Text 11"/>
          <p:cNvSpPr/>
          <p:nvPr/>
        </p:nvSpPr>
        <p:spPr>
          <a:xfrm>
            <a:off x="3291840" y="2359152"/>
            <a:ext cx="2395728" cy="658368"/>
          </a:xfrm>
          <a:prstGeom prst="rect">
            <a:avLst/>
          </a:prstGeom>
          <a:noFill/>
          <a:ln/>
        </p:spPr>
        <p:txBody>
          <a:bodyPr wrap="square" rtlCol="0" anchor="ctr"/>
          <a:lstStyle/>
          <a:p>
            <a:pPr marL="0" indent="0" algn="ctr">
              <a:buNone/>
            </a:pPr>
            <a:r>
              <a:rPr lang="en-US" sz="1500" b="1" dirty="0">
                <a:solidFill>
                  <a:srgbClr val="6B4FA0"/>
                </a:solidFill>
                <a:latin typeface="Georgia" pitchFamily="34" charset="0"/>
                <a:ea typeface="Georgia" pitchFamily="34" charset="-122"/>
                <a:cs typeface="Georgia" pitchFamily="34" charset="-120"/>
              </a:rPr>
              <a:t>Family Support</a:t>
            </a:r>
            <a:endParaRPr lang="en-US" sz="1500" dirty="0"/>
          </a:p>
          <a:p>
            <a:pPr marL="0" indent="0" algn="ctr">
              <a:buNone/>
            </a:pPr>
            <a:r>
              <a:rPr lang="en-US" sz="1500" b="1" dirty="0">
                <a:solidFill>
                  <a:srgbClr val="6B4FA0"/>
                </a:solidFill>
                <a:latin typeface="Georgia" pitchFamily="34" charset="0"/>
                <a:ea typeface="Georgia" pitchFamily="34" charset="-122"/>
                <a:cs typeface="Georgia" pitchFamily="34" charset="-120"/>
              </a:rPr>
              <a:t>&amp; Community</a:t>
            </a:r>
            <a:endParaRPr lang="en-US" sz="1500" dirty="0"/>
          </a:p>
        </p:txBody>
      </p:sp>
      <p:sp>
        <p:nvSpPr>
          <p:cNvPr id="15" name="Text 12"/>
          <p:cNvSpPr/>
          <p:nvPr/>
        </p:nvSpPr>
        <p:spPr>
          <a:xfrm>
            <a:off x="3346704" y="3072384"/>
            <a:ext cx="2286000" cy="1417320"/>
          </a:xfrm>
          <a:prstGeom prst="rect">
            <a:avLst/>
          </a:prstGeom>
          <a:noFill/>
          <a:ln/>
        </p:spPr>
        <p:txBody>
          <a:bodyPr wrap="square" rtlCol="0" anchor="t"/>
          <a:lstStyle/>
          <a:p>
            <a:pPr marL="0" indent="0" algn="ctr">
              <a:buNone/>
            </a:pPr>
            <a:r>
              <a:rPr lang="en-US" sz="1150" dirty="0">
                <a:solidFill>
                  <a:srgbClr val="444444"/>
                </a:solidFill>
                <a:latin typeface="Calibri" pitchFamily="34" charset="0"/>
                <a:ea typeface="Calibri" pitchFamily="34" charset="-122"/>
                <a:cs typeface="Calibri" pitchFamily="34" charset="-120"/>
              </a:rPr>
              <a:t>Connect families globally, reduce isolation, provide expert resources, build a support network</a:t>
            </a:r>
            <a:endParaRPr lang="en-US" sz="1150" dirty="0"/>
          </a:p>
        </p:txBody>
      </p:sp>
      <p:sp>
        <p:nvSpPr>
          <p:cNvPr id="16" name="Shape 13"/>
          <p:cNvSpPr/>
          <p:nvPr/>
        </p:nvSpPr>
        <p:spPr>
          <a:xfrm>
            <a:off x="6016752" y="1572768"/>
            <a:ext cx="2606040" cy="3063240"/>
          </a:xfrm>
          <a:prstGeom prst="rect">
            <a:avLst/>
          </a:prstGeom>
          <a:solidFill>
            <a:srgbClr val="F8E8F0"/>
          </a:solidFill>
          <a:ln w="19050">
            <a:solidFill>
              <a:srgbClr val="CC0066"/>
            </a:solidFill>
            <a:prstDash val="solid"/>
          </a:ln>
          <a:effectLst>
            <a:outerShdw blurRad="127000" dist="38100" dir="8100000" algn="bl" rotWithShape="0">
              <a:srgbClr val="000000">
                <a:alpha val="18000"/>
              </a:srgbClr>
            </a:outerShdw>
          </a:effectLst>
        </p:spPr>
        <p:txBody>
          <a:bodyPr/>
          <a:lstStyle/>
          <a:p>
            <a:endParaRPr lang="en-US"/>
          </a:p>
        </p:txBody>
      </p:sp>
      <p:sp>
        <p:nvSpPr>
          <p:cNvPr id="17" name="Shape 14"/>
          <p:cNvSpPr/>
          <p:nvPr/>
        </p:nvSpPr>
        <p:spPr>
          <a:xfrm>
            <a:off x="6016752" y="1572768"/>
            <a:ext cx="2606040" cy="73152"/>
          </a:xfrm>
          <a:prstGeom prst="rect">
            <a:avLst/>
          </a:prstGeom>
          <a:solidFill>
            <a:srgbClr val="CC0066"/>
          </a:solidFill>
          <a:ln w="12700">
            <a:solidFill>
              <a:srgbClr val="CC0066"/>
            </a:solidFill>
            <a:prstDash val="solid"/>
          </a:ln>
        </p:spPr>
        <p:txBody>
          <a:bodyPr/>
          <a:lstStyle/>
          <a:p>
            <a:endParaRPr lang="en-US"/>
          </a:p>
        </p:txBody>
      </p:sp>
      <p:sp>
        <p:nvSpPr>
          <p:cNvPr id="18" name="Text 15"/>
          <p:cNvSpPr/>
          <p:nvPr/>
        </p:nvSpPr>
        <p:spPr>
          <a:xfrm>
            <a:off x="6839712" y="1719072"/>
            <a:ext cx="1005840" cy="59436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9" name="Text 16"/>
          <p:cNvSpPr/>
          <p:nvPr/>
        </p:nvSpPr>
        <p:spPr>
          <a:xfrm>
            <a:off x="6126480" y="2359152"/>
            <a:ext cx="2395728" cy="658368"/>
          </a:xfrm>
          <a:prstGeom prst="rect">
            <a:avLst/>
          </a:prstGeom>
          <a:noFill/>
          <a:ln/>
        </p:spPr>
        <p:txBody>
          <a:bodyPr wrap="square" rtlCol="0" anchor="ctr"/>
          <a:lstStyle/>
          <a:p>
            <a:pPr marL="0" indent="0" algn="ctr">
              <a:buNone/>
            </a:pPr>
            <a:r>
              <a:rPr lang="en-US" sz="1500" b="1" dirty="0">
                <a:solidFill>
                  <a:srgbClr val="CC0066"/>
                </a:solidFill>
                <a:latin typeface="Georgia" pitchFamily="34" charset="0"/>
                <a:ea typeface="Georgia" pitchFamily="34" charset="-122"/>
                <a:cs typeface="Georgia" pitchFamily="34" charset="-120"/>
              </a:rPr>
              <a:t>Awareness</a:t>
            </a:r>
            <a:endParaRPr lang="en-US" sz="1500" dirty="0"/>
          </a:p>
          <a:p>
            <a:pPr marL="0" indent="0" algn="ctr">
              <a:buNone/>
            </a:pPr>
            <a:r>
              <a:rPr lang="en-US" sz="1500" b="1" dirty="0">
                <a:solidFill>
                  <a:srgbClr val="CC0066"/>
                </a:solidFill>
                <a:latin typeface="Georgia" pitchFamily="34" charset="0"/>
                <a:ea typeface="Georgia" pitchFamily="34" charset="-122"/>
                <a:cs typeface="Georgia" pitchFamily="34" charset="-120"/>
              </a:rPr>
              <a:t>&amp; Advocacy</a:t>
            </a:r>
            <a:endParaRPr lang="en-US" sz="1500" dirty="0"/>
          </a:p>
        </p:txBody>
      </p:sp>
      <p:sp>
        <p:nvSpPr>
          <p:cNvPr id="20" name="Text 17"/>
          <p:cNvSpPr/>
          <p:nvPr/>
        </p:nvSpPr>
        <p:spPr>
          <a:xfrm>
            <a:off x="6181344" y="3072384"/>
            <a:ext cx="2286000" cy="1417320"/>
          </a:xfrm>
          <a:prstGeom prst="rect">
            <a:avLst/>
          </a:prstGeom>
          <a:noFill/>
          <a:ln/>
        </p:spPr>
        <p:txBody>
          <a:bodyPr wrap="square" rtlCol="0" anchor="t"/>
          <a:lstStyle/>
          <a:p>
            <a:pPr marL="0" indent="0" algn="ctr">
              <a:buNone/>
            </a:pPr>
            <a:r>
              <a:rPr lang="en-US" sz="1150" dirty="0">
                <a:solidFill>
                  <a:srgbClr val="444444"/>
                </a:solidFill>
                <a:latin typeface="Calibri" pitchFamily="34" charset="0"/>
                <a:ea typeface="Calibri" pitchFamily="34" charset="-122"/>
                <a:cs typeface="Calibri" pitchFamily="34" charset="-120"/>
              </a:rPr>
              <a:t>Grow recognition, build clinical relationships, influence policy, make SETD5 known worldwide</a:t>
            </a:r>
            <a:endParaRPr lang="en-US" sz="1150" dirty="0"/>
          </a:p>
        </p:txBody>
      </p:sp>
      <p:sp>
        <p:nvSpPr>
          <p:cNvPr id="21" name="Text 18"/>
          <p:cNvSpPr/>
          <p:nvPr/>
        </p:nvSpPr>
        <p:spPr>
          <a:xfrm>
            <a:off x="365760" y="4754880"/>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30017B-1E88-8584-D54B-1BEB7E499398}"/>
              </a:ext>
            </a:extLst>
          </p:cNvPr>
          <p:cNvPicPr>
            <a:picLocks noChangeAspect="1"/>
          </p:cNvPicPr>
          <p:nvPr/>
        </p:nvPicPr>
        <p:blipFill>
          <a:blip r:embed="rId2"/>
          <a:stretch>
            <a:fillRect/>
          </a:stretch>
        </p:blipFill>
        <p:spPr>
          <a:xfrm>
            <a:off x="685800" y="897846"/>
            <a:ext cx="7772400" cy="3347809"/>
          </a:xfrm>
          <a:prstGeom prst="rect">
            <a:avLst/>
          </a:prstGeom>
        </p:spPr>
      </p:pic>
    </p:spTree>
    <p:extLst>
      <p:ext uri="{BB962C8B-B14F-4D97-AF65-F5344CB8AC3E}">
        <p14:creationId xmlns:p14="http://schemas.microsoft.com/office/powerpoint/2010/main" val="4190994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C181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p:cNvSpPr/>
          <p:nvPr/>
        </p:nvSpPr>
        <p:spPr>
          <a:xfrm>
            <a:off x="457200" y="804672"/>
            <a:ext cx="8229600" cy="6400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What Is SETD5?</a:t>
            </a:r>
            <a:endParaRPr lang="en-US" sz="3600" dirty="0"/>
          </a:p>
        </p:txBody>
      </p:sp>
      <p:sp>
        <p:nvSpPr>
          <p:cNvPr id="6" name="Text 3"/>
          <p:cNvSpPr/>
          <p:nvPr/>
        </p:nvSpPr>
        <p:spPr>
          <a:xfrm>
            <a:off x="457200" y="1572768"/>
            <a:ext cx="4114800" cy="1371600"/>
          </a:xfrm>
          <a:prstGeom prst="rect">
            <a:avLst/>
          </a:prstGeom>
          <a:noFill/>
          <a:ln/>
        </p:spPr>
        <p:txBody>
          <a:bodyPr wrap="square" rtlCol="0" anchor="t"/>
          <a:lstStyle/>
          <a:p>
            <a:pPr marL="0" indent="0">
              <a:buNone/>
            </a:pPr>
            <a:r>
              <a:rPr lang="en-US" sz="1300" dirty="0">
                <a:solidFill>
                  <a:srgbClr val="CCCCCC"/>
                </a:solidFill>
                <a:latin typeface="Calibri" pitchFamily="34" charset="0"/>
                <a:ea typeface="Calibri" pitchFamily="34" charset="-122"/>
                <a:cs typeface="Calibri" pitchFamily="34" charset="-120"/>
              </a:rPr>
              <a:t>SETD5 (SET Domain Containing 5) is a gene involved in regulating how other genes are expressed.
Pathogenic variants cause a neurodevelopmental syndrome characterized by:
</a:t>
            </a:r>
            <a:endParaRPr lang="en-US" sz="1300" dirty="0"/>
          </a:p>
        </p:txBody>
      </p:sp>
      <p:sp>
        <p:nvSpPr>
          <p:cNvPr id="7" name="Shape 4"/>
          <p:cNvSpPr/>
          <p:nvPr/>
        </p:nvSpPr>
        <p:spPr>
          <a:xfrm>
            <a:off x="457200" y="2834640"/>
            <a:ext cx="164592" cy="164592"/>
          </a:xfrm>
          <a:prstGeom prst="ellipse">
            <a:avLst/>
          </a:prstGeom>
          <a:solidFill>
            <a:srgbClr val="0E9B9B"/>
          </a:solidFill>
          <a:ln w="12700">
            <a:solidFill>
              <a:srgbClr val="0E9B9B"/>
            </a:solidFill>
            <a:prstDash val="solid"/>
          </a:ln>
        </p:spPr>
        <p:txBody>
          <a:bodyPr/>
          <a:lstStyle/>
          <a:p>
            <a:endParaRPr lang="en-US"/>
          </a:p>
        </p:txBody>
      </p:sp>
      <p:sp>
        <p:nvSpPr>
          <p:cNvPr id="8" name="Text 5"/>
          <p:cNvSpPr/>
          <p:nvPr/>
        </p:nvSpPr>
        <p:spPr>
          <a:xfrm>
            <a:off x="749808" y="2779776"/>
            <a:ext cx="3474720" cy="329184"/>
          </a:xfrm>
          <a:prstGeom prst="rect">
            <a:avLst/>
          </a:prstGeom>
          <a:noFill/>
          <a:ln/>
        </p:spPr>
        <p:txBody>
          <a:bodyPr wrap="square" rtlCol="0" anchor="ctr"/>
          <a:lstStyle/>
          <a:p>
            <a:pPr marL="0" indent="0">
              <a:buNone/>
            </a:pPr>
            <a:r>
              <a:rPr lang="en-US" sz="1250" dirty="0">
                <a:solidFill>
                  <a:srgbClr val="DDDDDD"/>
                </a:solidFill>
                <a:latin typeface="Calibri" pitchFamily="34" charset="0"/>
                <a:ea typeface="Calibri" pitchFamily="34" charset="-122"/>
                <a:cs typeface="Calibri" pitchFamily="34" charset="-120"/>
              </a:rPr>
              <a:t>Intellectual disability –Borderline-Moderate (None – Severe)</a:t>
            </a:r>
            <a:endParaRPr lang="en-US" sz="1250" dirty="0"/>
          </a:p>
        </p:txBody>
      </p:sp>
      <p:sp>
        <p:nvSpPr>
          <p:cNvPr id="9" name="Shape 6"/>
          <p:cNvSpPr/>
          <p:nvPr/>
        </p:nvSpPr>
        <p:spPr>
          <a:xfrm>
            <a:off x="457200" y="3182112"/>
            <a:ext cx="164592" cy="164592"/>
          </a:xfrm>
          <a:prstGeom prst="ellipse">
            <a:avLst/>
          </a:prstGeom>
          <a:solidFill>
            <a:srgbClr val="0E9B9B"/>
          </a:solidFill>
          <a:ln w="12700">
            <a:solidFill>
              <a:srgbClr val="0E9B9B"/>
            </a:solidFill>
            <a:prstDash val="solid"/>
          </a:ln>
        </p:spPr>
        <p:txBody>
          <a:bodyPr/>
          <a:lstStyle/>
          <a:p>
            <a:endParaRPr lang="en-US"/>
          </a:p>
        </p:txBody>
      </p:sp>
      <p:sp>
        <p:nvSpPr>
          <p:cNvPr id="10" name="Text 7"/>
          <p:cNvSpPr/>
          <p:nvPr/>
        </p:nvSpPr>
        <p:spPr>
          <a:xfrm>
            <a:off x="749808" y="3127248"/>
            <a:ext cx="3474720" cy="329184"/>
          </a:xfrm>
          <a:prstGeom prst="rect">
            <a:avLst/>
          </a:prstGeom>
          <a:noFill/>
          <a:ln/>
        </p:spPr>
        <p:txBody>
          <a:bodyPr wrap="square" rtlCol="0" anchor="ctr"/>
          <a:lstStyle/>
          <a:p>
            <a:pPr marL="0" indent="0">
              <a:buNone/>
            </a:pPr>
            <a:r>
              <a:rPr lang="en-US" sz="1250" dirty="0">
                <a:solidFill>
                  <a:srgbClr val="DDDDDD"/>
                </a:solidFill>
                <a:latin typeface="Calibri" pitchFamily="34" charset="0"/>
                <a:ea typeface="Calibri" pitchFamily="34" charset="-122"/>
                <a:cs typeface="Calibri" pitchFamily="34" charset="-120"/>
              </a:rPr>
              <a:t>Speech &amp; language delays</a:t>
            </a:r>
            <a:endParaRPr lang="en-US" sz="1250" dirty="0"/>
          </a:p>
        </p:txBody>
      </p:sp>
      <p:sp>
        <p:nvSpPr>
          <p:cNvPr id="11" name="Shape 8"/>
          <p:cNvSpPr/>
          <p:nvPr/>
        </p:nvSpPr>
        <p:spPr>
          <a:xfrm>
            <a:off x="457200" y="3529584"/>
            <a:ext cx="164592" cy="164592"/>
          </a:xfrm>
          <a:prstGeom prst="ellipse">
            <a:avLst/>
          </a:prstGeom>
          <a:solidFill>
            <a:srgbClr val="0E9B9B"/>
          </a:solidFill>
          <a:ln w="12700">
            <a:solidFill>
              <a:srgbClr val="0E9B9B"/>
            </a:solidFill>
            <a:prstDash val="solid"/>
          </a:ln>
        </p:spPr>
        <p:txBody>
          <a:bodyPr/>
          <a:lstStyle/>
          <a:p>
            <a:endParaRPr lang="en-US"/>
          </a:p>
        </p:txBody>
      </p:sp>
      <p:sp>
        <p:nvSpPr>
          <p:cNvPr id="12" name="Text 9"/>
          <p:cNvSpPr/>
          <p:nvPr/>
        </p:nvSpPr>
        <p:spPr>
          <a:xfrm>
            <a:off x="749808" y="3474720"/>
            <a:ext cx="3474720" cy="329184"/>
          </a:xfrm>
          <a:prstGeom prst="rect">
            <a:avLst/>
          </a:prstGeom>
          <a:noFill/>
          <a:ln/>
        </p:spPr>
        <p:txBody>
          <a:bodyPr wrap="square" rtlCol="0" anchor="ctr"/>
          <a:lstStyle/>
          <a:p>
            <a:pPr marL="0" indent="0">
              <a:buNone/>
            </a:pPr>
            <a:r>
              <a:rPr lang="en-US" sz="1250" dirty="0">
                <a:solidFill>
                  <a:srgbClr val="DDDDDD"/>
                </a:solidFill>
                <a:latin typeface="Calibri" pitchFamily="34" charset="0"/>
                <a:ea typeface="Calibri" pitchFamily="34" charset="-122"/>
                <a:cs typeface="Calibri" pitchFamily="34" charset="-120"/>
              </a:rPr>
              <a:t>Autism spectrum features (~30%)</a:t>
            </a:r>
            <a:endParaRPr lang="en-US" sz="1250" dirty="0"/>
          </a:p>
        </p:txBody>
      </p:sp>
      <p:sp>
        <p:nvSpPr>
          <p:cNvPr id="13" name="Shape 10"/>
          <p:cNvSpPr/>
          <p:nvPr/>
        </p:nvSpPr>
        <p:spPr>
          <a:xfrm>
            <a:off x="457200" y="3877056"/>
            <a:ext cx="164592" cy="164592"/>
          </a:xfrm>
          <a:prstGeom prst="ellipse">
            <a:avLst/>
          </a:prstGeom>
          <a:solidFill>
            <a:srgbClr val="0E9B9B"/>
          </a:solidFill>
          <a:ln w="12700">
            <a:solidFill>
              <a:srgbClr val="0E9B9B"/>
            </a:solidFill>
            <a:prstDash val="solid"/>
          </a:ln>
        </p:spPr>
        <p:txBody>
          <a:bodyPr/>
          <a:lstStyle/>
          <a:p>
            <a:endParaRPr lang="en-US"/>
          </a:p>
        </p:txBody>
      </p:sp>
      <p:sp>
        <p:nvSpPr>
          <p:cNvPr id="14" name="Text 11"/>
          <p:cNvSpPr/>
          <p:nvPr/>
        </p:nvSpPr>
        <p:spPr>
          <a:xfrm>
            <a:off x="749808" y="3822192"/>
            <a:ext cx="3474720" cy="329184"/>
          </a:xfrm>
          <a:prstGeom prst="rect">
            <a:avLst/>
          </a:prstGeom>
          <a:noFill/>
          <a:ln/>
        </p:spPr>
        <p:txBody>
          <a:bodyPr wrap="square" rtlCol="0" anchor="ctr"/>
          <a:lstStyle/>
          <a:p>
            <a:pPr marL="0" indent="0">
              <a:buNone/>
            </a:pPr>
            <a:r>
              <a:rPr lang="en-US" sz="1250" dirty="0">
                <a:solidFill>
                  <a:srgbClr val="DDDDDD"/>
                </a:solidFill>
                <a:latin typeface="Calibri" pitchFamily="34" charset="0"/>
                <a:ea typeface="Calibri" pitchFamily="34" charset="-122"/>
                <a:cs typeface="Calibri" pitchFamily="34" charset="-120"/>
              </a:rPr>
              <a:t>Variety of medical complexity</a:t>
            </a:r>
            <a:endParaRPr lang="en-US" sz="1250" dirty="0"/>
          </a:p>
        </p:txBody>
      </p:sp>
      <p:sp>
        <p:nvSpPr>
          <p:cNvPr id="15" name="Shape 12"/>
          <p:cNvSpPr/>
          <p:nvPr/>
        </p:nvSpPr>
        <p:spPr>
          <a:xfrm>
            <a:off x="457200" y="4224528"/>
            <a:ext cx="164592" cy="164592"/>
          </a:xfrm>
          <a:prstGeom prst="ellipse">
            <a:avLst/>
          </a:prstGeom>
          <a:solidFill>
            <a:srgbClr val="0E9B9B"/>
          </a:solidFill>
          <a:ln w="12700">
            <a:solidFill>
              <a:srgbClr val="0E9B9B"/>
            </a:solidFill>
            <a:prstDash val="solid"/>
          </a:ln>
        </p:spPr>
        <p:txBody>
          <a:bodyPr/>
          <a:lstStyle/>
          <a:p>
            <a:endParaRPr lang="en-US"/>
          </a:p>
        </p:txBody>
      </p:sp>
      <p:sp>
        <p:nvSpPr>
          <p:cNvPr id="16" name="Text 13"/>
          <p:cNvSpPr/>
          <p:nvPr/>
        </p:nvSpPr>
        <p:spPr>
          <a:xfrm>
            <a:off x="749808" y="4177547"/>
            <a:ext cx="3474720" cy="329184"/>
          </a:xfrm>
          <a:prstGeom prst="rect">
            <a:avLst/>
          </a:prstGeom>
          <a:noFill/>
          <a:ln/>
        </p:spPr>
        <p:txBody>
          <a:bodyPr wrap="square" rtlCol="0" anchor="ctr"/>
          <a:lstStyle/>
          <a:p>
            <a:pPr marL="0" indent="0">
              <a:buNone/>
            </a:pPr>
            <a:r>
              <a:rPr lang="en-US" sz="1250" dirty="0">
                <a:solidFill>
                  <a:srgbClr val="DDDDDD"/>
                </a:solidFill>
                <a:latin typeface="Calibri" pitchFamily="34" charset="0"/>
                <a:ea typeface="Calibri" pitchFamily="34" charset="-122"/>
                <a:cs typeface="Calibri" pitchFamily="34" charset="-120"/>
              </a:rPr>
              <a:t>Facial feature differences</a:t>
            </a:r>
            <a:endParaRPr lang="en-US" sz="1250" dirty="0"/>
          </a:p>
        </p:txBody>
      </p:sp>
      <p:sp>
        <p:nvSpPr>
          <p:cNvPr id="17" name="Shape 14"/>
          <p:cNvSpPr/>
          <p:nvPr/>
        </p:nvSpPr>
        <p:spPr>
          <a:xfrm>
            <a:off x="5074920" y="1481328"/>
            <a:ext cx="3657600" cy="1005840"/>
          </a:xfrm>
          <a:prstGeom prst="rect">
            <a:avLst/>
          </a:prstGeom>
          <a:solidFill>
            <a:srgbClr val="1A2E2E"/>
          </a:solidFill>
          <a:ln w="12700">
            <a:solidFill>
              <a:srgbClr val="0E9B9B"/>
            </a:solidFill>
            <a:prstDash val="solid"/>
          </a:ln>
          <a:effectLst>
            <a:outerShdw blurRad="127000" dist="38100" dir="8100000" algn="bl" rotWithShape="0">
              <a:srgbClr val="000000">
                <a:alpha val="18000"/>
              </a:srgbClr>
            </a:outerShdw>
          </a:effectLst>
        </p:spPr>
        <p:txBody>
          <a:bodyPr/>
          <a:lstStyle/>
          <a:p>
            <a:endParaRPr lang="en-US"/>
          </a:p>
        </p:txBody>
      </p:sp>
      <p:sp>
        <p:nvSpPr>
          <p:cNvPr id="18" name="Shape 15"/>
          <p:cNvSpPr/>
          <p:nvPr/>
        </p:nvSpPr>
        <p:spPr>
          <a:xfrm>
            <a:off x="5074920" y="1481328"/>
            <a:ext cx="54864" cy="1005840"/>
          </a:xfrm>
          <a:prstGeom prst="rect">
            <a:avLst/>
          </a:prstGeom>
          <a:solidFill>
            <a:srgbClr val="0E9B9B"/>
          </a:solidFill>
          <a:ln w="12700">
            <a:solidFill>
              <a:srgbClr val="0E9B9B"/>
            </a:solidFill>
            <a:prstDash val="solid"/>
          </a:ln>
        </p:spPr>
        <p:txBody>
          <a:bodyPr/>
          <a:lstStyle/>
          <a:p>
            <a:endParaRPr lang="en-US"/>
          </a:p>
        </p:txBody>
      </p:sp>
      <p:sp>
        <p:nvSpPr>
          <p:cNvPr id="19" name="Text 16"/>
          <p:cNvSpPr/>
          <p:nvPr/>
        </p:nvSpPr>
        <p:spPr>
          <a:xfrm>
            <a:off x="5285232" y="1536192"/>
            <a:ext cx="3291840" cy="438912"/>
          </a:xfrm>
          <a:prstGeom prst="rect">
            <a:avLst/>
          </a:prstGeom>
          <a:noFill/>
          <a:ln/>
        </p:spPr>
        <p:txBody>
          <a:bodyPr wrap="square" rtlCol="0" anchor="ctr"/>
          <a:lstStyle/>
          <a:p>
            <a:pPr marL="0" indent="0">
              <a:buNone/>
            </a:pPr>
            <a:r>
              <a:rPr lang="en-US" sz="2200" b="1" dirty="0">
                <a:solidFill>
                  <a:srgbClr val="0E9B9B"/>
                </a:solidFill>
                <a:latin typeface="Georgia" pitchFamily="34" charset="0"/>
                <a:ea typeface="Georgia" pitchFamily="34" charset="-122"/>
                <a:cs typeface="Georgia" pitchFamily="34" charset="-120"/>
              </a:rPr>
              <a:t>~1% of patients with ID and/or ASD</a:t>
            </a:r>
            <a:endParaRPr lang="en-US" sz="2200" dirty="0"/>
          </a:p>
        </p:txBody>
      </p:sp>
      <p:sp>
        <p:nvSpPr>
          <p:cNvPr id="20" name="Text 17"/>
          <p:cNvSpPr/>
          <p:nvPr/>
        </p:nvSpPr>
        <p:spPr>
          <a:xfrm>
            <a:off x="5285232" y="1938528"/>
            <a:ext cx="3291840" cy="411480"/>
          </a:xfrm>
          <a:prstGeom prst="rect">
            <a:avLst/>
          </a:prstGeom>
          <a:noFill/>
          <a:ln/>
        </p:spPr>
        <p:txBody>
          <a:bodyPr wrap="square" rtlCol="0" anchor="ctr"/>
          <a:lstStyle/>
          <a:p>
            <a:pPr marL="0" indent="0">
              <a:buNone/>
            </a:pPr>
            <a:endParaRPr lang="en-US" sz="1100" dirty="0">
              <a:solidFill>
                <a:srgbClr val="AAAAAA"/>
              </a:solidFill>
              <a:latin typeface="Calibri" pitchFamily="34" charset="0"/>
              <a:ea typeface="Calibri" pitchFamily="34" charset="-122"/>
              <a:cs typeface="Calibri" pitchFamily="34" charset="-120"/>
            </a:endParaRPr>
          </a:p>
          <a:p>
            <a:pPr marL="0" indent="0">
              <a:buNone/>
            </a:pPr>
            <a:r>
              <a:rPr lang="en-US" sz="1100" dirty="0">
                <a:solidFill>
                  <a:srgbClr val="AAAAAA"/>
                </a:solidFill>
                <a:latin typeface="Calibri" pitchFamily="34" charset="0"/>
                <a:ea typeface="Calibri" pitchFamily="34" charset="-122"/>
                <a:cs typeface="Calibri" pitchFamily="34" charset="-120"/>
              </a:rPr>
              <a:t>Relatively frequent cause</a:t>
            </a:r>
          </a:p>
          <a:p>
            <a:pPr marL="0" indent="0">
              <a:buNone/>
            </a:pPr>
            <a:r>
              <a:rPr lang="en-US" sz="1100" dirty="0">
                <a:solidFill>
                  <a:srgbClr val="AAAAAA"/>
                </a:solidFill>
                <a:latin typeface="Calibri" pitchFamily="34" charset="0"/>
                <a:ea typeface="Calibri" pitchFamily="34" charset="-122"/>
                <a:cs typeface="Calibri" pitchFamily="34" charset="-120"/>
              </a:rPr>
              <a:t>(likely underdiagnosed)</a:t>
            </a:r>
            <a:endParaRPr lang="en-US" sz="1100" dirty="0"/>
          </a:p>
        </p:txBody>
      </p:sp>
      <p:sp>
        <p:nvSpPr>
          <p:cNvPr id="21" name="Shape 18"/>
          <p:cNvSpPr/>
          <p:nvPr/>
        </p:nvSpPr>
        <p:spPr>
          <a:xfrm>
            <a:off x="5074920" y="2670048"/>
            <a:ext cx="3657600" cy="1005840"/>
          </a:xfrm>
          <a:prstGeom prst="rect">
            <a:avLst/>
          </a:prstGeom>
          <a:solidFill>
            <a:srgbClr val="1A2E2E"/>
          </a:solidFill>
          <a:ln w="12700">
            <a:solidFill>
              <a:srgbClr val="6B4FA0"/>
            </a:solidFill>
            <a:prstDash val="solid"/>
          </a:ln>
          <a:effectLst>
            <a:outerShdw blurRad="127000" dist="38100" dir="8100000" algn="bl" rotWithShape="0">
              <a:srgbClr val="000000">
                <a:alpha val="18000"/>
              </a:srgbClr>
            </a:outerShdw>
          </a:effectLst>
        </p:spPr>
        <p:txBody>
          <a:bodyPr/>
          <a:lstStyle/>
          <a:p>
            <a:endParaRPr lang="en-US"/>
          </a:p>
        </p:txBody>
      </p:sp>
      <p:sp>
        <p:nvSpPr>
          <p:cNvPr id="22" name="Shape 19"/>
          <p:cNvSpPr/>
          <p:nvPr/>
        </p:nvSpPr>
        <p:spPr>
          <a:xfrm>
            <a:off x="5074920" y="2670048"/>
            <a:ext cx="54864" cy="1005840"/>
          </a:xfrm>
          <a:prstGeom prst="rect">
            <a:avLst/>
          </a:prstGeom>
          <a:solidFill>
            <a:srgbClr val="6B4FA0"/>
          </a:solidFill>
          <a:ln w="12700">
            <a:solidFill>
              <a:srgbClr val="6B4FA0"/>
            </a:solidFill>
            <a:prstDash val="solid"/>
          </a:ln>
        </p:spPr>
        <p:txBody>
          <a:bodyPr/>
          <a:lstStyle/>
          <a:p>
            <a:endParaRPr lang="en-US"/>
          </a:p>
        </p:txBody>
      </p:sp>
      <p:sp>
        <p:nvSpPr>
          <p:cNvPr id="23" name="Text 20"/>
          <p:cNvSpPr/>
          <p:nvPr/>
        </p:nvSpPr>
        <p:spPr>
          <a:xfrm>
            <a:off x="5285232" y="2724912"/>
            <a:ext cx="3291840" cy="438912"/>
          </a:xfrm>
          <a:prstGeom prst="rect">
            <a:avLst/>
          </a:prstGeom>
          <a:noFill/>
          <a:ln/>
        </p:spPr>
        <p:txBody>
          <a:bodyPr wrap="square" rtlCol="0" anchor="ctr"/>
          <a:lstStyle/>
          <a:p>
            <a:pPr marL="0" indent="0">
              <a:buNone/>
            </a:pPr>
            <a:r>
              <a:rPr lang="en-US" sz="2200" b="1" dirty="0">
                <a:solidFill>
                  <a:srgbClr val="6B4FA0"/>
                </a:solidFill>
                <a:latin typeface="Georgia" pitchFamily="34" charset="0"/>
                <a:ea typeface="Georgia" pitchFamily="34" charset="-122"/>
                <a:cs typeface="Georgia" pitchFamily="34" charset="-120"/>
              </a:rPr>
              <a:t>1,100+</a:t>
            </a:r>
            <a:endParaRPr lang="en-US" sz="2200" dirty="0"/>
          </a:p>
        </p:txBody>
      </p:sp>
      <p:sp>
        <p:nvSpPr>
          <p:cNvPr id="24" name="Text 21"/>
          <p:cNvSpPr/>
          <p:nvPr/>
        </p:nvSpPr>
        <p:spPr>
          <a:xfrm>
            <a:off x="5285232" y="3127248"/>
            <a:ext cx="3291840" cy="411480"/>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People in our global</a:t>
            </a:r>
            <a:endParaRPr lang="en-US" sz="1100" dirty="0"/>
          </a:p>
          <a:p>
            <a:pPr marL="0" indent="0">
              <a:buNone/>
            </a:pPr>
            <a:r>
              <a:rPr lang="en-US" sz="1100" dirty="0">
                <a:solidFill>
                  <a:srgbClr val="AAAAAA"/>
                </a:solidFill>
                <a:latin typeface="Calibri" pitchFamily="34" charset="0"/>
                <a:ea typeface="Calibri" pitchFamily="34" charset="-122"/>
                <a:cs typeface="Calibri" pitchFamily="34" charset="-120"/>
              </a:rPr>
              <a:t>Facebook community</a:t>
            </a:r>
          </a:p>
          <a:p>
            <a:pPr marL="0" indent="0">
              <a:buNone/>
            </a:pPr>
            <a:r>
              <a:rPr lang="en-US" sz="1100" dirty="0">
                <a:solidFill>
                  <a:srgbClr val="AAAAAA"/>
                </a:solidFill>
                <a:latin typeface="Calibri" pitchFamily="34" charset="0"/>
                <a:ea typeface="Calibri" pitchFamily="34" charset="-122"/>
                <a:cs typeface="Calibri" pitchFamily="34" charset="-120"/>
              </a:rPr>
              <a:t>350 (2022), 8 new members in last week alone</a:t>
            </a:r>
            <a:endParaRPr lang="en-US" sz="1100" dirty="0"/>
          </a:p>
        </p:txBody>
      </p:sp>
      <p:sp>
        <p:nvSpPr>
          <p:cNvPr id="25" name="Shape 22"/>
          <p:cNvSpPr/>
          <p:nvPr/>
        </p:nvSpPr>
        <p:spPr>
          <a:xfrm>
            <a:off x="5074920" y="3785616"/>
            <a:ext cx="3657600" cy="1078992"/>
          </a:xfrm>
          <a:prstGeom prst="rect">
            <a:avLst/>
          </a:prstGeom>
          <a:solidFill>
            <a:srgbClr val="1A2E2E"/>
          </a:solidFill>
          <a:ln w="12700">
            <a:solidFill>
              <a:srgbClr val="FF3CAC"/>
            </a:solidFill>
            <a:prstDash val="solid"/>
          </a:ln>
          <a:effectLst>
            <a:outerShdw blurRad="127000" dist="38100" dir="8100000" algn="bl" rotWithShape="0">
              <a:srgbClr val="000000">
                <a:alpha val="18000"/>
              </a:srgbClr>
            </a:outerShdw>
          </a:effectLst>
        </p:spPr>
        <p:txBody>
          <a:bodyPr/>
          <a:lstStyle/>
          <a:p>
            <a:endParaRPr lang="en-US"/>
          </a:p>
        </p:txBody>
      </p:sp>
      <p:sp>
        <p:nvSpPr>
          <p:cNvPr id="26" name="Shape 23"/>
          <p:cNvSpPr/>
          <p:nvPr/>
        </p:nvSpPr>
        <p:spPr>
          <a:xfrm>
            <a:off x="5074920" y="3858768"/>
            <a:ext cx="54864" cy="1005840"/>
          </a:xfrm>
          <a:prstGeom prst="rect">
            <a:avLst/>
          </a:prstGeom>
          <a:solidFill>
            <a:srgbClr val="FF3CAC"/>
          </a:solidFill>
          <a:ln w="12700">
            <a:solidFill>
              <a:srgbClr val="FF3CAC"/>
            </a:solidFill>
            <a:prstDash val="solid"/>
          </a:ln>
        </p:spPr>
        <p:txBody>
          <a:bodyPr/>
          <a:lstStyle/>
          <a:p>
            <a:endParaRPr lang="en-US"/>
          </a:p>
        </p:txBody>
      </p:sp>
      <p:sp>
        <p:nvSpPr>
          <p:cNvPr id="27" name="Text 24"/>
          <p:cNvSpPr/>
          <p:nvPr/>
        </p:nvSpPr>
        <p:spPr>
          <a:xfrm>
            <a:off x="5285232" y="3871399"/>
            <a:ext cx="3291840" cy="438912"/>
          </a:xfrm>
          <a:prstGeom prst="rect">
            <a:avLst/>
          </a:prstGeom>
          <a:noFill/>
          <a:ln/>
        </p:spPr>
        <p:txBody>
          <a:bodyPr wrap="square" rtlCol="0" anchor="ctr"/>
          <a:lstStyle/>
          <a:p>
            <a:pPr marL="0" indent="0">
              <a:buNone/>
            </a:pPr>
            <a:r>
              <a:rPr lang="en-US" sz="2200" b="1" dirty="0">
                <a:solidFill>
                  <a:srgbClr val="FF3CAC"/>
                </a:solidFill>
                <a:latin typeface="Georgia" pitchFamily="34" charset="0"/>
                <a:ea typeface="Georgia" pitchFamily="34" charset="-122"/>
                <a:cs typeface="Georgia" pitchFamily="34" charset="-120"/>
              </a:rPr>
              <a:t>De novo and Inherited</a:t>
            </a:r>
            <a:endParaRPr lang="en-US" sz="2200" dirty="0"/>
          </a:p>
        </p:txBody>
      </p:sp>
      <p:sp>
        <p:nvSpPr>
          <p:cNvPr id="28" name="Text 25"/>
          <p:cNvSpPr/>
          <p:nvPr/>
        </p:nvSpPr>
        <p:spPr>
          <a:xfrm>
            <a:off x="5285232" y="4315968"/>
            <a:ext cx="3291840" cy="411480"/>
          </a:xfrm>
          <a:prstGeom prst="rect">
            <a:avLst/>
          </a:prstGeom>
          <a:noFill/>
          <a:ln/>
        </p:spPr>
        <p:txBody>
          <a:bodyPr wrap="square" rtlCol="0" anchor="ctr"/>
          <a:lstStyle/>
          <a:p>
            <a:pPr marL="0" indent="0">
              <a:buNone/>
            </a:pPr>
            <a:endParaRPr lang="en-US" sz="1100" dirty="0">
              <a:solidFill>
                <a:srgbClr val="AAAAAA"/>
              </a:solidFill>
              <a:latin typeface="Calibri" pitchFamily="34" charset="0"/>
              <a:ea typeface="Calibri" pitchFamily="34" charset="-122"/>
              <a:cs typeface="Calibri" pitchFamily="34" charset="-120"/>
            </a:endParaRPr>
          </a:p>
          <a:p>
            <a:pPr marL="0" indent="0">
              <a:buNone/>
            </a:pPr>
            <a:r>
              <a:rPr lang="en-US" sz="1100" dirty="0">
                <a:solidFill>
                  <a:srgbClr val="AAAAAA"/>
                </a:solidFill>
                <a:latin typeface="Calibri" pitchFamily="34" charset="0"/>
                <a:ea typeface="Calibri" pitchFamily="34" charset="-122"/>
                <a:cs typeface="Calibri" pitchFamily="34" charset="-120"/>
              </a:rPr>
              <a:t>Most pathogenic variants are new and not found in either parent, but a growing number of cases are inherited from a mildly or unaffected parent</a:t>
            </a:r>
            <a:endParaRPr lang="en-US" sz="1100" dirty="0"/>
          </a:p>
        </p:txBody>
      </p:sp>
      <p:sp>
        <p:nvSpPr>
          <p:cNvPr id="29" name="Text 26"/>
          <p:cNvSpPr/>
          <p:nvPr/>
        </p:nvSpPr>
        <p:spPr>
          <a:xfrm>
            <a:off x="320040" y="4814316"/>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p:cNvSpPr/>
          <p:nvPr/>
        </p:nvSpPr>
        <p:spPr>
          <a:xfrm>
            <a:off x="457200" y="804672"/>
            <a:ext cx="8229600" cy="640080"/>
          </a:xfrm>
          <a:prstGeom prst="rect">
            <a:avLst/>
          </a:prstGeom>
          <a:noFill/>
          <a:ln/>
        </p:spPr>
        <p:txBody>
          <a:bodyPr wrap="square" rtlCol="0" anchor="ctr"/>
          <a:lstStyle/>
          <a:p>
            <a:pPr marL="0" indent="0">
              <a:buNone/>
            </a:pPr>
            <a:r>
              <a:rPr lang="en-US" sz="3400" b="1" dirty="0">
                <a:solidFill>
                  <a:srgbClr val="0C1818"/>
                </a:solidFill>
                <a:latin typeface="Georgia" pitchFamily="34" charset="0"/>
                <a:ea typeface="Georgia" pitchFamily="34" charset="-122"/>
                <a:cs typeface="Georgia" pitchFamily="34" charset="-120"/>
              </a:rPr>
              <a:t>Landscape: Gaps &amp; Opportunities</a:t>
            </a:r>
            <a:endParaRPr lang="en-US" sz="3400" dirty="0"/>
          </a:p>
        </p:txBody>
      </p:sp>
      <p:sp>
        <p:nvSpPr>
          <p:cNvPr id="6" name="Shape 3"/>
          <p:cNvSpPr/>
          <p:nvPr/>
        </p:nvSpPr>
        <p:spPr>
          <a:xfrm>
            <a:off x="347472" y="1572768"/>
            <a:ext cx="3977640" cy="3154680"/>
          </a:xfrm>
          <a:prstGeom prst="rect">
            <a:avLst/>
          </a:prstGeom>
          <a:solidFill>
            <a:srgbClr val="E8F6F6"/>
          </a:solidFill>
          <a:ln w="12700">
            <a:solidFill>
              <a:srgbClr val="0E9B9B"/>
            </a:solidFill>
            <a:prstDash val="solid"/>
          </a:ln>
          <a:effectLst>
            <a:outerShdw blurRad="127000" dist="38100" dir="8100000" algn="bl" rotWithShape="0">
              <a:srgbClr val="000000">
                <a:alpha val="18000"/>
              </a:srgbClr>
            </a:outerShdw>
          </a:effectLst>
        </p:spPr>
        <p:txBody>
          <a:bodyPr/>
          <a:lstStyle/>
          <a:p>
            <a:endParaRPr lang="en-US"/>
          </a:p>
        </p:txBody>
      </p:sp>
      <p:sp>
        <p:nvSpPr>
          <p:cNvPr id="7" name="Shape 4"/>
          <p:cNvSpPr/>
          <p:nvPr/>
        </p:nvSpPr>
        <p:spPr>
          <a:xfrm>
            <a:off x="347472" y="1572768"/>
            <a:ext cx="3977640" cy="73152"/>
          </a:xfrm>
          <a:prstGeom prst="rect">
            <a:avLst/>
          </a:prstGeom>
          <a:solidFill>
            <a:srgbClr val="0E9B9B"/>
          </a:solidFill>
          <a:ln w="12700">
            <a:solidFill>
              <a:srgbClr val="0E9B9B"/>
            </a:solidFill>
            <a:prstDash val="solid"/>
          </a:ln>
        </p:spPr>
        <p:txBody>
          <a:bodyPr/>
          <a:lstStyle/>
          <a:p>
            <a:endParaRPr lang="en-US"/>
          </a:p>
        </p:txBody>
      </p:sp>
      <p:sp>
        <p:nvSpPr>
          <p:cNvPr id="8" name="Text 5"/>
          <p:cNvSpPr/>
          <p:nvPr/>
        </p:nvSpPr>
        <p:spPr>
          <a:xfrm>
            <a:off x="502920" y="1664208"/>
            <a:ext cx="3657600" cy="438912"/>
          </a:xfrm>
          <a:prstGeom prst="rect">
            <a:avLst/>
          </a:prstGeom>
          <a:noFill/>
          <a:ln/>
        </p:spPr>
        <p:txBody>
          <a:bodyPr wrap="square" rtlCol="0" anchor="ctr"/>
          <a:lstStyle/>
          <a:p>
            <a:pPr marL="0" indent="0">
              <a:buNone/>
            </a:pPr>
            <a:r>
              <a:rPr lang="en-US" sz="1600" b="1" dirty="0">
                <a:solidFill>
                  <a:srgbClr val="0A6E6E"/>
                </a:solidFill>
                <a:latin typeface="Georgia" pitchFamily="34" charset="0"/>
                <a:ea typeface="Georgia" pitchFamily="34" charset="-122"/>
                <a:cs typeface="Georgia" pitchFamily="34" charset="-120"/>
              </a:rPr>
              <a:t>✅  What Exists</a:t>
            </a:r>
            <a:endParaRPr lang="en-US" sz="1600" dirty="0"/>
          </a:p>
        </p:txBody>
      </p:sp>
      <p:sp>
        <p:nvSpPr>
          <p:cNvPr id="9" name="Shape 6"/>
          <p:cNvSpPr/>
          <p:nvPr/>
        </p:nvSpPr>
        <p:spPr>
          <a:xfrm>
            <a:off x="502920" y="2212848"/>
            <a:ext cx="146304" cy="146304"/>
          </a:xfrm>
          <a:prstGeom prst="ellipse">
            <a:avLst/>
          </a:prstGeom>
          <a:solidFill>
            <a:srgbClr val="0E9B9B"/>
          </a:solidFill>
          <a:ln w="12700">
            <a:solidFill>
              <a:srgbClr val="0E9B9B"/>
            </a:solidFill>
            <a:prstDash val="solid"/>
          </a:ln>
        </p:spPr>
        <p:txBody>
          <a:bodyPr/>
          <a:lstStyle/>
          <a:p>
            <a:endParaRPr lang="en-US"/>
          </a:p>
        </p:txBody>
      </p:sp>
      <p:sp>
        <p:nvSpPr>
          <p:cNvPr id="10" name="Text 7"/>
          <p:cNvSpPr/>
          <p:nvPr/>
        </p:nvSpPr>
        <p:spPr>
          <a:xfrm>
            <a:off x="777240" y="2157984"/>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NORD — rare disease umbrella org</a:t>
            </a:r>
            <a:endParaRPr lang="en-US" sz="1200" dirty="0"/>
          </a:p>
        </p:txBody>
      </p:sp>
      <p:sp>
        <p:nvSpPr>
          <p:cNvPr id="11" name="Shape 8"/>
          <p:cNvSpPr/>
          <p:nvPr/>
        </p:nvSpPr>
        <p:spPr>
          <a:xfrm>
            <a:off x="502920" y="2615184"/>
            <a:ext cx="146304" cy="146304"/>
          </a:xfrm>
          <a:prstGeom prst="ellipse">
            <a:avLst/>
          </a:prstGeom>
          <a:solidFill>
            <a:srgbClr val="0E9B9B"/>
          </a:solidFill>
          <a:ln w="12700">
            <a:solidFill>
              <a:srgbClr val="0E9B9B"/>
            </a:solidFill>
            <a:prstDash val="solid"/>
          </a:ln>
        </p:spPr>
        <p:txBody>
          <a:bodyPr/>
          <a:lstStyle/>
          <a:p>
            <a:endParaRPr lang="en-US"/>
          </a:p>
        </p:txBody>
      </p:sp>
      <p:sp>
        <p:nvSpPr>
          <p:cNvPr id="12" name="Text 9"/>
          <p:cNvSpPr/>
          <p:nvPr/>
        </p:nvSpPr>
        <p:spPr>
          <a:xfrm>
            <a:off x="777240" y="2560320"/>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Global Genes — advocacy network</a:t>
            </a:r>
            <a:endParaRPr lang="en-US" sz="1200" dirty="0"/>
          </a:p>
        </p:txBody>
      </p:sp>
      <p:sp>
        <p:nvSpPr>
          <p:cNvPr id="13" name="Shape 10"/>
          <p:cNvSpPr/>
          <p:nvPr/>
        </p:nvSpPr>
        <p:spPr>
          <a:xfrm>
            <a:off x="502920" y="3017520"/>
            <a:ext cx="146304" cy="146304"/>
          </a:xfrm>
          <a:prstGeom prst="ellipse">
            <a:avLst/>
          </a:prstGeom>
          <a:solidFill>
            <a:srgbClr val="0E9B9B"/>
          </a:solidFill>
          <a:ln w="12700">
            <a:solidFill>
              <a:srgbClr val="0E9B9B"/>
            </a:solidFill>
            <a:prstDash val="solid"/>
          </a:ln>
        </p:spPr>
        <p:txBody>
          <a:bodyPr/>
          <a:lstStyle/>
          <a:p>
            <a:endParaRPr lang="en-US"/>
          </a:p>
        </p:txBody>
      </p:sp>
      <p:sp>
        <p:nvSpPr>
          <p:cNvPr id="14" name="Text 11"/>
          <p:cNvSpPr/>
          <p:nvPr/>
        </p:nvSpPr>
        <p:spPr>
          <a:xfrm>
            <a:off x="777240" y="2962656"/>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1,000+ member Facebook community</a:t>
            </a:r>
            <a:endParaRPr lang="en-US" sz="1200" dirty="0"/>
          </a:p>
        </p:txBody>
      </p:sp>
      <p:sp>
        <p:nvSpPr>
          <p:cNvPr id="15" name="Shape 12"/>
          <p:cNvSpPr/>
          <p:nvPr/>
        </p:nvSpPr>
        <p:spPr>
          <a:xfrm>
            <a:off x="502920" y="3419856"/>
            <a:ext cx="146304" cy="146304"/>
          </a:xfrm>
          <a:prstGeom prst="ellipse">
            <a:avLst/>
          </a:prstGeom>
          <a:solidFill>
            <a:srgbClr val="0E9B9B"/>
          </a:solidFill>
          <a:ln w="12700">
            <a:solidFill>
              <a:srgbClr val="0E9B9B"/>
            </a:solidFill>
            <a:prstDash val="solid"/>
          </a:ln>
        </p:spPr>
        <p:txBody>
          <a:bodyPr/>
          <a:lstStyle/>
          <a:p>
            <a:endParaRPr lang="en-US"/>
          </a:p>
        </p:txBody>
      </p:sp>
      <p:sp>
        <p:nvSpPr>
          <p:cNvPr id="16" name="Text 13"/>
          <p:cNvSpPr/>
          <p:nvPr/>
        </p:nvSpPr>
        <p:spPr>
          <a:xfrm>
            <a:off x="777240" y="3364992"/>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Growing published case literature</a:t>
            </a:r>
            <a:endParaRPr lang="en-US" sz="1200" dirty="0"/>
          </a:p>
        </p:txBody>
      </p:sp>
      <p:sp>
        <p:nvSpPr>
          <p:cNvPr id="17" name="Shape 14"/>
          <p:cNvSpPr/>
          <p:nvPr/>
        </p:nvSpPr>
        <p:spPr>
          <a:xfrm>
            <a:off x="502920" y="3822192"/>
            <a:ext cx="146304" cy="146304"/>
          </a:xfrm>
          <a:prstGeom prst="ellipse">
            <a:avLst/>
          </a:prstGeom>
          <a:solidFill>
            <a:srgbClr val="0E9B9B"/>
          </a:solidFill>
          <a:ln w="12700">
            <a:solidFill>
              <a:srgbClr val="0E9B9B"/>
            </a:solidFill>
            <a:prstDash val="solid"/>
          </a:ln>
        </p:spPr>
        <p:txBody>
          <a:bodyPr/>
          <a:lstStyle/>
          <a:p>
            <a:endParaRPr lang="en-US"/>
          </a:p>
        </p:txBody>
      </p:sp>
      <p:sp>
        <p:nvSpPr>
          <p:cNvPr id="18" name="Text 15"/>
          <p:cNvSpPr/>
          <p:nvPr/>
        </p:nvSpPr>
        <p:spPr>
          <a:xfrm>
            <a:off x="777240" y="3767328"/>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Dedicated parent advocates (YOU)</a:t>
            </a:r>
            <a:endParaRPr lang="en-US" sz="1200" dirty="0"/>
          </a:p>
        </p:txBody>
      </p:sp>
      <p:sp>
        <p:nvSpPr>
          <p:cNvPr id="19" name="Shape 16"/>
          <p:cNvSpPr/>
          <p:nvPr/>
        </p:nvSpPr>
        <p:spPr>
          <a:xfrm>
            <a:off x="4828032" y="1580388"/>
            <a:ext cx="3977640" cy="3154680"/>
          </a:xfrm>
          <a:prstGeom prst="rect">
            <a:avLst/>
          </a:prstGeom>
          <a:solidFill>
            <a:srgbClr val="F4EEF8"/>
          </a:solidFill>
          <a:ln w="12700">
            <a:solidFill>
              <a:srgbClr val="6B4FA0"/>
            </a:solidFill>
            <a:prstDash val="solid"/>
          </a:ln>
          <a:effectLst>
            <a:outerShdw blurRad="127000" dist="38100" dir="8100000" algn="bl" rotWithShape="0">
              <a:srgbClr val="000000">
                <a:alpha val="18000"/>
              </a:srgbClr>
            </a:outerShdw>
          </a:effectLst>
        </p:spPr>
        <p:txBody>
          <a:bodyPr/>
          <a:lstStyle/>
          <a:p>
            <a:endParaRPr lang="en-US" dirty="0"/>
          </a:p>
        </p:txBody>
      </p:sp>
      <p:sp>
        <p:nvSpPr>
          <p:cNvPr id="20" name="Shape 17"/>
          <p:cNvSpPr/>
          <p:nvPr/>
        </p:nvSpPr>
        <p:spPr>
          <a:xfrm>
            <a:off x="4828032" y="1572768"/>
            <a:ext cx="3977640" cy="73152"/>
          </a:xfrm>
          <a:prstGeom prst="rect">
            <a:avLst/>
          </a:prstGeom>
          <a:solidFill>
            <a:srgbClr val="6B4FA0"/>
          </a:solidFill>
          <a:ln w="12700">
            <a:solidFill>
              <a:srgbClr val="6B4FA0"/>
            </a:solidFill>
            <a:prstDash val="solid"/>
          </a:ln>
        </p:spPr>
        <p:txBody>
          <a:bodyPr/>
          <a:lstStyle/>
          <a:p>
            <a:endParaRPr lang="en-US"/>
          </a:p>
        </p:txBody>
      </p:sp>
      <p:sp>
        <p:nvSpPr>
          <p:cNvPr id="21" name="Text 18"/>
          <p:cNvSpPr/>
          <p:nvPr/>
        </p:nvSpPr>
        <p:spPr>
          <a:xfrm>
            <a:off x="4983480" y="1664208"/>
            <a:ext cx="3657600" cy="438912"/>
          </a:xfrm>
          <a:prstGeom prst="rect">
            <a:avLst/>
          </a:prstGeom>
          <a:noFill/>
          <a:ln/>
        </p:spPr>
        <p:txBody>
          <a:bodyPr wrap="square" rtlCol="0" anchor="ctr"/>
          <a:lstStyle/>
          <a:p>
            <a:pPr marL="0" indent="0">
              <a:buNone/>
            </a:pPr>
            <a:r>
              <a:rPr lang="en-US" sz="1600" b="1" dirty="0">
                <a:solidFill>
                  <a:srgbClr val="6B4FA0"/>
                </a:solidFill>
                <a:latin typeface="Georgia" pitchFamily="34" charset="0"/>
                <a:ea typeface="Georgia" pitchFamily="34" charset="-122"/>
                <a:cs typeface="Georgia" pitchFamily="34" charset="-120"/>
              </a:rPr>
              <a:t>🎯  What We'll Build</a:t>
            </a:r>
            <a:endParaRPr lang="en-US" sz="1600" dirty="0"/>
          </a:p>
        </p:txBody>
      </p:sp>
      <p:sp>
        <p:nvSpPr>
          <p:cNvPr id="22" name="Shape 19"/>
          <p:cNvSpPr/>
          <p:nvPr/>
        </p:nvSpPr>
        <p:spPr>
          <a:xfrm>
            <a:off x="4983480" y="2212848"/>
            <a:ext cx="146304" cy="146304"/>
          </a:xfrm>
          <a:prstGeom prst="ellipse">
            <a:avLst/>
          </a:prstGeom>
          <a:solidFill>
            <a:srgbClr val="6B4FA0"/>
          </a:solidFill>
          <a:ln w="12700">
            <a:solidFill>
              <a:srgbClr val="6B4FA0"/>
            </a:solidFill>
            <a:prstDash val="solid"/>
          </a:ln>
        </p:spPr>
        <p:txBody>
          <a:bodyPr/>
          <a:lstStyle/>
          <a:p>
            <a:endParaRPr lang="en-US"/>
          </a:p>
        </p:txBody>
      </p:sp>
      <p:sp>
        <p:nvSpPr>
          <p:cNvPr id="23" name="Text 20"/>
          <p:cNvSpPr/>
          <p:nvPr/>
        </p:nvSpPr>
        <p:spPr>
          <a:xfrm>
            <a:off x="5257800" y="2157984"/>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Official patient registry – Simons Searchlight</a:t>
            </a:r>
            <a:endParaRPr lang="en-US" sz="1200" dirty="0"/>
          </a:p>
        </p:txBody>
      </p:sp>
      <p:sp>
        <p:nvSpPr>
          <p:cNvPr id="24" name="Shape 21"/>
          <p:cNvSpPr/>
          <p:nvPr/>
        </p:nvSpPr>
        <p:spPr>
          <a:xfrm>
            <a:off x="4983480" y="2615184"/>
            <a:ext cx="146304" cy="146304"/>
          </a:xfrm>
          <a:prstGeom prst="ellipse">
            <a:avLst/>
          </a:prstGeom>
          <a:solidFill>
            <a:srgbClr val="6B4FA0"/>
          </a:solidFill>
          <a:ln w="12700">
            <a:solidFill>
              <a:srgbClr val="6B4FA0"/>
            </a:solidFill>
            <a:prstDash val="solid"/>
          </a:ln>
        </p:spPr>
        <p:txBody>
          <a:bodyPr/>
          <a:lstStyle/>
          <a:p>
            <a:endParaRPr lang="en-US"/>
          </a:p>
        </p:txBody>
      </p:sp>
      <p:sp>
        <p:nvSpPr>
          <p:cNvPr id="25" name="Text 22"/>
          <p:cNvSpPr/>
          <p:nvPr/>
        </p:nvSpPr>
        <p:spPr>
          <a:xfrm>
            <a:off x="5257800" y="2560320"/>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Centralized family resource hub</a:t>
            </a:r>
            <a:endParaRPr lang="en-US" sz="1200" dirty="0"/>
          </a:p>
        </p:txBody>
      </p:sp>
      <p:sp>
        <p:nvSpPr>
          <p:cNvPr id="26" name="Shape 23"/>
          <p:cNvSpPr/>
          <p:nvPr/>
        </p:nvSpPr>
        <p:spPr>
          <a:xfrm>
            <a:off x="4983480" y="3017520"/>
            <a:ext cx="146304" cy="146304"/>
          </a:xfrm>
          <a:prstGeom prst="ellipse">
            <a:avLst/>
          </a:prstGeom>
          <a:solidFill>
            <a:srgbClr val="6B4FA0"/>
          </a:solidFill>
          <a:ln w="12700">
            <a:solidFill>
              <a:srgbClr val="6B4FA0"/>
            </a:solidFill>
            <a:prstDash val="solid"/>
          </a:ln>
        </p:spPr>
        <p:txBody>
          <a:bodyPr/>
          <a:lstStyle/>
          <a:p>
            <a:endParaRPr lang="en-US"/>
          </a:p>
        </p:txBody>
      </p:sp>
      <p:sp>
        <p:nvSpPr>
          <p:cNvPr id="27" name="Text 24"/>
          <p:cNvSpPr/>
          <p:nvPr/>
        </p:nvSpPr>
        <p:spPr>
          <a:xfrm>
            <a:off x="5257800" y="2962656"/>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Scientific Advisory Board</a:t>
            </a:r>
            <a:endParaRPr lang="en-US" sz="1200" dirty="0"/>
          </a:p>
        </p:txBody>
      </p:sp>
      <p:sp>
        <p:nvSpPr>
          <p:cNvPr id="28" name="Shape 25"/>
          <p:cNvSpPr/>
          <p:nvPr/>
        </p:nvSpPr>
        <p:spPr>
          <a:xfrm>
            <a:off x="4983480" y="3419856"/>
            <a:ext cx="146304" cy="146304"/>
          </a:xfrm>
          <a:prstGeom prst="ellipse">
            <a:avLst/>
          </a:prstGeom>
          <a:solidFill>
            <a:srgbClr val="6B4FA0"/>
          </a:solidFill>
          <a:ln w="12700">
            <a:solidFill>
              <a:srgbClr val="6B4FA0"/>
            </a:solidFill>
            <a:prstDash val="solid"/>
          </a:ln>
        </p:spPr>
        <p:txBody>
          <a:bodyPr/>
          <a:lstStyle/>
          <a:p>
            <a:endParaRPr lang="en-US"/>
          </a:p>
        </p:txBody>
      </p:sp>
      <p:sp>
        <p:nvSpPr>
          <p:cNvPr id="29" name="Text 26"/>
          <p:cNvSpPr/>
          <p:nvPr/>
        </p:nvSpPr>
        <p:spPr>
          <a:xfrm>
            <a:off x="5257800" y="3364992"/>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Coordinated researcher relationships</a:t>
            </a:r>
            <a:endParaRPr lang="en-US" sz="1200" dirty="0"/>
          </a:p>
        </p:txBody>
      </p:sp>
      <p:sp>
        <p:nvSpPr>
          <p:cNvPr id="30" name="Shape 27"/>
          <p:cNvSpPr/>
          <p:nvPr/>
        </p:nvSpPr>
        <p:spPr>
          <a:xfrm>
            <a:off x="4983480" y="3822192"/>
            <a:ext cx="146304" cy="146304"/>
          </a:xfrm>
          <a:prstGeom prst="ellipse">
            <a:avLst/>
          </a:prstGeom>
          <a:solidFill>
            <a:srgbClr val="6B4FA0"/>
          </a:solidFill>
          <a:ln w="12700">
            <a:solidFill>
              <a:srgbClr val="6B4FA0"/>
            </a:solidFill>
            <a:prstDash val="solid"/>
          </a:ln>
        </p:spPr>
        <p:txBody>
          <a:bodyPr/>
          <a:lstStyle/>
          <a:p>
            <a:endParaRPr lang="en-US"/>
          </a:p>
        </p:txBody>
      </p:sp>
      <p:sp>
        <p:nvSpPr>
          <p:cNvPr id="31" name="Text 28"/>
          <p:cNvSpPr/>
          <p:nvPr/>
        </p:nvSpPr>
        <p:spPr>
          <a:xfrm>
            <a:off x="5257800" y="3767328"/>
            <a:ext cx="3383280" cy="347472"/>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Formal 501(c)(3) nonprofit structure</a:t>
            </a:r>
            <a:endParaRPr lang="en-US" sz="1200" dirty="0"/>
          </a:p>
        </p:txBody>
      </p:sp>
      <p:sp>
        <p:nvSpPr>
          <p:cNvPr id="32" name="Text 29"/>
          <p:cNvSpPr/>
          <p:nvPr/>
        </p:nvSpPr>
        <p:spPr>
          <a:xfrm>
            <a:off x="365760" y="4754880"/>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C181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p:cNvSpPr/>
          <p:nvPr/>
        </p:nvSpPr>
        <p:spPr>
          <a:xfrm>
            <a:off x="457200" y="804672"/>
            <a:ext cx="8229600" cy="6400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Becoming Official: Formation Steps</a:t>
            </a:r>
            <a:endParaRPr lang="en-US" sz="3400" dirty="0"/>
          </a:p>
        </p:txBody>
      </p:sp>
      <p:sp>
        <p:nvSpPr>
          <p:cNvPr id="6" name="Shape 3"/>
          <p:cNvSpPr/>
          <p:nvPr/>
        </p:nvSpPr>
        <p:spPr>
          <a:xfrm>
            <a:off x="731520" y="1572768"/>
            <a:ext cx="694944" cy="694944"/>
          </a:xfrm>
          <a:prstGeom prst="ellipse">
            <a:avLst/>
          </a:prstGeom>
          <a:solidFill>
            <a:srgbClr val="0E9B9B"/>
          </a:solidFill>
          <a:ln w="12700">
            <a:solidFill>
              <a:srgbClr val="0E9B9B"/>
            </a:solidFill>
            <a:prstDash val="solid"/>
          </a:ln>
          <a:effectLst>
            <a:outerShdw blurRad="127000" dist="38100" dir="8100000" algn="bl" rotWithShape="0">
              <a:srgbClr val="000000">
                <a:alpha val="18000"/>
              </a:srgbClr>
            </a:outerShdw>
          </a:effectLst>
        </p:spPr>
        <p:txBody>
          <a:bodyPr/>
          <a:lstStyle/>
          <a:p>
            <a:endParaRPr lang="en-US"/>
          </a:p>
        </p:txBody>
      </p:sp>
      <p:sp>
        <p:nvSpPr>
          <p:cNvPr id="7" name="Text 4"/>
          <p:cNvSpPr/>
          <p:nvPr/>
        </p:nvSpPr>
        <p:spPr>
          <a:xfrm>
            <a:off x="731520" y="1591056"/>
            <a:ext cx="694944" cy="658368"/>
          </a:xfrm>
          <a:prstGeom prst="rect">
            <a:avLst/>
          </a:prstGeom>
          <a:noFill/>
          <a:ln/>
        </p:spPr>
        <p:txBody>
          <a:bodyPr wrap="square" rtlCol="0" anchor="ctr"/>
          <a:lstStyle/>
          <a:p>
            <a:pPr marL="0" indent="0" algn="ctr">
              <a:buNone/>
            </a:pPr>
            <a:r>
              <a:rPr lang="en-US" sz="2400" b="1" dirty="0">
                <a:solidFill>
                  <a:srgbClr val="0C1818"/>
                </a:solidFill>
                <a:latin typeface="Georgia" pitchFamily="34" charset="0"/>
                <a:ea typeface="Georgia" pitchFamily="34" charset="-122"/>
                <a:cs typeface="Georgia" pitchFamily="34" charset="-120"/>
              </a:rPr>
              <a:t>1</a:t>
            </a:r>
            <a:endParaRPr lang="en-US" sz="2400" dirty="0"/>
          </a:p>
        </p:txBody>
      </p:sp>
      <p:sp>
        <p:nvSpPr>
          <p:cNvPr id="8" name="Shape 5"/>
          <p:cNvSpPr/>
          <p:nvPr/>
        </p:nvSpPr>
        <p:spPr>
          <a:xfrm>
            <a:off x="256032" y="2340864"/>
            <a:ext cx="1600200" cy="2450592"/>
          </a:xfrm>
          <a:prstGeom prst="rect">
            <a:avLst/>
          </a:prstGeom>
          <a:solidFill>
            <a:srgbClr val="152828"/>
          </a:solidFill>
          <a:ln w="12700">
            <a:solidFill>
              <a:srgbClr val="0E9B9B"/>
            </a:solidFill>
            <a:prstDash val="solid"/>
          </a:ln>
        </p:spPr>
        <p:txBody>
          <a:bodyPr/>
          <a:lstStyle/>
          <a:p>
            <a:endParaRPr lang="en-US"/>
          </a:p>
        </p:txBody>
      </p:sp>
      <p:sp>
        <p:nvSpPr>
          <p:cNvPr id="9" name="Text 6"/>
          <p:cNvSpPr/>
          <p:nvPr/>
        </p:nvSpPr>
        <p:spPr>
          <a:xfrm>
            <a:off x="329184" y="2414016"/>
            <a:ext cx="1463040" cy="438912"/>
          </a:xfrm>
          <a:prstGeom prst="rect">
            <a:avLst/>
          </a:prstGeom>
          <a:noFill/>
          <a:ln/>
        </p:spPr>
        <p:txBody>
          <a:bodyPr wrap="square" rtlCol="0" anchor="ctr"/>
          <a:lstStyle/>
          <a:p>
            <a:pPr marL="0" indent="0" algn="ctr">
              <a:buNone/>
            </a:pPr>
            <a:r>
              <a:rPr lang="en-US" sz="1400" b="1" dirty="0">
                <a:solidFill>
                  <a:srgbClr val="0E9B9B"/>
                </a:solidFill>
                <a:latin typeface="Georgia" pitchFamily="34" charset="0"/>
                <a:ea typeface="Georgia" pitchFamily="34" charset="-122"/>
                <a:cs typeface="Georgia" pitchFamily="34" charset="-120"/>
              </a:rPr>
              <a:t>Incorporate</a:t>
            </a:r>
            <a:endParaRPr lang="en-US" sz="1400" dirty="0"/>
          </a:p>
        </p:txBody>
      </p:sp>
      <p:sp>
        <p:nvSpPr>
          <p:cNvPr id="10" name="Text 7"/>
          <p:cNvSpPr/>
          <p:nvPr/>
        </p:nvSpPr>
        <p:spPr>
          <a:xfrm>
            <a:off x="347472" y="2907792"/>
            <a:ext cx="1417320" cy="1280160"/>
          </a:xfrm>
          <a:prstGeom prst="rect">
            <a:avLst/>
          </a:prstGeom>
          <a:noFill/>
          <a:ln/>
        </p:spPr>
        <p:txBody>
          <a:bodyPr wrap="square" rtlCol="0" anchor="t"/>
          <a:lstStyle/>
          <a:p>
            <a:pPr marL="0" indent="0" algn="ctr">
              <a:buNone/>
            </a:pPr>
            <a:r>
              <a:rPr lang="en-US" sz="1050" dirty="0">
                <a:solidFill>
                  <a:srgbClr val="CCCCCC"/>
                </a:solidFill>
                <a:latin typeface="Calibri" pitchFamily="34" charset="0"/>
                <a:ea typeface="Calibri" pitchFamily="34" charset="-122"/>
                <a:cs typeface="Calibri" pitchFamily="34" charset="-120"/>
              </a:rPr>
              <a:t>Choose state (Delaware or CA recommended). File Articles of Incorporation. NORD</a:t>
            </a:r>
            <a:endParaRPr lang="en-US" sz="1050" dirty="0"/>
          </a:p>
        </p:txBody>
      </p:sp>
      <p:sp>
        <p:nvSpPr>
          <p:cNvPr id="11" name="Shape 8"/>
          <p:cNvSpPr/>
          <p:nvPr/>
        </p:nvSpPr>
        <p:spPr>
          <a:xfrm>
            <a:off x="347472" y="4224528"/>
            <a:ext cx="1417320" cy="420624"/>
          </a:xfrm>
          <a:prstGeom prst="rect">
            <a:avLst/>
          </a:prstGeom>
          <a:solidFill>
            <a:srgbClr val="0A2424"/>
          </a:solidFill>
          <a:ln w="12700">
            <a:solidFill>
              <a:srgbClr val="0A2424"/>
            </a:solidFill>
            <a:prstDash val="solid"/>
          </a:ln>
        </p:spPr>
        <p:txBody>
          <a:bodyPr/>
          <a:lstStyle/>
          <a:p>
            <a:endParaRPr lang="en-US"/>
          </a:p>
        </p:txBody>
      </p:sp>
      <p:sp>
        <p:nvSpPr>
          <p:cNvPr id="12" name="Text 9"/>
          <p:cNvSpPr/>
          <p:nvPr/>
        </p:nvSpPr>
        <p:spPr>
          <a:xfrm>
            <a:off x="347472" y="4224528"/>
            <a:ext cx="1417320" cy="420624"/>
          </a:xfrm>
          <a:prstGeom prst="rect">
            <a:avLst/>
          </a:prstGeom>
          <a:noFill/>
          <a:ln/>
        </p:spPr>
        <p:txBody>
          <a:bodyPr wrap="square" rtlCol="0" anchor="ctr"/>
          <a:lstStyle/>
          <a:p>
            <a:pPr marL="0" indent="0" algn="ctr">
              <a:buNone/>
            </a:pPr>
            <a:r>
              <a:rPr lang="en-US" sz="950" i="1" dirty="0">
                <a:solidFill>
                  <a:srgbClr val="0E9B9B"/>
                </a:solidFill>
                <a:latin typeface="Calibri" pitchFamily="34" charset="0"/>
                <a:ea typeface="Calibri" pitchFamily="34" charset="-122"/>
                <a:cs typeface="Calibri" pitchFamily="34" charset="-120"/>
              </a:rPr>
              <a:t>2–4 weeks</a:t>
            </a:r>
            <a:endParaRPr lang="en-US" sz="950" dirty="0"/>
          </a:p>
        </p:txBody>
      </p:sp>
      <p:sp>
        <p:nvSpPr>
          <p:cNvPr id="13" name="Shape 10"/>
          <p:cNvSpPr/>
          <p:nvPr/>
        </p:nvSpPr>
        <p:spPr>
          <a:xfrm>
            <a:off x="2468880" y="1572768"/>
            <a:ext cx="694944" cy="694944"/>
          </a:xfrm>
          <a:prstGeom prst="ellipse">
            <a:avLst/>
          </a:prstGeom>
          <a:solidFill>
            <a:srgbClr val="5DCECE"/>
          </a:solidFill>
          <a:ln w="12700">
            <a:solidFill>
              <a:srgbClr val="5DCECE"/>
            </a:solidFill>
            <a:prstDash val="solid"/>
          </a:ln>
          <a:effectLst>
            <a:outerShdw blurRad="127000" dist="38100" dir="8100000" algn="bl" rotWithShape="0">
              <a:srgbClr val="000000">
                <a:alpha val="18000"/>
              </a:srgbClr>
            </a:outerShdw>
          </a:effectLst>
        </p:spPr>
        <p:txBody>
          <a:bodyPr/>
          <a:lstStyle/>
          <a:p>
            <a:endParaRPr lang="en-US"/>
          </a:p>
        </p:txBody>
      </p:sp>
      <p:sp>
        <p:nvSpPr>
          <p:cNvPr id="14" name="Text 11"/>
          <p:cNvSpPr/>
          <p:nvPr/>
        </p:nvSpPr>
        <p:spPr>
          <a:xfrm>
            <a:off x="2468880" y="1591056"/>
            <a:ext cx="694944" cy="658368"/>
          </a:xfrm>
          <a:prstGeom prst="rect">
            <a:avLst/>
          </a:prstGeom>
          <a:noFill/>
          <a:ln/>
        </p:spPr>
        <p:txBody>
          <a:bodyPr wrap="square" rtlCol="0" anchor="ctr"/>
          <a:lstStyle/>
          <a:p>
            <a:pPr marL="0" indent="0" algn="ctr">
              <a:buNone/>
            </a:pPr>
            <a:r>
              <a:rPr lang="en-US" sz="2400" b="1" dirty="0">
                <a:solidFill>
                  <a:srgbClr val="0C1818"/>
                </a:solidFill>
                <a:latin typeface="Georgia" pitchFamily="34" charset="0"/>
                <a:ea typeface="Georgia" pitchFamily="34" charset="-122"/>
                <a:cs typeface="Georgia" pitchFamily="34" charset="-120"/>
              </a:rPr>
              <a:t>2</a:t>
            </a:r>
            <a:endParaRPr lang="en-US" sz="2400" dirty="0"/>
          </a:p>
        </p:txBody>
      </p:sp>
      <p:sp>
        <p:nvSpPr>
          <p:cNvPr id="15" name="Shape 12"/>
          <p:cNvSpPr/>
          <p:nvPr/>
        </p:nvSpPr>
        <p:spPr>
          <a:xfrm>
            <a:off x="1993392" y="2340864"/>
            <a:ext cx="1600200" cy="2450592"/>
          </a:xfrm>
          <a:prstGeom prst="rect">
            <a:avLst/>
          </a:prstGeom>
          <a:solidFill>
            <a:srgbClr val="152828"/>
          </a:solidFill>
          <a:ln w="12700">
            <a:solidFill>
              <a:srgbClr val="5DCECE"/>
            </a:solidFill>
            <a:prstDash val="solid"/>
          </a:ln>
        </p:spPr>
        <p:txBody>
          <a:bodyPr/>
          <a:lstStyle/>
          <a:p>
            <a:endParaRPr lang="en-US"/>
          </a:p>
        </p:txBody>
      </p:sp>
      <p:sp>
        <p:nvSpPr>
          <p:cNvPr id="16" name="Text 13"/>
          <p:cNvSpPr/>
          <p:nvPr/>
        </p:nvSpPr>
        <p:spPr>
          <a:xfrm>
            <a:off x="2066544" y="2414016"/>
            <a:ext cx="1463040" cy="438912"/>
          </a:xfrm>
          <a:prstGeom prst="rect">
            <a:avLst/>
          </a:prstGeom>
          <a:noFill/>
          <a:ln/>
        </p:spPr>
        <p:txBody>
          <a:bodyPr wrap="square" rtlCol="0" anchor="ctr"/>
          <a:lstStyle/>
          <a:p>
            <a:pPr marL="0" indent="0" algn="ctr">
              <a:buNone/>
            </a:pPr>
            <a:r>
              <a:rPr lang="en-US" sz="1400" b="1" dirty="0">
                <a:solidFill>
                  <a:srgbClr val="5DCECE"/>
                </a:solidFill>
                <a:latin typeface="Georgia" pitchFamily="34" charset="0"/>
                <a:ea typeface="Georgia" pitchFamily="34" charset="-122"/>
                <a:cs typeface="Georgia" pitchFamily="34" charset="-120"/>
              </a:rPr>
              <a:t>Draft Bylaws</a:t>
            </a:r>
            <a:endParaRPr lang="en-US" sz="1400" dirty="0"/>
          </a:p>
        </p:txBody>
      </p:sp>
      <p:sp>
        <p:nvSpPr>
          <p:cNvPr id="17" name="Text 14"/>
          <p:cNvSpPr/>
          <p:nvPr/>
        </p:nvSpPr>
        <p:spPr>
          <a:xfrm>
            <a:off x="2084832" y="2907792"/>
            <a:ext cx="1417320" cy="1280160"/>
          </a:xfrm>
          <a:prstGeom prst="rect">
            <a:avLst/>
          </a:prstGeom>
          <a:noFill/>
          <a:ln/>
        </p:spPr>
        <p:txBody>
          <a:bodyPr wrap="square" rtlCol="0" anchor="t"/>
          <a:lstStyle/>
          <a:p>
            <a:pPr marL="0" indent="0" algn="ctr">
              <a:buNone/>
            </a:pPr>
            <a:r>
              <a:rPr lang="en-US" sz="1050" dirty="0">
                <a:solidFill>
                  <a:srgbClr val="CCCCCC"/>
                </a:solidFill>
                <a:latin typeface="Calibri" pitchFamily="34" charset="0"/>
                <a:ea typeface="Calibri" pitchFamily="34" charset="-122"/>
                <a:cs typeface="Calibri" pitchFamily="34" charset="-120"/>
              </a:rPr>
              <a:t>Governance rules, board structure, officer roles, meeting requirements, Conflict of Interest (NORD templates)</a:t>
            </a:r>
            <a:endParaRPr lang="en-US" sz="1050" dirty="0"/>
          </a:p>
        </p:txBody>
      </p:sp>
      <p:sp>
        <p:nvSpPr>
          <p:cNvPr id="18" name="Shape 15"/>
          <p:cNvSpPr/>
          <p:nvPr/>
        </p:nvSpPr>
        <p:spPr>
          <a:xfrm>
            <a:off x="2084832" y="4224528"/>
            <a:ext cx="1417320" cy="420624"/>
          </a:xfrm>
          <a:prstGeom prst="rect">
            <a:avLst/>
          </a:prstGeom>
          <a:solidFill>
            <a:srgbClr val="0A2424"/>
          </a:solidFill>
          <a:ln w="12700">
            <a:solidFill>
              <a:srgbClr val="0A2424"/>
            </a:solidFill>
            <a:prstDash val="solid"/>
          </a:ln>
        </p:spPr>
        <p:txBody>
          <a:bodyPr/>
          <a:lstStyle/>
          <a:p>
            <a:endParaRPr lang="en-US"/>
          </a:p>
        </p:txBody>
      </p:sp>
      <p:sp>
        <p:nvSpPr>
          <p:cNvPr id="19" name="Text 16"/>
          <p:cNvSpPr/>
          <p:nvPr/>
        </p:nvSpPr>
        <p:spPr>
          <a:xfrm>
            <a:off x="2084832" y="4224528"/>
            <a:ext cx="1417320" cy="420624"/>
          </a:xfrm>
          <a:prstGeom prst="rect">
            <a:avLst/>
          </a:prstGeom>
          <a:noFill/>
          <a:ln/>
        </p:spPr>
        <p:txBody>
          <a:bodyPr wrap="square" rtlCol="0" anchor="ctr"/>
          <a:lstStyle/>
          <a:p>
            <a:pPr marL="0" indent="0" algn="ctr">
              <a:buNone/>
            </a:pPr>
            <a:r>
              <a:rPr lang="en-US" sz="950" i="1" dirty="0">
                <a:solidFill>
                  <a:srgbClr val="5DCECE"/>
                </a:solidFill>
                <a:latin typeface="Calibri" pitchFamily="34" charset="0"/>
                <a:ea typeface="Calibri" pitchFamily="34" charset="-122"/>
                <a:cs typeface="Calibri" pitchFamily="34" charset="-120"/>
              </a:rPr>
              <a:t>2–4 weeks</a:t>
            </a:r>
            <a:endParaRPr lang="en-US" sz="950" dirty="0"/>
          </a:p>
        </p:txBody>
      </p:sp>
      <p:sp>
        <p:nvSpPr>
          <p:cNvPr id="20" name="Shape 17"/>
          <p:cNvSpPr/>
          <p:nvPr/>
        </p:nvSpPr>
        <p:spPr>
          <a:xfrm>
            <a:off x="4206240" y="1572768"/>
            <a:ext cx="694944" cy="694944"/>
          </a:xfrm>
          <a:prstGeom prst="ellipse">
            <a:avLst/>
          </a:prstGeom>
          <a:solidFill>
            <a:srgbClr val="6B4FA0"/>
          </a:solidFill>
          <a:ln w="12700">
            <a:solidFill>
              <a:srgbClr val="6B4FA0"/>
            </a:solidFill>
            <a:prstDash val="solid"/>
          </a:ln>
          <a:effectLst>
            <a:outerShdw blurRad="127000" dist="38100" dir="8100000" algn="bl" rotWithShape="0">
              <a:srgbClr val="000000">
                <a:alpha val="18000"/>
              </a:srgbClr>
            </a:outerShdw>
          </a:effectLst>
        </p:spPr>
        <p:txBody>
          <a:bodyPr/>
          <a:lstStyle/>
          <a:p>
            <a:endParaRPr lang="en-US"/>
          </a:p>
        </p:txBody>
      </p:sp>
      <p:sp>
        <p:nvSpPr>
          <p:cNvPr id="21" name="Text 18"/>
          <p:cNvSpPr/>
          <p:nvPr/>
        </p:nvSpPr>
        <p:spPr>
          <a:xfrm>
            <a:off x="4206240" y="1591056"/>
            <a:ext cx="694944" cy="658368"/>
          </a:xfrm>
          <a:prstGeom prst="rect">
            <a:avLst/>
          </a:prstGeom>
          <a:noFill/>
          <a:ln/>
        </p:spPr>
        <p:txBody>
          <a:bodyPr wrap="square" rtlCol="0" anchor="ctr"/>
          <a:lstStyle/>
          <a:p>
            <a:pPr marL="0" indent="0" algn="ctr">
              <a:buNone/>
            </a:pPr>
            <a:r>
              <a:rPr lang="en-US" sz="2400" b="1" dirty="0">
                <a:solidFill>
                  <a:srgbClr val="0C1818"/>
                </a:solidFill>
                <a:latin typeface="Georgia" pitchFamily="34" charset="0"/>
                <a:ea typeface="Georgia" pitchFamily="34" charset="-122"/>
                <a:cs typeface="Georgia" pitchFamily="34" charset="-120"/>
              </a:rPr>
              <a:t>3</a:t>
            </a:r>
            <a:endParaRPr lang="en-US" sz="2400" dirty="0"/>
          </a:p>
        </p:txBody>
      </p:sp>
      <p:sp>
        <p:nvSpPr>
          <p:cNvPr id="22" name="Shape 19"/>
          <p:cNvSpPr/>
          <p:nvPr/>
        </p:nvSpPr>
        <p:spPr>
          <a:xfrm>
            <a:off x="3730752" y="2340864"/>
            <a:ext cx="1600200" cy="2450592"/>
          </a:xfrm>
          <a:prstGeom prst="rect">
            <a:avLst/>
          </a:prstGeom>
          <a:solidFill>
            <a:srgbClr val="152828"/>
          </a:solidFill>
          <a:ln w="12700">
            <a:solidFill>
              <a:srgbClr val="6B4FA0"/>
            </a:solidFill>
            <a:prstDash val="solid"/>
          </a:ln>
        </p:spPr>
        <p:txBody>
          <a:bodyPr/>
          <a:lstStyle/>
          <a:p>
            <a:endParaRPr lang="en-US"/>
          </a:p>
        </p:txBody>
      </p:sp>
      <p:sp>
        <p:nvSpPr>
          <p:cNvPr id="23" name="Text 20"/>
          <p:cNvSpPr/>
          <p:nvPr/>
        </p:nvSpPr>
        <p:spPr>
          <a:xfrm>
            <a:off x="3803904" y="2414016"/>
            <a:ext cx="1463040" cy="438912"/>
          </a:xfrm>
          <a:prstGeom prst="rect">
            <a:avLst/>
          </a:prstGeom>
          <a:noFill/>
          <a:ln/>
        </p:spPr>
        <p:txBody>
          <a:bodyPr wrap="square" rtlCol="0" anchor="ctr"/>
          <a:lstStyle/>
          <a:p>
            <a:pPr marL="0" indent="0" algn="ctr">
              <a:buNone/>
            </a:pPr>
            <a:r>
              <a:rPr lang="en-US" sz="1400" b="1" dirty="0">
                <a:solidFill>
                  <a:srgbClr val="6B4FA0"/>
                </a:solidFill>
                <a:latin typeface="Georgia" pitchFamily="34" charset="0"/>
                <a:ea typeface="Georgia" pitchFamily="34" charset="-122"/>
                <a:cs typeface="Georgia" pitchFamily="34" charset="-120"/>
              </a:rPr>
              <a:t>Elect Board</a:t>
            </a:r>
            <a:endParaRPr lang="en-US" sz="1400" dirty="0"/>
          </a:p>
        </p:txBody>
      </p:sp>
      <p:sp>
        <p:nvSpPr>
          <p:cNvPr id="24" name="Text 21"/>
          <p:cNvSpPr/>
          <p:nvPr/>
        </p:nvSpPr>
        <p:spPr>
          <a:xfrm>
            <a:off x="3822192" y="2907792"/>
            <a:ext cx="1417320" cy="1280160"/>
          </a:xfrm>
          <a:prstGeom prst="rect">
            <a:avLst/>
          </a:prstGeom>
          <a:noFill/>
          <a:ln/>
        </p:spPr>
        <p:txBody>
          <a:bodyPr wrap="square" rtlCol="0" anchor="t"/>
          <a:lstStyle/>
          <a:p>
            <a:pPr marL="0" indent="0" algn="ctr">
              <a:buNone/>
            </a:pPr>
            <a:r>
              <a:rPr lang="en-US" sz="1050" dirty="0">
                <a:solidFill>
                  <a:srgbClr val="CCCCCC"/>
                </a:solidFill>
                <a:latin typeface="Calibri" pitchFamily="34" charset="0"/>
                <a:ea typeface="Calibri" pitchFamily="34" charset="-122"/>
                <a:cs typeface="Calibri" pitchFamily="34" charset="-120"/>
              </a:rPr>
              <a:t>Inaugural board meeting, Minimum 3 directors. Typically 5–7 for a founding board. Elect officers.</a:t>
            </a:r>
            <a:endParaRPr lang="en-US" sz="1050" dirty="0"/>
          </a:p>
        </p:txBody>
      </p:sp>
      <p:sp>
        <p:nvSpPr>
          <p:cNvPr id="25" name="Shape 22"/>
          <p:cNvSpPr/>
          <p:nvPr/>
        </p:nvSpPr>
        <p:spPr>
          <a:xfrm>
            <a:off x="3822192" y="4224528"/>
            <a:ext cx="1417320" cy="420624"/>
          </a:xfrm>
          <a:prstGeom prst="rect">
            <a:avLst/>
          </a:prstGeom>
          <a:solidFill>
            <a:srgbClr val="0A2424"/>
          </a:solidFill>
          <a:ln w="12700">
            <a:solidFill>
              <a:srgbClr val="0A2424"/>
            </a:solidFill>
            <a:prstDash val="solid"/>
          </a:ln>
        </p:spPr>
        <p:txBody>
          <a:bodyPr/>
          <a:lstStyle/>
          <a:p>
            <a:endParaRPr lang="en-US"/>
          </a:p>
        </p:txBody>
      </p:sp>
      <p:sp>
        <p:nvSpPr>
          <p:cNvPr id="26" name="Text 23"/>
          <p:cNvSpPr/>
          <p:nvPr/>
        </p:nvSpPr>
        <p:spPr>
          <a:xfrm>
            <a:off x="3822192" y="4224528"/>
            <a:ext cx="1417320" cy="420624"/>
          </a:xfrm>
          <a:prstGeom prst="rect">
            <a:avLst/>
          </a:prstGeom>
          <a:noFill/>
          <a:ln/>
        </p:spPr>
        <p:txBody>
          <a:bodyPr wrap="square" rtlCol="0" anchor="ctr"/>
          <a:lstStyle/>
          <a:p>
            <a:pPr marL="0" indent="0" algn="ctr">
              <a:buNone/>
            </a:pPr>
            <a:r>
              <a:rPr lang="en-US" sz="950" i="1" dirty="0">
                <a:solidFill>
                  <a:srgbClr val="6B4FA0"/>
                </a:solidFill>
                <a:latin typeface="Calibri" pitchFamily="34" charset="0"/>
                <a:ea typeface="Calibri" pitchFamily="34" charset="-122"/>
                <a:cs typeface="Calibri" pitchFamily="34" charset="-120"/>
              </a:rPr>
              <a:t>At first meeting</a:t>
            </a:r>
            <a:endParaRPr lang="en-US" sz="950" dirty="0"/>
          </a:p>
        </p:txBody>
      </p:sp>
      <p:sp>
        <p:nvSpPr>
          <p:cNvPr id="27" name="Shape 24"/>
          <p:cNvSpPr/>
          <p:nvPr/>
        </p:nvSpPr>
        <p:spPr>
          <a:xfrm>
            <a:off x="5943600" y="1572768"/>
            <a:ext cx="694944" cy="694944"/>
          </a:xfrm>
          <a:prstGeom prst="ellipse">
            <a:avLst/>
          </a:prstGeom>
          <a:solidFill>
            <a:srgbClr val="CC0066"/>
          </a:solidFill>
          <a:ln w="12700">
            <a:solidFill>
              <a:srgbClr val="CC0066"/>
            </a:solidFill>
            <a:prstDash val="solid"/>
          </a:ln>
          <a:effectLst>
            <a:outerShdw blurRad="127000" dist="38100" dir="8100000" algn="bl" rotWithShape="0">
              <a:srgbClr val="000000">
                <a:alpha val="18000"/>
              </a:srgbClr>
            </a:outerShdw>
          </a:effectLst>
        </p:spPr>
        <p:txBody>
          <a:bodyPr/>
          <a:lstStyle/>
          <a:p>
            <a:endParaRPr lang="en-US"/>
          </a:p>
        </p:txBody>
      </p:sp>
      <p:sp>
        <p:nvSpPr>
          <p:cNvPr id="28" name="Text 25"/>
          <p:cNvSpPr/>
          <p:nvPr/>
        </p:nvSpPr>
        <p:spPr>
          <a:xfrm>
            <a:off x="5943600" y="1591056"/>
            <a:ext cx="694944" cy="658368"/>
          </a:xfrm>
          <a:prstGeom prst="rect">
            <a:avLst/>
          </a:prstGeom>
          <a:noFill/>
          <a:ln/>
        </p:spPr>
        <p:txBody>
          <a:bodyPr wrap="square" rtlCol="0" anchor="ctr"/>
          <a:lstStyle/>
          <a:p>
            <a:pPr marL="0" indent="0" algn="ctr">
              <a:buNone/>
            </a:pPr>
            <a:r>
              <a:rPr lang="en-US" sz="2400" b="1" dirty="0">
                <a:solidFill>
                  <a:srgbClr val="0C1818"/>
                </a:solidFill>
                <a:latin typeface="Georgia" pitchFamily="34" charset="0"/>
                <a:ea typeface="Georgia" pitchFamily="34" charset="-122"/>
                <a:cs typeface="Georgia" pitchFamily="34" charset="-120"/>
              </a:rPr>
              <a:t>4</a:t>
            </a:r>
            <a:endParaRPr lang="en-US" sz="2400" dirty="0"/>
          </a:p>
        </p:txBody>
      </p:sp>
      <p:sp>
        <p:nvSpPr>
          <p:cNvPr id="29" name="Shape 26"/>
          <p:cNvSpPr/>
          <p:nvPr/>
        </p:nvSpPr>
        <p:spPr>
          <a:xfrm>
            <a:off x="5468112" y="2340864"/>
            <a:ext cx="1600200" cy="2450592"/>
          </a:xfrm>
          <a:prstGeom prst="rect">
            <a:avLst/>
          </a:prstGeom>
          <a:solidFill>
            <a:srgbClr val="152828"/>
          </a:solidFill>
          <a:ln w="12700">
            <a:solidFill>
              <a:srgbClr val="CC0066"/>
            </a:solidFill>
            <a:prstDash val="solid"/>
          </a:ln>
        </p:spPr>
        <p:txBody>
          <a:bodyPr/>
          <a:lstStyle/>
          <a:p>
            <a:endParaRPr lang="en-US"/>
          </a:p>
        </p:txBody>
      </p:sp>
      <p:sp>
        <p:nvSpPr>
          <p:cNvPr id="30" name="Text 27"/>
          <p:cNvSpPr/>
          <p:nvPr/>
        </p:nvSpPr>
        <p:spPr>
          <a:xfrm>
            <a:off x="5541264" y="2414016"/>
            <a:ext cx="1463040" cy="438912"/>
          </a:xfrm>
          <a:prstGeom prst="rect">
            <a:avLst/>
          </a:prstGeom>
          <a:noFill/>
          <a:ln/>
        </p:spPr>
        <p:txBody>
          <a:bodyPr wrap="square" rtlCol="0" anchor="ctr"/>
          <a:lstStyle/>
          <a:p>
            <a:pPr marL="0" indent="0" algn="ctr">
              <a:buNone/>
            </a:pPr>
            <a:r>
              <a:rPr lang="en-US" sz="1400" b="1" dirty="0">
                <a:solidFill>
                  <a:srgbClr val="CC0066"/>
                </a:solidFill>
                <a:latin typeface="Georgia" pitchFamily="34" charset="0"/>
                <a:ea typeface="Georgia" pitchFamily="34" charset="-122"/>
                <a:cs typeface="Georgia" pitchFamily="34" charset="-120"/>
              </a:rPr>
              <a:t>Get EIN</a:t>
            </a:r>
            <a:endParaRPr lang="en-US" sz="1400" dirty="0"/>
          </a:p>
        </p:txBody>
      </p:sp>
      <p:sp>
        <p:nvSpPr>
          <p:cNvPr id="31" name="Text 28"/>
          <p:cNvSpPr/>
          <p:nvPr/>
        </p:nvSpPr>
        <p:spPr>
          <a:xfrm>
            <a:off x="5559552" y="2907792"/>
            <a:ext cx="1417320" cy="1280160"/>
          </a:xfrm>
          <a:prstGeom prst="rect">
            <a:avLst/>
          </a:prstGeom>
          <a:noFill/>
          <a:ln/>
        </p:spPr>
        <p:txBody>
          <a:bodyPr wrap="square" rtlCol="0" anchor="t"/>
          <a:lstStyle/>
          <a:p>
            <a:pPr marL="0" indent="0" algn="ctr">
              <a:buNone/>
            </a:pPr>
            <a:r>
              <a:rPr lang="en-US" sz="1050" dirty="0">
                <a:solidFill>
                  <a:srgbClr val="CCCCCC"/>
                </a:solidFill>
                <a:latin typeface="Calibri" pitchFamily="34" charset="0"/>
                <a:ea typeface="Calibri" pitchFamily="34" charset="-122"/>
                <a:cs typeface="Calibri" pitchFamily="34" charset="-120"/>
              </a:rPr>
              <a:t>Federal Employer Identification Number. Free, fast from IRS.gov.</a:t>
            </a:r>
            <a:endParaRPr lang="en-US" sz="1050" dirty="0"/>
          </a:p>
        </p:txBody>
      </p:sp>
      <p:sp>
        <p:nvSpPr>
          <p:cNvPr id="32" name="Shape 29"/>
          <p:cNvSpPr/>
          <p:nvPr/>
        </p:nvSpPr>
        <p:spPr>
          <a:xfrm>
            <a:off x="5559552" y="4224528"/>
            <a:ext cx="1417320" cy="420624"/>
          </a:xfrm>
          <a:prstGeom prst="rect">
            <a:avLst/>
          </a:prstGeom>
          <a:solidFill>
            <a:srgbClr val="0A2424"/>
          </a:solidFill>
          <a:ln w="12700">
            <a:solidFill>
              <a:srgbClr val="0A2424"/>
            </a:solidFill>
            <a:prstDash val="solid"/>
          </a:ln>
        </p:spPr>
        <p:txBody>
          <a:bodyPr/>
          <a:lstStyle/>
          <a:p>
            <a:endParaRPr lang="en-US"/>
          </a:p>
        </p:txBody>
      </p:sp>
      <p:sp>
        <p:nvSpPr>
          <p:cNvPr id="33" name="Text 30"/>
          <p:cNvSpPr/>
          <p:nvPr/>
        </p:nvSpPr>
        <p:spPr>
          <a:xfrm>
            <a:off x="5559552" y="4224528"/>
            <a:ext cx="1417320" cy="420624"/>
          </a:xfrm>
          <a:prstGeom prst="rect">
            <a:avLst/>
          </a:prstGeom>
          <a:noFill/>
          <a:ln/>
        </p:spPr>
        <p:txBody>
          <a:bodyPr wrap="square" rtlCol="0" anchor="ctr"/>
          <a:lstStyle/>
          <a:p>
            <a:pPr marL="0" indent="0" algn="ctr">
              <a:buNone/>
            </a:pPr>
            <a:r>
              <a:rPr lang="en-US" sz="950" i="1" dirty="0">
                <a:solidFill>
                  <a:srgbClr val="CC0066"/>
                </a:solidFill>
                <a:latin typeface="Calibri" pitchFamily="34" charset="0"/>
                <a:ea typeface="Calibri" pitchFamily="34" charset="-122"/>
                <a:cs typeface="Calibri" pitchFamily="34" charset="-120"/>
              </a:rPr>
              <a:t>Same day</a:t>
            </a:r>
            <a:endParaRPr lang="en-US" sz="950" dirty="0"/>
          </a:p>
        </p:txBody>
      </p:sp>
      <p:sp>
        <p:nvSpPr>
          <p:cNvPr id="34" name="Shape 31"/>
          <p:cNvSpPr/>
          <p:nvPr/>
        </p:nvSpPr>
        <p:spPr>
          <a:xfrm>
            <a:off x="7680960" y="1572768"/>
            <a:ext cx="694944" cy="694944"/>
          </a:xfrm>
          <a:prstGeom prst="ellipse">
            <a:avLst/>
          </a:prstGeom>
          <a:solidFill>
            <a:srgbClr val="FF3CAC"/>
          </a:solidFill>
          <a:ln w="12700">
            <a:solidFill>
              <a:srgbClr val="FF3CAC"/>
            </a:solidFill>
            <a:prstDash val="solid"/>
          </a:ln>
          <a:effectLst>
            <a:outerShdw blurRad="127000" dist="38100" dir="8100000" algn="bl" rotWithShape="0">
              <a:srgbClr val="000000">
                <a:alpha val="18000"/>
              </a:srgbClr>
            </a:outerShdw>
          </a:effectLst>
        </p:spPr>
        <p:txBody>
          <a:bodyPr/>
          <a:lstStyle/>
          <a:p>
            <a:endParaRPr lang="en-US"/>
          </a:p>
        </p:txBody>
      </p:sp>
      <p:sp>
        <p:nvSpPr>
          <p:cNvPr id="35" name="Text 32"/>
          <p:cNvSpPr/>
          <p:nvPr/>
        </p:nvSpPr>
        <p:spPr>
          <a:xfrm>
            <a:off x="7680960" y="1591056"/>
            <a:ext cx="694944" cy="658368"/>
          </a:xfrm>
          <a:prstGeom prst="rect">
            <a:avLst/>
          </a:prstGeom>
          <a:noFill/>
          <a:ln/>
        </p:spPr>
        <p:txBody>
          <a:bodyPr wrap="square" rtlCol="0" anchor="ctr"/>
          <a:lstStyle/>
          <a:p>
            <a:pPr marL="0" indent="0" algn="ctr">
              <a:buNone/>
            </a:pPr>
            <a:r>
              <a:rPr lang="en-US" sz="2400" b="1" dirty="0">
                <a:solidFill>
                  <a:srgbClr val="0C1818"/>
                </a:solidFill>
                <a:latin typeface="Georgia" pitchFamily="34" charset="0"/>
                <a:ea typeface="Georgia" pitchFamily="34" charset="-122"/>
                <a:cs typeface="Georgia" pitchFamily="34" charset="-120"/>
              </a:rPr>
              <a:t>5</a:t>
            </a:r>
            <a:endParaRPr lang="en-US" sz="2400" dirty="0"/>
          </a:p>
        </p:txBody>
      </p:sp>
      <p:sp>
        <p:nvSpPr>
          <p:cNvPr id="36" name="Shape 33"/>
          <p:cNvSpPr/>
          <p:nvPr/>
        </p:nvSpPr>
        <p:spPr>
          <a:xfrm>
            <a:off x="7205472" y="2340864"/>
            <a:ext cx="1600200" cy="2450592"/>
          </a:xfrm>
          <a:prstGeom prst="rect">
            <a:avLst/>
          </a:prstGeom>
          <a:solidFill>
            <a:srgbClr val="152828"/>
          </a:solidFill>
          <a:ln w="12700">
            <a:solidFill>
              <a:srgbClr val="FF3CAC"/>
            </a:solidFill>
            <a:prstDash val="solid"/>
          </a:ln>
        </p:spPr>
        <p:txBody>
          <a:bodyPr/>
          <a:lstStyle/>
          <a:p>
            <a:endParaRPr lang="en-US"/>
          </a:p>
        </p:txBody>
      </p:sp>
      <p:sp>
        <p:nvSpPr>
          <p:cNvPr id="37" name="Text 34"/>
          <p:cNvSpPr/>
          <p:nvPr/>
        </p:nvSpPr>
        <p:spPr>
          <a:xfrm>
            <a:off x="7278624" y="2414016"/>
            <a:ext cx="1463040" cy="438912"/>
          </a:xfrm>
          <a:prstGeom prst="rect">
            <a:avLst/>
          </a:prstGeom>
          <a:noFill/>
          <a:ln/>
        </p:spPr>
        <p:txBody>
          <a:bodyPr wrap="square" rtlCol="0" anchor="ctr"/>
          <a:lstStyle/>
          <a:p>
            <a:pPr marL="0" indent="0" algn="ctr">
              <a:buNone/>
            </a:pPr>
            <a:r>
              <a:rPr lang="en-US" sz="1400" b="1" dirty="0">
                <a:solidFill>
                  <a:srgbClr val="FF3CAC"/>
                </a:solidFill>
                <a:latin typeface="Georgia" pitchFamily="34" charset="0"/>
                <a:ea typeface="Georgia" pitchFamily="34" charset="-122"/>
                <a:cs typeface="Georgia" pitchFamily="34" charset="-120"/>
              </a:rPr>
              <a:t>File 501(c)(3)</a:t>
            </a:r>
            <a:endParaRPr lang="en-US" sz="1400" dirty="0"/>
          </a:p>
        </p:txBody>
      </p:sp>
      <p:sp>
        <p:nvSpPr>
          <p:cNvPr id="38" name="Text 35"/>
          <p:cNvSpPr/>
          <p:nvPr/>
        </p:nvSpPr>
        <p:spPr>
          <a:xfrm>
            <a:off x="7296912" y="2907792"/>
            <a:ext cx="1417320" cy="1280160"/>
          </a:xfrm>
          <a:prstGeom prst="rect">
            <a:avLst/>
          </a:prstGeom>
          <a:noFill/>
          <a:ln/>
        </p:spPr>
        <p:txBody>
          <a:bodyPr wrap="square" rtlCol="0" anchor="t"/>
          <a:lstStyle/>
          <a:p>
            <a:pPr marL="0" indent="0" algn="ctr">
              <a:buNone/>
            </a:pPr>
            <a:r>
              <a:rPr lang="en-US" sz="1050" dirty="0">
                <a:solidFill>
                  <a:srgbClr val="CCCCCC"/>
                </a:solidFill>
                <a:latin typeface="Calibri" pitchFamily="34" charset="0"/>
                <a:ea typeface="Calibri" pitchFamily="34" charset="-122"/>
                <a:cs typeface="Calibri" pitchFamily="34" charset="-120"/>
              </a:rPr>
              <a:t>IRS Form 1023-EZ (faster) or 1023. Tax-exempt status unlocks donations. Obtain state licenses for fundraising? </a:t>
            </a:r>
            <a:endParaRPr lang="en-US" sz="1050" dirty="0"/>
          </a:p>
        </p:txBody>
      </p:sp>
      <p:sp>
        <p:nvSpPr>
          <p:cNvPr id="39" name="Shape 36"/>
          <p:cNvSpPr/>
          <p:nvPr/>
        </p:nvSpPr>
        <p:spPr>
          <a:xfrm>
            <a:off x="7296912" y="4224528"/>
            <a:ext cx="1417320" cy="420624"/>
          </a:xfrm>
          <a:prstGeom prst="rect">
            <a:avLst/>
          </a:prstGeom>
          <a:solidFill>
            <a:srgbClr val="0A2424"/>
          </a:solidFill>
          <a:ln w="12700">
            <a:solidFill>
              <a:srgbClr val="0A2424"/>
            </a:solidFill>
            <a:prstDash val="solid"/>
          </a:ln>
        </p:spPr>
        <p:txBody>
          <a:bodyPr/>
          <a:lstStyle/>
          <a:p>
            <a:endParaRPr lang="en-US"/>
          </a:p>
        </p:txBody>
      </p:sp>
      <p:sp>
        <p:nvSpPr>
          <p:cNvPr id="40" name="Text 37"/>
          <p:cNvSpPr/>
          <p:nvPr/>
        </p:nvSpPr>
        <p:spPr>
          <a:xfrm>
            <a:off x="7296912" y="4224528"/>
            <a:ext cx="1417320" cy="420624"/>
          </a:xfrm>
          <a:prstGeom prst="rect">
            <a:avLst/>
          </a:prstGeom>
          <a:noFill/>
          <a:ln/>
        </p:spPr>
        <p:txBody>
          <a:bodyPr wrap="square" rtlCol="0" anchor="ctr"/>
          <a:lstStyle/>
          <a:p>
            <a:pPr marL="0" indent="0" algn="ctr">
              <a:buNone/>
            </a:pPr>
            <a:r>
              <a:rPr lang="en-US" sz="950" i="1" dirty="0">
                <a:solidFill>
                  <a:srgbClr val="FF3CAC"/>
                </a:solidFill>
                <a:latin typeface="Calibri" pitchFamily="34" charset="0"/>
                <a:ea typeface="Calibri" pitchFamily="34" charset="-122"/>
                <a:cs typeface="Calibri" pitchFamily="34" charset="-120"/>
              </a:rPr>
              <a:t>3–6 months</a:t>
            </a:r>
            <a:endParaRPr lang="en-US" sz="950" dirty="0"/>
          </a:p>
        </p:txBody>
      </p:sp>
      <p:sp>
        <p:nvSpPr>
          <p:cNvPr id="41" name="Text 38"/>
          <p:cNvSpPr/>
          <p:nvPr/>
        </p:nvSpPr>
        <p:spPr>
          <a:xfrm>
            <a:off x="365760" y="4754880"/>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p:cNvSpPr/>
          <p:nvPr/>
        </p:nvSpPr>
        <p:spPr>
          <a:xfrm>
            <a:off x="457200" y="804672"/>
            <a:ext cx="8229600" cy="640080"/>
          </a:xfrm>
          <a:prstGeom prst="rect">
            <a:avLst/>
          </a:prstGeom>
          <a:noFill/>
          <a:ln/>
        </p:spPr>
        <p:txBody>
          <a:bodyPr wrap="square" rtlCol="0" anchor="ctr"/>
          <a:lstStyle/>
          <a:p>
            <a:pPr marL="0" indent="0">
              <a:buNone/>
            </a:pPr>
            <a:r>
              <a:rPr lang="en-US" sz="3400" b="1" dirty="0">
                <a:solidFill>
                  <a:srgbClr val="0C1818"/>
                </a:solidFill>
                <a:latin typeface="Georgia" pitchFamily="34" charset="0"/>
                <a:ea typeface="Georgia" pitchFamily="34" charset="-122"/>
                <a:cs typeface="Georgia" pitchFamily="34" charset="-120"/>
              </a:rPr>
              <a:t>Working Groups — Sign Up Today!</a:t>
            </a:r>
            <a:endParaRPr lang="en-US" sz="3400" dirty="0"/>
          </a:p>
        </p:txBody>
      </p:sp>
      <p:sp>
        <p:nvSpPr>
          <p:cNvPr id="6" name="Text 3"/>
          <p:cNvSpPr/>
          <p:nvPr/>
        </p:nvSpPr>
        <p:spPr>
          <a:xfrm>
            <a:off x="457200" y="1371600"/>
            <a:ext cx="8229600" cy="274320"/>
          </a:xfrm>
          <a:prstGeom prst="rect">
            <a:avLst/>
          </a:prstGeom>
          <a:noFill/>
          <a:ln/>
        </p:spPr>
        <p:txBody>
          <a:bodyPr wrap="square" rtlCol="0" anchor="ctr"/>
          <a:lstStyle/>
          <a:p>
            <a:pPr marL="0" indent="0">
              <a:buNone/>
            </a:pPr>
            <a:r>
              <a:rPr lang="en-US" sz="1200" i="1" dirty="0">
                <a:solidFill>
                  <a:srgbClr val="888888"/>
                </a:solidFill>
                <a:latin typeface="Calibri" pitchFamily="34" charset="0"/>
                <a:ea typeface="Calibri" pitchFamily="34" charset="-122"/>
                <a:cs typeface="Calibri" pitchFamily="34" charset="-120"/>
              </a:rPr>
              <a:t>Each group needs a Lead + 2–4 members. Report back in 30 days.</a:t>
            </a:r>
            <a:endParaRPr lang="en-US" sz="1200" dirty="0"/>
          </a:p>
        </p:txBody>
      </p:sp>
      <p:sp>
        <p:nvSpPr>
          <p:cNvPr id="7" name="Shape 4"/>
          <p:cNvSpPr/>
          <p:nvPr/>
        </p:nvSpPr>
        <p:spPr>
          <a:xfrm>
            <a:off x="256032" y="1737360"/>
            <a:ext cx="1572768" cy="2944368"/>
          </a:xfrm>
          <a:prstGeom prst="rect">
            <a:avLst/>
          </a:prstGeom>
          <a:solidFill>
            <a:srgbClr val="E0F6F6"/>
          </a:solidFill>
          <a:ln w="19050">
            <a:solidFill>
              <a:srgbClr val="0E9B9B"/>
            </a:solidFill>
            <a:prstDash val="solid"/>
          </a:ln>
          <a:effectLst>
            <a:outerShdw blurRad="127000" dist="38100" dir="8100000" algn="bl" rotWithShape="0">
              <a:srgbClr val="000000">
                <a:alpha val="18000"/>
              </a:srgbClr>
            </a:outerShdw>
          </a:effectLst>
        </p:spPr>
        <p:txBody>
          <a:bodyPr/>
          <a:lstStyle/>
          <a:p>
            <a:endParaRPr lang="en-US"/>
          </a:p>
        </p:txBody>
      </p:sp>
      <p:sp>
        <p:nvSpPr>
          <p:cNvPr id="8" name="Shape 5"/>
          <p:cNvSpPr/>
          <p:nvPr/>
        </p:nvSpPr>
        <p:spPr>
          <a:xfrm>
            <a:off x="256032" y="1737360"/>
            <a:ext cx="1572768" cy="64008"/>
          </a:xfrm>
          <a:prstGeom prst="rect">
            <a:avLst/>
          </a:prstGeom>
          <a:solidFill>
            <a:srgbClr val="0E9B9B"/>
          </a:solidFill>
          <a:ln w="12700">
            <a:solidFill>
              <a:srgbClr val="0E9B9B"/>
            </a:solidFill>
            <a:prstDash val="solid"/>
          </a:ln>
        </p:spPr>
        <p:txBody>
          <a:bodyPr/>
          <a:lstStyle/>
          <a:p>
            <a:endParaRPr lang="en-US"/>
          </a:p>
        </p:txBody>
      </p:sp>
      <p:sp>
        <p:nvSpPr>
          <p:cNvPr id="9" name="Text 6"/>
          <p:cNvSpPr/>
          <p:nvPr/>
        </p:nvSpPr>
        <p:spPr>
          <a:xfrm>
            <a:off x="25603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7"/>
          <p:cNvSpPr/>
          <p:nvPr/>
        </p:nvSpPr>
        <p:spPr>
          <a:xfrm>
            <a:off x="329184" y="2450592"/>
            <a:ext cx="1417320" cy="658368"/>
          </a:xfrm>
          <a:prstGeom prst="rect">
            <a:avLst/>
          </a:prstGeom>
          <a:noFill/>
          <a:ln/>
        </p:spPr>
        <p:txBody>
          <a:bodyPr wrap="square" rtlCol="0" anchor="ctr"/>
          <a:lstStyle/>
          <a:p>
            <a:pPr marL="0" indent="0" algn="ctr">
              <a:buNone/>
            </a:pPr>
            <a:r>
              <a:rPr lang="en-US" sz="1300" b="1" dirty="0">
                <a:solidFill>
                  <a:srgbClr val="0E9B9B"/>
                </a:solidFill>
                <a:latin typeface="Georgia" pitchFamily="34" charset="0"/>
                <a:ea typeface="Georgia" pitchFamily="34" charset="-122"/>
                <a:cs typeface="Georgia" pitchFamily="34" charset="-120"/>
              </a:rPr>
              <a:t>Governance</a:t>
            </a:r>
            <a:endParaRPr lang="en-US" sz="1300" dirty="0"/>
          </a:p>
          <a:p>
            <a:pPr marL="0" indent="0" algn="ctr">
              <a:buNone/>
            </a:pPr>
            <a:r>
              <a:rPr lang="en-US" sz="1300" b="1" dirty="0">
                <a:solidFill>
                  <a:srgbClr val="0E9B9B"/>
                </a:solidFill>
                <a:latin typeface="Georgia" pitchFamily="34" charset="0"/>
                <a:ea typeface="Georgia" pitchFamily="34" charset="-122"/>
                <a:cs typeface="Georgia" pitchFamily="34" charset="-120"/>
              </a:rPr>
              <a:t>&amp; Legal</a:t>
            </a:r>
            <a:endParaRPr lang="en-US" sz="1300" dirty="0"/>
          </a:p>
        </p:txBody>
      </p:sp>
      <p:sp>
        <p:nvSpPr>
          <p:cNvPr id="11" name="Text 8"/>
          <p:cNvSpPr/>
          <p:nvPr/>
        </p:nvSpPr>
        <p:spPr>
          <a:xfrm>
            <a:off x="34747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Incorporation, bylaws, 501(c)(3), attorney</a:t>
            </a:r>
            <a:endParaRPr lang="en-US" sz="1050" dirty="0"/>
          </a:p>
        </p:txBody>
      </p:sp>
      <p:sp>
        <p:nvSpPr>
          <p:cNvPr id="12" name="Shape 9"/>
          <p:cNvSpPr/>
          <p:nvPr/>
        </p:nvSpPr>
        <p:spPr>
          <a:xfrm>
            <a:off x="347472" y="4443984"/>
            <a:ext cx="1389888" cy="182880"/>
          </a:xfrm>
          <a:prstGeom prst="rect">
            <a:avLst/>
          </a:prstGeom>
          <a:solidFill>
            <a:srgbClr val="0E9B9B">
              <a:alpha val="20000"/>
            </a:srgbClr>
          </a:solidFill>
          <a:ln w="12700">
            <a:solidFill>
              <a:srgbClr val="0E9B9B">
                <a:alpha val="40000"/>
              </a:srgbClr>
            </a:solidFill>
            <a:prstDash val="solid"/>
          </a:ln>
        </p:spPr>
        <p:txBody>
          <a:bodyPr/>
          <a:lstStyle/>
          <a:p>
            <a:endParaRPr lang="en-US"/>
          </a:p>
        </p:txBody>
      </p:sp>
      <p:sp>
        <p:nvSpPr>
          <p:cNvPr id="13" name="Text 10"/>
          <p:cNvSpPr/>
          <p:nvPr/>
        </p:nvSpPr>
        <p:spPr>
          <a:xfrm>
            <a:off x="365760" y="4443984"/>
            <a:ext cx="1353312" cy="182880"/>
          </a:xfrm>
          <a:prstGeom prst="rect">
            <a:avLst/>
          </a:prstGeom>
          <a:noFill/>
          <a:ln/>
        </p:spPr>
        <p:txBody>
          <a:bodyPr wrap="square" rtlCol="0" anchor="ctr"/>
          <a:lstStyle/>
          <a:p>
            <a:pPr marL="0" indent="0">
              <a:buNone/>
            </a:pPr>
            <a:r>
              <a:rPr lang="en-US" sz="850" i="1" dirty="0">
                <a:solidFill>
                  <a:srgbClr val="0E9B9B"/>
                </a:solidFill>
                <a:latin typeface="Calibri" pitchFamily="34" charset="0"/>
                <a:ea typeface="Calibri" pitchFamily="34" charset="-122"/>
                <a:cs typeface="Calibri" pitchFamily="34" charset="-120"/>
              </a:rPr>
              <a:t>Lead: ___________</a:t>
            </a:r>
            <a:endParaRPr lang="en-US" sz="850" dirty="0"/>
          </a:p>
        </p:txBody>
      </p:sp>
      <p:sp>
        <p:nvSpPr>
          <p:cNvPr id="14" name="Shape 11"/>
          <p:cNvSpPr/>
          <p:nvPr/>
        </p:nvSpPr>
        <p:spPr>
          <a:xfrm>
            <a:off x="1993392" y="1737360"/>
            <a:ext cx="1572768" cy="2944368"/>
          </a:xfrm>
          <a:prstGeom prst="rect">
            <a:avLst/>
          </a:prstGeom>
          <a:solidFill>
            <a:srgbClr val="EEE8F8"/>
          </a:solidFill>
          <a:ln w="19050">
            <a:solidFill>
              <a:srgbClr val="6B4FA0"/>
            </a:solidFill>
            <a:prstDash val="solid"/>
          </a:ln>
          <a:effectLst>
            <a:outerShdw blurRad="127000" dist="38100" dir="8100000" algn="bl" rotWithShape="0">
              <a:srgbClr val="000000">
                <a:alpha val="18000"/>
              </a:srgbClr>
            </a:outerShdw>
          </a:effectLst>
        </p:spPr>
        <p:txBody>
          <a:bodyPr/>
          <a:lstStyle/>
          <a:p>
            <a:endParaRPr lang="en-US"/>
          </a:p>
        </p:txBody>
      </p:sp>
      <p:sp>
        <p:nvSpPr>
          <p:cNvPr id="15" name="Shape 12"/>
          <p:cNvSpPr/>
          <p:nvPr/>
        </p:nvSpPr>
        <p:spPr>
          <a:xfrm>
            <a:off x="1993392" y="1737360"/>
            <a:ext cx="1572768" cy="64008"/>
          </a:xfrm>
          <a:prstGeom prst="rect">
            <a:avLst/>
          </a:prstGeom>
          <a:solidFill>
            <a:srgbClr val="6B4FA0"/>
          </a:solidFill>
          <a:ln w="12700">
            <a:solidFill>
              <a:srgbClr val="6B4FA0"/>
            </a:solidFill>
            <a:prstDash val="solid"/>
          </a:ln>
        </p:spPr>
        <p:txBody>
          <a:bodyPr/>
          <a:lstStyle/>
          <a:p>
            <a:endParaRPr lang="en-US"/>
          </a:p>
        </p:txBody>
      </p:sp>
      <p:sp>
        <p:nvSpPr>
          <p:cNvPr id="16" name="Text 13"/>
          <p:cNvSpPr/>
          <p:nvPr/>
        </p:nvSpPr>
        <p:spPr>
          <a:xfrm>
            <a:off x="199339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4"/>
          <p:cNvSpPr/>
          <p:nvPr/>
        </p:nvSpPr>
        <p:spPr>
          <a:xfrm>
            <a:off x="2066544" y="2450592"/>
            <a:ext cx="1417320" cy="658368"/>
          </a:xfrm>
          <a:prstGeom prst="rect">
            <a:avLst/>
          </a:prstGeom>
          <a:noFill/>
          <a:ln/>
        </p:spPr>
        <p:txBody>
          <a:bodyPr wrap="square" rtlCol="0" anchor="ctr"/>
          <a:lstStyle/>
          <a:p>
            <a:pPr marL="0" indent="0" algn="ctr">
              <a:buNone/>
            </a:pPr>
            <a:r>
              <a:rPr lang="en-US" sz="1300" b="1" dirty="0">
                <a:solidFill>
                  <a:srgbClr val="6B4FA0"/>
                </a:solidFill>
                <a:latin typeface="Georgia" pitchFamily="34" charset="0"/>
                <a:ea typeface="Georgia" pitchFamily="34" charset="-122"/>
                <a:cs typeface="Georgia" pitchFamily="34" charset="-120"/>
              </a:rPr>
              <a:t>Medical &amp;</a:t>
            </a:r>
            <a:endParaRPr lang="en-US" sz="1300" dirty="0"/>
          </a:p>
          <a:p>
            <a:pPr marL="0" indent="0" algn="ctr">
              <a:buNone/>
            </a:pPr>
            <a:r>
              <a:rPr lang="en-US" sz="1300" b="1" dirty="0">
                <a:solidFill>
                  <a:srgbClr val="6B4FA0"/>
                </a:solidFill>
                <a:latin typeface="Georgia" pitchFamily="34" charset="0"/>
                <a:ea typeface="Georgia" pitchFamily="34" charset="-122"/>
                <a:cs typeface="Georgia" pitchFamily="34" charset="-120"/>
              </a:rPr>
              <a:t>Scientific</a:t>
            </a:r>
            <a:endParaRPr lang="en-US" sz="1300" dirty="0"/>
          </a:p>
        </p:txBody>
      </p:sp>
      <p:sp>
        <p:nvSpPr>
          <p:cNvPr id="18" name="Text 15"/>
          <p:cNvSpPr/>
          <p:nvPr/>
        </p:nvSpPr>
        <p:spPr>
          <a:xfrm>
            <a:off x="208483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Recruit SAB, researcher relationships, registry</a:t>
            </a:r>
            <a:endParaRPr lang="en-US" sz="1050" dirty="0"/>
          </a:p>
        </p:txBody>
      </p:sp>
      <p:sp>
        <p:nvSpPr>
          <p:cNvPr id="19" name="Shape 16"/>
          <p:cNvSpPr/>
          <p:nvPr/>
        </p:nvSpPr>
        <p:spPr>
          <a:xfrm>
            <a:off x="2084832" y="4443984"/>
            <a:ext cx="1389888" cy="182880"/>
          </a:xfrm>
          <a:prstGeom prst="rect">
            <a:avLst/>
          </a:prstGeom>
          <a:solidFill>
            <a:srgbClr val="6B4FA0">
              <a:alpha val="20000"/>
            </a:srgbClr>
          </a:solidFill>
          <a:ln w="12700">
            <a:solidFill>
              <a:srgbClr val="6B4FA0">
                <a:alpha val="40000"/>
              </a:srgbClr>
            </a:solidFill>
            <a:prstDash val="solid"/>
          </a:ln>
        </p:spPr>
        <p:txBody>
          <a:bodyPr/>
          <a:lstStyle/>
          <a:p>
            <a:endParaRPr lang="en-US"/>
          </a:p>
        </p:txBody>
      </p:sp>
      <p:sp>
        <p:nvSpPr>
          <p:cNvPr id="20" name="Text 17"/>
          <p:cNvSpPr/>
          <p:nvPr/>
        </p:nvSpPr>
        <p:spPr>
          <a:xfrm>
            <a:off x="2103120" y="4443984"/>
            <a:ext cx="1353312" cy="182880"/>
          </a:xfrm>
          <a:prstGeom prst="rect">
            <a:avLst/>
          </a:prstGeom>
          <a:noFill/>
          <a:ln/>
        </p:spPr>
        <p:txBody>
          <a:bodyPr wrap="square" rtlCol="0" anchor="ctr"/>
          <a:lstStyle/>
          <a:p>
            <a:pPr marL="0" indent="0">
              <a:buNone/>
            </a:pPr>
            <a:r>
              <a:rPr lang="en-US" sz="850" i="1" dirty="0">
                <a:solidFill>
                  <a:srgbClr val="6B4FA0"/>
                </a:solidFill>
                <a:latin typeface="Calibri" pitchFamily="34" charset="0"/>
                <a:ea typeface="Calibri" pitchFamily="34" charset="-122"/>
                <a:cs typeface="Calibri" pitchFamily="34" charset="-120"/>
              </a:rPr>
              <a:t>Lead: ___________</a:t>
            </a:r>
            <a:endParaRPr lang="en-US" sz="850" dirty="0"/>
          </a:p>
        </p:txBody>
      </p:sp>
      <p:sp>
        <p:nvSpPr>
          <p:cNvPr id="21" name="Shape 18"/>
          <p:cNvSpPr/>
          <p:nvPr/>
        </p:nvSpPr>
        <p:spPr>
          <a:xfrm>
            <a:off x="3730752" y="1737360"/>
            <a:ext cx="1572768" cy="2944368"/>
          </a:xfrm>
          <a:prstGeom prst="rect">
            <a:avLst/>
          </a:prstGeom>
          <a:solidFill>
            <a:srgbClr val="E8F4FC"/>
          </a:solidFill>
          <a:ln w="19050">
            <a:solidFill>
              <a:srgbClr val="1E88C0"/>
            </a:solidFill>
            <a:prstDash val="solid"/>
          </a:ln>
          <a:effectLst>
            <a:outerShdw blurRad="127000" dist="38100" dir="8100000" algn="bl" rotWithShape="0">
              <a:srgbClr val="000000">
                <a:alpha val="18000"/>
              </a:srgbClr>
            </a:outerShdw>
          </a:effectLst>
        </p:spPr>
        <p:txBody>
          <a:bodyPr/>
          <a:lstStyle/>
          <a:p>
            <a:endParaRPr lang="en-US"/>
          </a:p>
        </p:txBody>
      </p:sp>
      <p:sp>
        <p:nvSpPr>
          <p:cNvPr id="22" name="Shape 19"/>
          <p:cNvSpPr/>
          <p:nvPr/>
        </p:nvSpPr>
        <p:spPr>
          <a:xfrm>
            <a:off x="3730752" y="1737360"/>
            <a:ext cx="1572768" cy="64008"/>
          </a:xfrm>
          <a:prstGeom prst="rect">
            <a:avLst/>
          </a:prstGeom>
          <a:solidFill>
            <a:srgbClr val="1E88C0"/>
          </a:solidFill>
          <a:ln w="12700">
            <a:solidFill>
              <a:srgbClr val="1E88C0"/>
            </a:solidFill>
            <a:prstDash val="solid"/>
          </a:ln>
        </p:spPr>
        <p:txBody>
          <a:bodyPr/>
          <a:lstStyle/>
          <a:p>
            <a:endParaRPr lang="en-US"/>
          </a:p>
        </p:txBody>
      </p:sp>
      <p:sp>
        <p:nvSpPr>
          <p:cNvPr id="23" name="Text 20"/>
          <p:cNvSpPr/>
          <p:nvPr/>
        </p:nvSpPr>
        <p:spPr>
          <a:xfrm>
            <a:off x="373075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4" name="Text 21"/>
          <p:cNvSpPr/>
          <p:nvPr/>
        </p:nvSpPr>
        <p:spPr>
          <a:xfrm>
            <a:off x="3803904" y="2450592"/>
            <a:ext cx="1417320" cy="658368"/>
          </a:xfrm>
          <a:prstGeom prst="rect">
            <a:avLst/>
          </a:prstGeom>
          <a:noFill/>
          <a:ln/>
        </p:spPr>
        <p:txBody>
          <a:bodyPr wrap="square" rtlCol="0" anchor="ctr"/>
          <a:lstStyle/>
          <a:p>
            <a:pPr marL="0" indent="0" algn="ctr">
              <a:buNone/>
            </a:pPr>
            <a:r>
              <a:rPr lang="en-US" sz="1300" b="1" dirty="0">
                <a:solidFill>
                  <a:srgbClr val="1E88C0"/>
                </a:solidFill>
                <a:latin typeface="Georgia" pitchFamily="34" charset="0"/>
                <a:ea typeface="Georgia" pitchFamily="34" charset="-122"/>
                <a:cs typeface="Georgia" pitchFamily="34" charset="-120"/>
              </a:rPr>
              <a:t>Community</a:t>
            </a:r>
            <a:endParaRPr lang="en-US" sz="1300" dirty="0"/>
          </a:p>
          <a:p>
            <a:pPr marL="0" indent="0" algn="ctr">
              <a:buNone/>
            </a:pPr>
            <a:r>
              <a:rPr lang="en-US" sz="1300" b="1" dirty="0">
                <a:solidFill>
                  <a:srgbClr val="1E88C0"/>
                </a:solidFill>
                <a:latin typeface="Georgia" pitchFamily="34" charset="0"/>
                <a:ea typeface="Georgia" pitchFamily="34" charset="-122"/>
                <a:cs typeface="Georgia" pitchFamily="34" charset="-120"/>
              </a:rPr>
              <a:t>Support</a:t>
            </a:r>
            <a:endParaRPr lang="en-US" sz="1300" dirty="0"/>
          </a:p>
        </p:txBody>
      </p:sp>
      <p:sp>
        <p:nvSpPr>
          <p:cNvPr id="25" name="Text 22"/>
          <p:cNvSpPr/>
          <p:nvPr/>
        </p:nvSpPr>
        <p:spPr>
          <a:xfrm>
            <a:off x="382219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Family resources, peer support, online community</a:t>
            </a:r>
            <a:endParaRPr lang="en-US" sz="1050" dirty="0"/>
          </a:p>
        </p:txBody>
      </p:sp>
      <p:sp>
        <p:nvSpPr>
          <p:cNvPr id="26" name="Shape 23"/>
          <p:cNvSpPr/>
          <p:nvPr/>
        </p:nvSpPr>
        <p:spPr>
          <a:xfrm>
            <a:off x="3822192" y="4443984"/>
            <a:ext cx="1389888" cy="182880"/>
          </a:xfrm>
          <a:prstGeom prst="rect">
            <a:avLst/>
          </a:prstGeom>
          <a:solidFill>
            <a:srgbClr val="1E88C0">
              <a:alpha val="20000"/>
            </a:srgbClr>
          </a:solidFill>
          <a:ln w="12700">
            <a:solidFill>
              <a:srgbClr val="1E88C0">
                <a:alpha val="40000"/>
              </a:srgbClr>
            </a:solidFill>
            <a:prstDash val="solid"/>
          </a:ln>
        </p:spPr>
        <p:txBody>
          <a:bodyPr/>
          <a:lstStyle/>
          <a:p>
            <a:endParaRPr lang="en-US"/>
          </a:p>
        </p:txBody>
      </p:sp>
      <p:sp>
        <p:nvSpPr>
          <p:cNvPr id="27" name="Text 24"/>
          <p:cNvSpPr/>
          <p:nvPr/>
        </p:nvSpPr>
        <p:spPr>
          <a:xfrm>
            <a:off x="3840480" y="4443984"/>
            <a:ext cx="1353312" cy="182880"/>
          </a:xfrm>
          <a:prstGeom prst="rect">
            <a:avLst/>
          </a:prstGeom>
          <a:noFill/>
          <a:ln/>
        </p:spPr>
        <p:txBody>
          <a:bodyPr wrap="square" rtlCol="0" anchor="ctr"/>
          <a:lstStyle/>
          <a:p>
            <a:pPr marL="0" indent="0">
              <a:buNone/>
            </a:pPr>
            <a:r>
              <a:rPr lang="en-US" sz="850" i="1" dirty="0">
                <a:solidFill>
                  <a:srgbClr val="1E88C0"/>
                </a:solidFill>
                <a:latin typeface="Calibri" pitchFamily="34" charset="0"/>
                <a:ea typeface="Calibri" pitchFamily="34" charset="-122"/>
                <a:cs typeface="Calibri" pitchFamily="34" charset="-120"/>
              </a:rPr>
              <a:t>Lead: ___________</a:t>
            </a:r>
            <a:endParaRPr lang="en-US" sz="850" dirty="0"/>
          </a:p>
        </p:txBody>
      </p:sp>
      <p:sp>
        <p:nvSpPr>
          <p:cNvPr id="28" name="Shape 25"/>
          <p:cNvSpPr/>
          <p:nvPr/>
        </p:nvSpPr>
        <p:spPr>
          <a:xfrm>
            <a:off x="5468112" y="1737360"/>
            <a:ext cx="1572768" cy="2944368"/>
          </a:xfrm>
          <a:prstGeom prst="rect">
            <a:avLst/>
          </a:prstGeom>
          <a:solidFill>
            <a:srgbClr val="FCF4E0"/>
          </a:solidFill>
          <a:ln w="19050">
            <a:solidFill>
              <a:srgbClr val="C07820"/>
            </a:solidFill>
            <a:prstDash val="solid"/>
          </a:ln>
          <a:effectLst>
            <a:outerShdw blurRad="127000" dist="38100" dir="8100000" algn="bl" rotWithShape="0">
              <a:srgbClr val="000000">
                <a:alpha val="18000"/>
              </a:srgbClr>
            </a:outerShdw>
          </a:effectLst>
        </p:spPr>
        <p:txBody>
          <a:bodyPr/>
          <a:lstStyle/>
          <a:p>
            <a:endParaRPr lang="en-US"/>
          </a:p>
        </p:txBody>
      </p:sp>
      <p:sp>
        <p:nvSpPr>
          <p:cNvPr id="29" name="Shape 26"/>
          <p:cNvSpPr/>
          <p:nvPr/>
        </p:nvSpPr>
        <p:spPr>
          <a:xfrm>
            <a:off x="5468112" y="1737360"/>
            <a:ext cx="1572768" cy="64008"/>
          </a:xfrm>
          <a:prstGeom prst="rect">
            <a:avLst/>
          </a:prstGeom>
          <a:solidFill>
            <a:srgbClr val="C07820"/>
          </a:solidFill>
          <a:ln w="12700">
            <a:solidFill>
              <a:srgbClr val="C07820"/>
            </a:solidFill>
            <a:prstDash val="solid"/>
          </a:ln>
        </p:spPr>
        <p:txBody>
          <a:bodyPr/>
          <a:lstStyle/>
          <a:p>
            <a:endParaRPr lang="en-US"/>
          </a:p>
        </p:txBody>
      </p:sp>
      <p:sp>
        <p:nvSpPr>
          <p:cNvPr id="30" name="Text 27"/>
          <p:cNvSpPr/>
          <p:nvPr/>
        </p:nvSpPr>
        <p:spPr>
          <a:xfrm>
            <a:off x="546811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1" name="Text 28"/>
          <p:cNvSpPr/>
          <p:nvPr/>
        </p:nvSpPr>
        <p:spPr>
          <a:xfrm>
            <a:off x="5541264" y="2450592"/>
            <a:ext cx="1417320" cy="658368"/>
          </a:xfrm>
          <a:prstGeom prst="rect">
            <a:avLst/>
          </a:prstGeom>
          <a:noFill/>
          <a:ln/>
        </p:spPr>
        <p:txBody>
          <a:bodyPr wrap="square" rtlCol="0" anchor="ctr"/>
          <a:lstStyle/>
          <a:p>
            <a:pPr marL="0" indent="0" algn="ctr">
              <a:buNone/>
            </a:pPr>
            <a:r>
              <a:rPr lang="en-US" sz="1300" b="1" dirty="0">
                <a:solidFill>
                  <a:srgbClr val="C07820"/>
                </a:solidFill>
                <a:latin typeface="Georgia" pitchFamily="34" charset="0"/>
                <a:ea typeface="Georgia" pitchFamily="34" charset="-122"/>
                <a:cs typeface="Georgia" pitchFamily="34" charset="-120"/>
              </a:rPr>
              <a:t>Fundraising</a:t>
            </a:r>
            <a:endParaRPr lang="en-US" sz="1300" dirty="0"/>
          </a:p>
          <a:p>
            <a:pPr marL="0" indent="0" algn="ctr">
              <a:buNone/>
            </a:pPr>
            <a:r>
              <a:rPr lang="en-US" sz="1300" b="1" dirty="0">
                <a:solidFill>
                  <a:srgbClr val="C07820"/>
                </a:solidFill>
                <a:latin typeface="Georgia" pitchFamily="34" charset="0"/>
                <a:ea typeface="Georgia" pitchFamily="34" charset="-122"/>
                <a:cs typeface="Georgia" pitchFamily="34" charset="-120"/>
              </a:rPr>
              <a:t>&amp; Finance</a:t>
            </a:r>
            <a:endParaRPr lang="en-US" sz="1300" dirty="0"/>
          </a:p>
        </p:txBody>
      </p:sp>
      <p:sp>
        <p:nvSpPr>
          <p:cNvPr id="32" name="Text 29"/>
          <p:cNvSpPr/>
          <p:nvPr/>
        </p:nvSpPr>
        <p:spPr>
          <a:xfrm>
            <a:off x="555955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Fundraising strategy, grants, donor database</a:t>
            </a:r>
            <a:endParaRPr lang="en-US" sz="1050" dirty="0"/>
          </a:p>
        </p:txBody>
      </p:sp>
      <p:sp>
        <p:nvSpPr>
          <p:cNvPr id="33" name="Shape 30"/>
          <p:cNvSpPr/>
          <p:nvPr/>
        </p:nvSpPr>
        <p:spPr>
          <a:xfrm>
            <a:off x="5559552" y="4443984"/>
            <a:ext cx="1389888" cy="182880"/>
          </a:xfrm>
          <a:prstGeom prst="rect">
            <a:avLst/>
          </a:prstGeom>
          <a:solidFill>
            <a:srgbClr val="C07820">
              <a:alpha val="20000"/>
            </a:srgbClr>
          </a:solidFill>
          <a:ln w="12700">
            <a:solidFill>
              <a:srgbClr val="C07820">
                <a:alpha val="40000"/>
              </a:srgbClr>
            </a:solidFill>
            <a:prstDash val="solid"/>
          </a:ln>
        </p:spPr>
        <p:txBody>
          <a:bodyPr/>
          <a:lstStyle/>
          <a:p>
            <a:endParaRPr lang="en-US"/>
          </a:p>
        </p:txBody>
      </p:sp>
      <p:sp>
        <p:nvSpPr>
          <p:cNvPr id="34" name="Text 31"/>
          <p:cNvSpPr/>
          <p:nvPr/>
        </p:nvSpPr>
        <p:spPr>
          <a:xfrm>
            <a:off x="5577840" y="4443984"/>
            <a:ext cx="1353312" cy="182880"/>
          </a:xfrm>
          <a:prstGeom prst="rect">
            <a:avLst/>
          </a:prstGeom>
          <a:noFill/>
          <a:ln/>
        </p:spPr>
        <p:txBody>
          <a:bodyPr wrap="square" rtlCol="0" anchor="ctr"/>
          <a:lstStyle/>
          <a:p>
            <a:pPr marL="0" indent="0">
              <a:buNone/>
            </a:pPr>
            <a:r>
              <a:rPr lang="en-US" sz="850" i="1" dirty="0">
                <a:solidFill>
                  <a:srgbClr val="C07820"/>
                </a:solidFill>
                <a:latin typeface="Calibri" pitchFamily="34" charset="0"/>
                <a:ea typeface="Calibri" pitchFamily="34" charset="-122"/>
                <a:cs typeface="Calibri" pitchFamily="34" charset="-120"/>
              </a:rPr>
              <a:t>Lead: ___________</a:t>
            </a:r>
            <a:endParaRPr lang="en-US" sz="850" dirty="0"/>
          </a:p>
        </p:txBody>
      </p:sp>
      <p:sp>
        <p:nvSpPr>
          <p:cNvPr id="35" name="Shape 32"/>
          <p:cNvSpPr/>
          <p:nvPr/>
        </p:nvSpPr>
        <p:spPr>
          <a:xfrm>
            <a:off x="7205472" y="1737360"/>
            <a:ext cx="1572768" cy="2944368"/>
          </a:xfrm>
          <a:prstGeom prst="rect">
            <a:avLst/>
          </a:prstGeom>
          <a:solidFill>
            <a:srgbClr val="F8E8F0"/>
          </a:solidFill>
          <a:ln w="19050">
            <a:solidFill>
              <a:srgbClr val="CC0066"/>
            </a:solidFill>
            <a:prstDash val="solid"/>
          </a:ln>
          <a:effectLst>
            <a:outerShdw blurRad="127000" dist="38100" dir="8100000" algn="bl" rotWithShape="0">
              <a:srgbClr val="000000">
                <a:alpha val="18000"/>
              </a:srgbClr>
            </a:outerShdw>
          </a:effectLst>
        </p:spPr>
        <p:txBody>
          <a:bodyPr/>
          <a:lstStyle/>
          <a:p>
            <a:endParaRPr lang="en-US"/>
          </a:p>
        </p:txBody>
      </p:sp>
      <p:sp>
        <p:nvSpPr>
          <p:cNvPr id="36" name="Shape 33"/>
          <p:cNvSpPr/>
          <p:nvPr/>
        </p:nvSpPr>
        <p:spPr>
          <a:xfrm>
            <a:off x="7205472" y="1737360"/>
            <a:ext cx="1572768" cy="64008"/>
          </a:xfrm>
          <a:prstGeom prst="rect">
            <a:avLst/>
          </a:prstGeom>
          <a:solidFill>
            <a:srgbClr val="CC0066"/>
          </a:solidFill>
          <a:ln w="12700">
            <a:solidFill>
              <a:srgbClr val="CC0066"/>
            </a:solidFill>
            <a:prstDash val="solid"/>
          </a:ln>
        </p:spPr>
        <p:txBody>
          <a:bodyPr/>
          <a:lstStyle/>
          <a:p>
            <a:endParaRPr lang="en-US"/>
          </a:p>
        </p:txBody>
      </p:sp>
      <p:sp>
        <p:nvSpPr>
          <p:cNvPr id="37" name="Text 34"/>
          <p:cNvSpPr/>
          <p:nvPr/>
        </p:nvSpPr>
        <p:spPr>
          <a:xfrm>
            <a:off x="720547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8" name="Text 35"/>
          <p:cNvSpPr/>
          <p:nvPr/>
        </p:nvSpPr>
        <p:spPr>
          <a:xfrm>
            <a:off x="7278624" y="2450592"/>
            <a:ext cx="1417320" cy="658368"/>
          </a:xfrm>
          <a:prstGeom prst="rect">
            <a:avLst/>
          </a:prstGeom>
          <a:noFill/>
          <a:ln/>
        </p:spPr>
        <p:txBody>
          <a:bodyPr wrap="square" rtlCol="0" anchor="ctr"/>
          <a:lstStyle/>
          <a:p>
            <a:pPr marL="0" indent="0" algn="ctr">
              <a:buNone/>
            </a:pPr>
            <a:r>
              <a:rPr lang="en-US" sz="1300" b="1" dirty="0">
                <a:solidFill>
                  <a:srgbClr val="CC0066"/>
                </a:solidFill>
                <a:latin typeface="Georgia" pitchFamily="34" charset="0"/>
                <a:ea typeface="Georgia" pitchFamily="34" charset="-122"/>
                <a:cs typeface="Georgia" pitchFamily="34" charset="-120"/>
              </a:rPr>
              <a:t>Comms</a:t>
            </a:r>
            <a:endParaRPr lang="en-US" sz="1300" dirty="0"/>
          </a:p>
          <a:p>
            <a:pPr marL="0" indent="0" algn="ctr">
              <a:buNone/>
            </a:pPr>
            <a:r>
              <a:rPr lang="en-US" sz="1300" b="1" dirty="0">
                <a:solidFill>
                  <a:srgbClr val="CC0066"/>
                </a:solidFill>
                <a:latin typeface="Georgia" pitchFamily="34" charset="0"/>
                <a:ea typeface="Georgia" pitchFamily="34" charset="-122"/>
                <a:cs typeface="Georgia" pitchFamily="34" charset="-120"/>
              </a:rPr>
              <a:t>&amp; Brand</a:t>
            </a:r>
            <a:endParaRPr lang="en-US" sz="1300" dirty="0"/>
          </a:p>
        </p:txBody>
      </p:sp>
      <p:sp>
        <p:nvSpPr>
          <p:cNvPr id="39" name="Text 36"/>
          <p:cNvSpPr/>
          <p:nvPr/>
        </p:nvSpPr>
        <p:spPr>
          <a:xfrm>
            <a:off x="729691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Website, social, logo, foundation name vote</a:t>
            </a:r>
            <a:endParaRPr lang="en-US" sz="1050" dirty="0"/>
          </a:p>
        </p:txBody>
      </p:sp>
      <p:sp>
        <p:nvSpPr>
          <p:cNvPr id="40" name="Shape 37"/>
          <p:cNvSpPr/>
          <p:nvPr/>
        </p:nvSpPr>
        <p:spPr>
          <a:xfrm>
            <a:off x="7296912" y="4443984"/>
            <a:ext cx="1389888" cy="182880"/>
          </a:xfrm>
          <a:prstGeom prst="rect">
            <a:avLst/>
          </a:prstGeom>
          <a:solidFill>
            <a:srgbClr val="CC0066">
              <a:alpha val="20000"/>
            </a:srgbClr>
          </a:solidFill>
          <a:ln w="12700">
            <a:solidFill>
              <a:srgbClr val="CC0066">
                <a:alpha val="40000"/>
              </a:srgbClr>
            </a:solidFill>
            <a:prstDash val="solid"/>
          </a:ln>
        </p:spPr>
        <p:txBody>
          <a:bodyPr/>
          <a:lstStyle/>
          <a:p>
            <a:endParaRPr lang="en-US"/>
          </a:p>
        </p:txBody>
      </p:sp>
      <p:sp>
        <p:nvSpPr>
          <p:cNvPr id="41" name="Text 38"/>
          <p:cNvSpPr/>
          <p:nvPr/>
        </p:nvSpPr>
        <p:spPr>
          <a:xfrm>
            <a:off x="7315200" y="4443984"/>
            <a:ext cx="1353312" cy="182880"/>
          </a:xfrm>
          <a:prstGeom prst="rect">
            <a:avLst/>
          </a:prstGeom>
          <a:noFill/>
          <a:ln/>
        </p:spPr>
        <p:txBody>
          <a:bodyPr wrap="square" rtlCol="0" anchor="ctr"/>
          <a:lstStyle/>
          <a:p>
            <a:pPr marL="0" indent="0">
              <a:buNone/>
            </a:pPr>
            <a:r>
              <a:rPr lang="en-US" sz="850" i="1" dirty="0">
                <a:solidFill>
                  <a:srgbClr val="CC0066"/>
                </a:solidFill>
                <a:latin typeface="Calibri" pitchFamily="34" charset="0"/>
                <a:ea typeface="Calibri" pitchFamily="34" charset="-122"/>
                <a:cs typeface="Calibri" pitchFamily="34" charset="-120"/>
              </a:rPr>
              <a:t>Lead: ___________</a:t>
            </a:r>
            <a:endParaRPr lang="en-US" sz="850" dirty="0"/>
          </a:p>
        </p:txBody>
      </p:sp>
      <p:sp>
        <p:nvSpPr>
          <p:cNvPr id="42" name="Text 39"/>
          <p:cNvSpPr/>
          <p:nvPr/>
        </p:nvSpPr>
        <p:spPr>
          <a:xfrm>
            <a:off x="365760" y="4754880"/>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818"/>
        </a:solidFill>
        <a:effectLst/>
      </p:bgPr>
    </p:bg>
    <p:spTree>
      <p:nvGrpSpPr>
        <p:cNvPr id="1" name="">
          <a:extLst>
            <a:ext uri="{FF2B5EF4-FFF2-40B4-BE49-F238E27FC236}">
              <a16:creationId xmlns:a16="http://schemas.microsoft.com/office/drawing/2014/main" id="{4636F5EE-6F97-391D-5CF4-EE352A5C95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8CB2AC-1238-C28A-D8B8-76103BB0AAEE}"/>
              </a:ext>
            </a:extLst>
          </p:cNvPr>
          <p:cNvSpPr/>
          <p:nvPr/>
        </p:nvSpPr>
        <p:spPr>
          <a:xfrm>
            <a:off x="-1371600" y="-914400"/>
            <a:ext cx="5486400" cy="5486400"/>
          </a:xfrm>
          <a:prstGeom prst="ellipse">
            <a:avLst/>
          </a:prstGeom>
          <a:solidFill>
            <a:srgbClr val="0E9B9B">
              <a:alpha val="8000"/>
            </a:srgbClr>
          </a:solidFill>
          <a:ln w="12700">
            <a:solidFill>
              <a:srgbClr val="0E9B9B">
                <a:alpha val="8000"/>
              </a:srgbClr>
            </a:solidFill>
            <a:prstDash val="solid"/>
          </a:ln>
        </p:spPr>
        <p:txBody>
          <a:bodyPr/>
          <a:lstStyle/>
          <a:p>
            <a:endParaRPr lang="en-US"/>
          </a:p>
        </p:txBody>
      </p:sp>
      <p:sp>
        <p:nvSpPr>
          <p:cNvPr id="3" name="Shape 1">
            <a:extLst>
              <a:ext uri="{FF2B5EF4-FFF2-40B4-BE49-F238E27FC236}">
                <a16:creationId xmlns:a16="http://schemas.microsoft.com/office/drawing/2014/main" id="{20F2B402-3253-B8F2-EE9E-F819A9A1C10A}"/>
              </a:ext>
            </a:extLst>
          </p:cNvPr>
          <p:cNvSpPr/>
          <p:nvPr/>
        </p:nvSpPr>
        <p:spPr>
          <a:xfrm>
            <a:off x="6400800" y="1828800"/>
            <a:ext cx="4572000" cy="4572000"/>
          </a:xfrm>
          <a:prstGeom prst="ellipse">
            <a:avLst/>
          </a:prstGeom>
          <a:solidFill>
            <a:srgbClr val="6B4FA0">
              <a:alpha val="10000"/>
            </a:srgbClr>
          </a:solidFill>
          <a:ln w="12700">
            <a:solidFill>
              <a:srgbClr val="6B4FA0">
                <a:alpha val="10000"/>
              </a:srgbClr>
            </a:solidFill>
            <a:prstDash val="solid"/>
          </a:ln>
        </p:spPr>
        <p:txBody>
          <a:bodyPr/>
          <a:lstStyle/>
          <a:p>
            <a:endParaRPr lang="en-US"/>
          </a:p>
        </p:txBody>
      </p:sp>
      <p:sp>
        <p:nvSpPr>
          <p:cNvPr id="4" name="Shape 2">
            <a:extLst>
              <a:ext uri="{FF2B5EF4-FFF2-40B4-BE49-F238E27FC236}">
                <a16:creationId xmlns:a16="http://schemas.microsoft.com/office/drawing/2014/main" id="{ED0E8FF8-BB80-1CE8-70F2-3FEFD89DCAA4}"/>
              </a:ext>
            </a:extLst>
          </p:cNvPr>
          <p:cNvSpPr/>
          <p:nvPr/>
        </p:nvSpPr>
        <p:spPr>
          <a:xfrm>
            <a:off x="3825240" y="-1805940"/>
            <a:ext cx="3657600" cy="3657600"/>
          </a:xfrm>
          <a:prstGeom prst="ellipse">
            <a:avLst/>
          </a:prstGeom>
          <a:solidFill>
            <a:srgbClr val="CC0066">
              <a:alpha val="6000"/>
            </a:srgbClr>
          </a:solidFill>
          <a:ln w="12700">
            <a:solidFill>
              <a:srgbClr val="CC0066">
                <a:alpha val="6000"/>
              </a:srgbClr>
            </a:solidFill>
            <a:prstDash val="solid"/>
          </a:ln>
        </p:spPr>
        <p:txBody>
          <a:bodyPr/>
          <a:lstStyle/>
          <a:p>
            <a:endParaRPr lang="en-US"/>
          </a:p>
        </p:txBody>
      </p:sp>
      <p:sp>
        <p:nvSpPr>
          <p:cNvPr id="6" name="Text 3">
            <a:extLst>
              <a:ext uri="{FF2B5EF4-FFF2-40B4-BE49-F238E27FC236}">
                <a16:creationId xmlns:a16="http://schemas.microsoft.com/office/drawing/2014/main" id="{A0559891-0EE3-C0E2-59C9-8106106D056E}"/>
              </a:ext>
            </a:extLst>
          </p:cNvPr>
          <p:cNvSpPr/>
          <p:nvPr/>
        </p:nvSpPr>
        <p:spPr>
          <a:xfrm>
            <a:off x="914400" y="450544"/>
            <a:ext cx="7315200" cy="59436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rPr>
              <a:t>M I S </a:t>
            </a:r>
            <a:r>
              <a:rPr lang="en-US" sz="2800" b="1" dirty="0" err="1">
                <a:solidFill>
                  <a:srgbClr val="FFFFFF"/>
                </a:solidFill>
                <a:latin typeface="Georgia" pitchFamily="34" charset="0"/>
              </a:rPr>
              <a:t>S</a:t>
            </a:r>
            <a:r>
              <a:rPr lang="en-US" sz="2800" b="1" dirty="0">
                <a:solidFill>
                  <a:srgbClr val="FFFFFF"/>
                </a:solidFill>
                <a:latin typeface="Georgia" pitchFamily="34" charset="0"/>
              </a:rPr>
              <a:t> I O N </a:t>
            </a:r>
            <a:endParaRPr lang="en-US" sz="2800" dirty="0"/>
          </a:p>
        </p:txBody>
      </p:sp>
      <p:sp>
        <p:nvSpPr>
          <p:cNvPr id="7" name="Text 4">
            <a:extLst>
              <a:ext uri="{FF2B5EF4-FFF2-40B4-BE49-F238E27FC236}">
                <a16:creationId xmlns:a16="http://schemas.microsoft.com/office/drawing/2014/main" id="{B6E66EE3-77F8-A45D-125E-DCB8C915A620}"/>
              </a:ext>
            </a:extLst>
          </p:cNvPr>
          <p:cNvSpPr/>
          <p:nvPr/>
        </p:nvSpPr>
        <p:spPr>
          <a:xfrm>
            <a:off x="914400" y="1493520"/>
            <a:ext cx="7315200" cy="2895600"/>
          </a:xfrm>
          <a:prstGeom prst="rect">
            <a:avLst/>
          </a:prstGeom>
          <a:noFill/>
          <a:ln/>
        </p:spPr>
        <p:txBody>
          <a:bodyPr wrap="square" rtlCol="0" anchor="t"/>
          <a:lstStyle/>
          <a:p>
            <a:br>
              <a:rPr lang="en-US" sz="1100" dirty="0">
                <a:solidFill>
                  <a:schemeClr val="bg1"/>
                </a:solidFill>
              </a:rPr>
            </a:br>
            <a:endParaRPr lang="en-US" sz="1100" dirty="0">
              <a:solidFill>
                <a:schemeClr val="bg1"/>
              </a:solidFill>
            </a:endParaRPr>
          </a:p>
          <a:p>
            <a:pPr algn="ctr"/>
            <a:r>
              <a:rPr lang="en-US" sz="2000" dirty="0">
                <a:solidFill>
                  <a:schemeClr val="bg1"/>
                </a:solidFill>
              </a:rPr>
              <a:t>The SETD5 Foundation exists to drive research from discovery to clinical trials, unite and strengthen the global SETD5 community, and champion awareness and advocacy worldwide. Through strategic research investment, family support, data and registry development, and cross-sector collaboration, we are committed to improving lives today while accelerating the path toward transformative treatments and a cure</a:t>
            </a:r>
          </a:p>
        </p:txBody>
      </p:sp>
      <p:sp>
        <p:nvSpPr>
          <p:cNvPr id="8" name="Text 5">
            <a:extLst>
              <a:ext uri="{FF2B5EF4-FFF2-40B4-BE49-F238E27FC236}">
                <a16:creationId xmlns:a16="http://schemas.microsoft.com/office/drawing/2014/main" id="{D62792F9-A7B5-0E9F-1D45-4F15BBA7456C}"/>
              </a:ext>
            </a:extLst>
          </p:cNvPr>
          <p:cNvSpPr/>
          <p:nvPr/>
        </p:nvSpPr>
        <p:spPr>
          <a:xfrm>
            <a:off x="914400" y="4617720"/>
            <a:ext cx="7315200" cy="320040"/>
          </a:xfrm>
          <a:prstGeom prst="rect">
            <a:avLst/>
          </a:prstGeom>
          <a:noFill/>
          <a:ln/>
        </p:spPr>
        <p:txBody>
          <a:bodyPr wrap="square" rtlCol="0" anchor="ctr"/>
          <a:lstStyle/>
          <a:p>
            <a:pPr marL="0" indent="0" algn="ctr">
              <a:buNone/>
            </a:pPr>
            <a:r>
              <a:rPr lang="en-US" sz="1100" kern="0" spc="300" dirty="0">
                <a:solidFill>
                  <a:srgbClr val="777777"/>
                </a:solidFill>
                <a:latin typeface="Calibri" pitchFamily="34" charset="0"/>
                <a:ea typeface="Calibri" pitchFamily="34" charset="-122"/>
                <a:cs typeface="Calibri" pitchFamily="34" charset="-120"/>
              </a:rPr>
              <a:t>Research  ·  Community  ·  Advocacy</a:t>
            </a:r>
            <a:endParaRPr lang="en-US" sz="1100" dirty="0"/>
          </a:p>
        </p:txBody>
      </p:sp>
      <p:pic>
        <p:nvPicPr>
          <p:cNvPr id="3076" name="Picture 4" descr="eye icon Stock Vector Image &amp; Art ...">
            <a:extLst>
              <a:ext uri="{FF2B5EF4-FFF2-40B4-BE49-F238E27FC236}">
                <a16:creationId xmlns:a16="http://schemas.microsoft.com/office/drawing/2014/main" id="{8A6AD86A-09F1-2B10-818F-495A325F9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45" y="219075"/>
            <a:ext cx="1468756" cy="1100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024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818"/>
        </a:solidFill>
        <a:effectLst/>
      </p:bgPr>
    </p:bg>
    <p:spTree>
      <p:nvGrpSpPr>
        <p:cNvPr id="1" name="">
          <a:extLst>
            <a:ext uri="{FF2B5EF4-FFF2-40B4-BE49-F238E27FC236}">
              <a16:creationId xmlns:a16="http://schemas.microsoft.com/office/drawing/2014/main" id="{20936284-B11F-E964-7845-887D9AF1C5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4806C79-6BAF-9D03-0D76-1ECF4E857634}"/>
              </a:ext>
            </a:extLst>
          </p:cNvPr>
          <p:cNvSpPr/>
          <p:nvPr/>
        </p:nvSpPr>
        <p:spPr>
          <a:xfrm>
            <a:off x="-1371600" y="-914400"/>
            <a:ext cx="5486400" cy="5486400"/>
          </a:xfrm>
          <a:prstGeom prst="ellipse">
            <a:avLst/>
          </a:prstGeom>
          <a:solidFill>
            <a:srgbClr val="0E9B9B">
              <a:alpha val="8000"/>
            </a:srgbClr>
          </a:solidFill>
          <a:ln w="12700">
            <a:solidFill>
              <a:srgbClr val="0E9B9B">
                <a:alpha val="8000"/>
              </a:srgbClr>
            </a:solidFill>
            <a:prstDash val="solid"/>
          </a:ln>
        </p:spPr>
        <p:txBody>
          <a:bodyPr/>
          <a:lstStyle/>
          <a:p>
            <a:endParaRPr lang="en-US"/>
          </a:p>
        </p:txBody>
      </p:sp>
      <p:sp>
        <p:nvSpPr>
          <p:cNvPr id="3" name="Shape 1">
            <a:extLst>
              <a:ext uri="{FF2B5EF4-FFF2-40B4-BE49-F238E27FC236}">
                <a16:creationId xmlns:a16="http://schemas.microsoft.com/office/drawing/2014/main" id="{BAFC3DDA-BEC6-5060-4336-81F5A58EB822}"/>
              </a:ext>
            </a:extLst>
          </p:cNvPr>
          <p:cNvSpPr/>
          <p:nvPr/>
        </p:nvSpPr>
        <p:spPr>
          <a:xfrm>
            <a:off x="6400800" y="1828800"/>
            <a:ext cx="4572000" cy="4572000"/>
          </a:xfrm>
          <a:prstGeom prst="ellipse">
            <a:avLst/>
          </a:prstGeom>
          <a:solidFill>
            <a:srgbClr val="6B4FA0">
              <a:alpha val="10000"/>
            </a:srgbClr>
          </a:solidFill>
          <a:ln w="12700">
            <a:solidFill>
              <a:srgbClr val="6B4FA0">
                <a:alpha val="10000"/>
              </a:srgbClr>
            </a:solidFill>
            <a:prstDash val="solid"/>
          </a:ln>
        </p:spPr>
        <p:txBody>
          <a:bodyPr/>
          <a:lstStyle/>
          <a:p>
            <a:endParaRPr lang="en-US"/>
          </a:p>
        </p:txBody>
      </p:sp>
      <p:sp>
        <p:nvSpPr>
          <p:cNvPr id="4" name="Shape 2">
            <a:extLst>
              <a:ext uri="{FF2B5EF4-FFF2-40B4-BE49-F238E27FC236}">
                <a16:creationId xmlns:a16="http://schemas.microsoft.com/office/drawing/2014/main" id="{5D535026-C845-66A1-62EF-954EE4C3401C}"/>
              </a:ext>
            </a:extLst>
          </p:cNvPr>
          <p:cNvSpPr/>
          <p:nvPr/>
        </p:nvSpPr>
        <p:spPr>
          <a:xfrm>
            <a:off x="3825240" y="-1805940"/>
            <a:ext cx="3657600" cy="3657600"/>
          </a:xfrm>
          <a:prstGeom prst="ellipse">
            <a:avLst/>
          </a:prstGeom>
          <a:solidFill>
            <a:srgbClr val="CC0066">
              <a:alpha val="6000"/>
            </a:srgbClr>
          </a:solidFill>
          <a:ln w="12700">
            <a:solidFill>
              <a:srgbClr val="CC0066">
                <a:alpha val="6000"/>
              </a:srgbClr>
            </a:solidFill>
            <a:prstDash val="solid"/>
          </a:ln>
        </p:spPr>
        <p:txBody>
          <a:bodyPr/>
          <a:lstStyle/>
          <a:p>
            <a:endParaRPr lang="en-US"/>
          </a:p>
        </p:txBody>
      </p:sp>
      <p:sp>
        <p:nvSpPr>
          <p:cNvPr id="6" name="Text 3">
            <a:extLst>
              <a:ext uri="{FF2B5EF4-FFF2-40B4-BE49-F238E27FC236}">
                <a16:creationId xmlns:a16="http://schemas.microsoft.com/office/drawing/2014/main" id="{19E8DF44-EFAA-7C65-0B4C-19AA0D12C4DB}"/>
              </a:ext>
            </a:extLst>
          </p:cNvPr>
          <p:cNvSpPr/>
          <p:nvPr/>
        </p:nvSpPr>
        <p:spPr>
          <a:xfrm>
            <a:off x="914400" y="450544"/>
            <a:ext cx="7315200" cy="59436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rPr>
              <a:t>N A M E </a:t>
            </a:r>
            <a:endParaRPr lang="en-US" sz="2800" dirty="0"/>
          </a:p>
        </p:txBody>
      </p:sp>
      <p:sp>
        <p:nvSpPr>
          <p:cNvPr id="7" name="Text 4">
            <a:extLst>
              <a:ext uri="{FF2B5EF4-FFF2-40B4-BE49-F238E27FC236}">
                <a16:creationId xmlns:a16="http://schemas.microsoft.com/office/drawing/2014/main" id="{69582C32-6C52-AC6E-EEA8-2B97F61FF439}"/>
              </a:ext>
            </a:extLst>
          </p:cNvPr>
          <p:cNvSpPr/>
          <p:nvPr/>
        </p:nvSpPr>
        <p:spPr>
          <a:xfrm>
            <a:off x="914400" y="1493520"/>
            <a:ext cx="7315200" cy="2895600"/>
          </a:xfrm>
          <a:prstGeom prst="rect">
            <a:avLst/>
          </a:prstGeom>
          <a:noFill/>
          <a:ln/>
        </p:spPr>
        <p:txBody>
          <a:bodyPr wrap="square" rtlCol="0" anchor="t"/>
          <a:lstStyle/>
          <a:p>
            <a:br>
              <a:rPr lang="en-US" sz="1100" dirty="0">
                <a:solidFill>
                  <a:schemeClr val="bg1"/>
                </a:solidFill>
              </a:rPr>
            </a:br>
            <a:endParaRPr lang="en-US" sz="1100" dirty="0">
              <a:solidFill>
                <a:schemeClr val="bg1"/>
              </a:solidFill>
            </a:endParaRPr>
          </a:p>
          <a:p>
            <a:pPr algn="ctr"/>
            <a:r>
              <a:rPr lang="en-US" sz="2000" dirty="0">
                <a:solidFill>
                  <a:schemeClr val="bg1"/>
                </a:solidFill>
              </a:rPr>
              <a:t>SETD5 Syndrome Foundation </a:t>
            </a:r>
          </a:p>
          <a:p>
            <a:pPr algn="ctr"/>
            <a:r>
              <a:rPr lang="en-US" sz="2000" dirty="0">
                <a:solidFill>
                  <a:schemeClr val="bg1"/>
                </a:solidFill>
              </a:rPr>
              <a:t>SETD5 Foundation</a:t>
            </a:r>
          </a:p>
          <a:p>
            <a:pPr algn="ctr"/>
            <a:r>
              <a:rPr lang="en-US" sz="2000" dirty="0">
                <a:solidFill>
                  <a:schemeClr val="bg1"/>
                </a:solidFill>
              </a:rPr>
              <a:t>???</a:t>
            </a:r>
          </a:p>
        </p:txBody>
      </p:sp>
      <p:sp>
        <p:nvSpPr>
          <p:cNvPr id="8" name="Text 5">
            <a:extLst>
              <a:ext uri="{FF2B5EF4-FFF2-40B4-BE49-F238E27FC236}">
                <a16:creationId xmlns:a16="http://schemas.microsoft.com/office/drawing/2014/main" id="{470EB40F-3855-1A96-139B-804A50695F3F}"/>
              </a:ext>
            </a:extLst>
          </p:cNvPr>
          <p:cNvSpPr/>
          <p:nvPr/>
        </p:nvSpPr>
        <p:spPr>
          <a:xfrm>
            <a:off x="914400" y="4617720"/>
            <a:ext cx="7315200" cy="320040"/>
          </a:xfrm>
          <a:prstGeom prst="rect">
            <a:avLst/>
          </a:prstGeom>
          <a:noFill/>
          <a:ln/>
        </p:spPr>
        <p:txBody>
          <a:bodyPr wrap="square" rtlCol="0" anchor="ctr"/>
          <a:lstStyle/>
          <a:p>
            <a:pPr marL="0" indent="0" algn="ctr">
              <a:buNone/>
            </a:pPr>
            <a:r>
              <a:rPr lang="en-US" sz="1100" kern="0" spc="300" dirty="0">
                <a:solidFill>
                  <a:srgbClr val="777777"/>
                </a:solidFill>
                <a:latin typeface="Calibri" pitchFamily="34" charset="0"/>
                <a:ea typeface="Calibri" pitchFamily="34" charset="-122"/>
                <a:cs typeface="Calibri" pitchFamily="34" charset="-120"/>
              </a:rPr>
              <a:t>Research  ·  Community  ·  Advocacy</a:t>
            </a:r>
            <a:endParaRPr lang="en-US" sz="1100" dirty="0"/>
          </a:p>
        </p:txBody>
      </p:sp>
      <p:pic>
        <p:nvPicPr>
          <p:cNvPr id="3076" name="Picture 4" descr="eye icon Stock Vector Image &amp; Art ...">
            <a:extLst>
              <a:ext uri="{FF2B5EF4-FFF2-40B4-BE49-F238E27FC236}">
                <a16:creationId xmlns:a16="http://schemas.microsoft.com/office/drawing/2014/main" id="{282AA8D0-B9F3-FA0A-EF2E-CA45C6C503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45" y="219075"/>
            <a:ext cx="1468756" cy="1100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24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DC7FE3-D286-FFBF-40FB-74CDB0312744}"/>
              </a:ext>
            </a:extLst>
          </p:cNvPr>
          <p:cNvSpPr txBox="1"/>
          <p:nvPr/>
        </p:nvSpPr>
        <p:spPr>
          <a:xfrm>
            <a:off x="2286000" y="2387084"/>
            <a:ext cx="4572000" cy="369332"/>
          </a:xfrm>
          <a:prstGeom prst="rect">
            <a:avLst/>
          </a:prstGeom>
          <a:noFill/>
        </p:spPr>
        <p:txBody>
          <a:bodyPr wrap="square">
            <a:spAutoFit/>
          </a:bodyPr>
          <a:lstStyle/>
          <a:p>
            <a:r>
              <a:rPr lang="en-US" b="0" i="0" u="none" strike="noStrike" dirty="0">
                <a:solidFill>
                  <a:srgbClr val="FFFFFF"/>
                </a:solidFill>
                <a:effectLst/>
                <a:latin typeface="YouTube Noto"/>
                <a:hlinkClick r:id="rId3" tooltip="Share link"/>
              </a:rPr>
              <a:t>https://youtu.be/FuvhmiPsXbo</a:t>
            </a:r>
            <a:endParaRPr lang="en-US" dirty="0"/>
          </a:p>
        </p:txBody>
      </p:sp>
      <p:pic>
        <p:nvPicPr>
          <p:cNvPr id="5" name="Picture 4">
            <a:extLst>
              <a:ext uri="{FF2B5EF4-FFF2-40B4-BE49-F238E27FC236}">
                <a16:creationId xmlns:a16="http://schemas.microsoft.com/office/drawing/2014/main" id="{E962A4E3-12D8-273D-636B-11DF44AEAD87}"/>
              </a:ext>
            </a:extLst>
          </p:cNvPr>
          <p:cNvPicPr>
            <a:picLocks noChangeAspect="1"/>
          </p:cNvPicPr>
          <p:nvPr/>
        </p:nvPicPr>
        <p:blipFill>
          <a:blip r:embed="rId4"/>
          <a:stretch>
            <a:fillRect/>
          </a:stretch>
        </p:blipFill>
        <p:spPr>
          <a:xfrm>
            <a:off x="2811780" y="110609"/>
            <a:ext cx="2286000" cy="2276475"/>
          </a:xfrm>
          <a:prstGeom prst="rect">
            <a:avLst/>
          </a:prstGeom>
        </p:spPr>
      </p:pic>
    </p:spTree>
    <p:extLst>
      <p:ext uri="{BB962C8B-B14F-4D97-AF65-F5344CB8AC3E}">
        <p14:creationId xmlns:p14="http://schemas.microsoft.com/office/powerpoint/2010/main" val="700364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9C0368-A13E-471E-94F0-8B3B3953F6CA}"/>
              </a:ext>
            </a:extLst>
          </p:cNvPr>
          <p:cNvPicPr>
            <a:picLocks noChangeAspect="1"/>
          </p:cNvPicPr>
          <p:nvPr/>
        </p:nvPicPr>
        <p:blipFill>
          <a:blip r:embed="rId3"/>
          <a:stretch>
            <a:fillRect/>
          </a:stretch>
        </p:blipFill>
        <p:spPr>
          <a:xfrm>
            <a:off x="316230" y="121920"/>
            <a:ext cx="2034540" cy="2034540"/>
          </a:xfrm>
          <a:prstGeom prst="rect">
            <a:avLst/>
          </a:prstGeom>
        </p:spPr>
      </p:pic>
      <p:pic>
        <p:nvPicPr>
          <p:cNvPr id="1026" name="Picture 2" descr="May be a graphic of ‎text that says '‎IIIII HUND ישב SETD5 SYMBROME FOUNDATION RESEARCH. COMMUNITY. TRANSLATIONAL ADVOCACY‎'‎">
            <a:extLst>
              <a:ext uri="{FF2B5EF4-FFF2-40B4-BE49-F238E27FC236}">
                <a16:creationId xmlns:a16="http://schemas.microsoft.com/office/drawing/2014/main" id="{50AA6167-384A-848D-497B-B4C0A1147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6118" y="311468"/>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y be an image of turtle, owl and great grey owl">
            <a:extLst>
              <a:ext uri="{FF2B5EF4-FFF2-40B4-BE49-F238E27FC236}">
                <a16:creationId xmlns:a16="http://schemas.microsoft.com/office/drawing/2014/main" id="{4AC83E87-F3DD-5DED-480C-93D7441D59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983" y="2454593"/>
            <a:ext cx="3425065" cy="245459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 description available.">
            <a:extLst>
              <a:ext uri="{FF2B5EF4-FFF2-40B4-BE49-F238E27FC236}">
                <a16:creationId xmlns:a16="http://schemas.microsoft.com/office/drawing/2014/main" id="{A67BD693-E2E6-79F4-A918-9FA42A296C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2631" y="1581275"/>
            <a:ext cx="2693544" cy="2693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1303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818"/>
        </a:solidFill>
        <a:effectLst/>
      </p:bgPr>
    </p:bg>
    <p:spTree>
      <p:nvGrpSpPr>
        <p:cNvPr id="1" name="">
          <a:extLst>
            <a:ext uri="{FF2B5EF4-FFF2-40B4-BE49-F238E27FC236}">
              <a16:creationId xmlns:a16="http://schemas.microsoft.com/office/drawing/2014/main" id="{51235767-0F0A-90FA-18BF-73E2175E71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329BD1-7332-C929-69B5-31EAECF08D17}"/>
              </a:ext>
            </a:extLst>
          </p:cNvPr>
          <p:cNvSpPr/>
          <p:nvPr/>
        </p:nvSpPr>
        <p:spPr>
          <a:xfrm>
            <a:off x="-1371600" y="-914400"/>
            <a:ext cx="5486400" cy="5486400"/>
          </a:xfrm>
          <a:prstGeom prst="ellipse">
            <a:avLst/>
          </a:prstGeom>
          <a:solidFill>
            <a:srgbClr val="0E9B9B">
              <a:alpha val="8000"/>
            </a:srgbClr>
          </a:solidFill>
          <a:ln w="12700">
            <a:solidFill>
              <a:srgbClr val="0E9B9B">
                <a:alpha val="8000"/>
              </a:srgbClr>
            </a:solidFill>
            <a:prstDash val="solid"/>
          </a:ln>
        </p:spPr>
        <p:txBody>
          <a:bodyPr/>
          <a:lstStyle/>
          <a:p>
            <a:endParaRPr lang="en-US"/>
          </a:p>
        </p:txBody>
      </p:sp>
      <p:sp>
        <p:nvSpPr>
          <p:cNvPr id="3" name="Shape 1">
            <a:extLst>
              <a:ext uri="{FF2B5EF4-FFF2-40B4-BE49-F238E27FC236}">
                <a16:creationId xmlns:a16="http://schemas.microsoft.com/office/drawing/2014/main" id="{A494C78A-12D5-5C65-5FFB-63EF0F3B1718}"/>
              </a:ext>
            </a:extLst>
          </p:cNvPr>
          <p:cNvSpPr/>
          <p:nvPr/>
        </p:nvSpPr>
        <p:spPr>
          <a:xfrm>
            <a:off x="6400800" y="1828800"/>
            <a:ext cx="4572000" cy="4572000"/>
          </a:xfrm>
          <a:prstGeom prst="ellipse">
            <a:avLst/>
          </a:prstGeom>
          <a:solidFill>
            <a:srgbClr val="6B4FA0">
              <a:alpha val="10000"/>
            </a:srgbClr>
          </a:solidFill>
          <a:ln w="12700">
            <a:solidFill>
              <a:srgbClr val="6B4FA0">
                <a:alpha val="10000"/>
              </a:srgbClr>
            </a:solidFill>
            <a:prstDash val="solid"/>
          </a:ln>
        </p:spPr>
        <p:txBody>
          <a:bodyPr/>
          <a:lstStyle/>
          <a:p>
            <a:endParaRPr lang="en-US"/>
          </a:p>
        </p:txBody>
      </p:sp>
      <p:sp>
        <p:nvSpPr>
          <p:cNvPr id="4" name="Shape 2">
            <a:extLst>
              <a:ext uri="{FF2B5EF4-FFF2-40B4-BE49-F238E27FC236}">
                <a16:creationId xmlns:a16="http://schemas.microsoft.com/office/drawing/2014/main" id="{16DEE72C-6020-4679-97F5-B5CBE6767270}"/>
              </a:ext>
            </a:extLst>
          </p:cNvPr>
          <p:cNvSpPr/>
          <p:nvPr/>
        </p:nvSpPr>
        <p:spPr>
          <a:xfrm>
            <a:off x="3825240" y="-1805940"/>
            <a:ext cx="3657600" cy="3657600"/>
          </a:xfrm>
          <a:prstGeom prst="ellipse">
            <a:avLst/>
          </a:prstGeom>
          <a:solidFill>
            <a:srgbClr val="CC0066">
              <a:alpha val="6000"/>
            </a:srgbClr>
          </a:solidFill>
          <a:ln w="12700">
            <a:solidFill>
              <a:srgbClr val="CC0066">
                <a:alpha val="6000"/>
              </a:srgbClr>
            </a:solidFill>
            <a:prstDash val="solid"/>
          </a:ln>
        </p:spPr>
        <p:txBody>
          <a:bodyPr/>
          <a:lstStyle/>
          <a:p>
            <a:endParaRPr lang="en-US"/>
          </a:p>
        </p:txBody>
      </p:sp>
      <p:sp>
        <p:nvSpPr>
          <p:cNvPr id="6" name="Text 3">
            <a:extLst>
              <a:ext uri="{FF2B5EF4-FFF2-40B4-BE49-F238E27FC236}">
                <a16:creationId xmlns:a16="http://schemas.microsoft.com/office/drawing/2014/main" id="{0918D2EA-6298-DA30-EC6A-C8EC66A874D8}"/>
              </a:ext>
            </a:extLst>
          </p:cNvPr>
          <p:cNvSpPr/>
          <p:nvPr/>
        </p:nvSpPr>
        <p:spPr>
          <a:xfrm>
            <a:off x="914400" y="450544"/>
            <a:ext cx="7315200" cy="59436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rPr>
              <a:t>Initial Board Members</a:t>
            </a:r>
            <a:endParaRPr lang="en-US" sz="2800" dirty="0"/>
          </a:p>
        </p:txBody>
      </p:sp>
      <p:sp>
        <p:nvSpPr>
          <p:cNvPr id="7" name="Text 4">
            <a:extLst>
              <a:ext uri="{FF2B5EF4-FFF2-40B4-BE49-F238E27FC236}">
                <a16:creationId xmlns:a16="http://schemas.microsoft.com/office/drawing/2014/main" id="{C6A2646A-2F00-5A7C-82E6-9E543AFAF430}"/>
              </a:ext>
            </a:extLst>
          </p:cNvPr>
          <p:cNvSpPr/>
          <p:nvPr/>
        </p:nvSpPr>
        <p:spPr>
          <a:xfrm>
            <a:off x="914400" y="1493520"/>
            <a:ext cx="7315200" cy="2895600"/>
          </a:xfrm>
          <a:prstGeom prst="rect">
            <a:avLst/>
          </a:prstGeom>
          <a:noFill/>
          <a:ln/>
        </p:spPr>
        <p:txBody>
          <a:bodyPr wrap="square" rtlCol="0" anchor="t"/>
          <a:lstStyle/>
          <a:p>
            <a:pPr marL="171450" indent="-171450">
              <a:buFont typeface="Arial" panose="020B0604020202020204" pitchFamily="34" charset="0"/>
              <a:buChar char="•"/>
            </a:pPr>
            <a:br>
              <a:rPr lang="en-US" sz="1100" dirty="0">
                <a:solidFill>
                  <a:schemeClr val="bg1"/>
                </a:solidFill>
              </a:rPr>
            </a:br>
            <a:r>
              <a:rPr lang="en-US" sz="1100" dirty="0">
                <a:solidFill>
                  <a:schemeClr val="bg1"/>
                </a:solidFill>
              </a:rPr>
              <a:t>Laura Biazon</a:t>
            </a:r>
          </a:p>
          <a:p>
            <a:pPr marL="171450" indent="-171450">
              <a:buFont typeface="Arial" panose="020B0604020202020204" pitchFamily="34" charset="0"/>
              <a:buChar char="•"/>
            </a:pPr>
            <a:endParaRPr lang="en-US" sz="1100" dirty="0">
              <a:solidFill>
                <a:schemeClr val="bg1"/>
              </a:solidFill>
            </a:endParaRPr>
          </a:p>
          <a:p>
            <a:pPr marL="171450" indent="-171450">
              <a:buFont typeface="Arial" panose="020B0604020202020204" pitchFamily="34" charset="0"/>
              <a:buChar char="•"/>
            </a:pPr>
            <a:r>
              <a:rPr lang="en-US" sz="1100" dirty="0">
                <a:solidFill>
                  <a:schemeClr val="bg1"/>
                </a:solidFill>
              </a:rPr>
              <a:t>Mandy Wittenberg</a:t>
            </a:r>
          </a:p>
          <a:p>
            <a:pPr marL="171450" indent="-171450">
              <a:buFont typeface="Arial" panose="020B0604020202020204" pitchFamily="34" charset="0"/>
              <a:buChar char="•"/>
            </a:pPr>
            <a:endParaRPr lang="en-US" sz="1100" dirty="0">
              <a:solidFill>
                <a:schemeClr val="bg1"/>
              </a:solidFill>
            </a:endParaRPr>
          </a:p>
          <a:p>
            <a:pPr marL="171450" indent="-171450">
              <a:buFont typeface="Arial" panose="020B0604020202020204" pitchFamily="34" charset="0"/>
              <a:buChar char="•"/>
            </a:pPr>
            <a:r>
              <a:rPr lang="en-US" sz="1100" dirty="0">
                <a:solidFill>
                  <a:schemeClr val="bg1"/>
                </a:solidFill>
              </a:rPr>
              <a:t>Jesiree Mendez</a:t>
            </a:r>
          </a:p>
          <a:p>
            <a:pPr marL="171450" indent="-171450">
              <a:buFont typeface="Arial" panose="020B0604020202020204" pitchFamily="34" charset="0"/>
              <a:buChar char="•"/>
            </a:pPr>
            <a:endParaRPr lang="en-US" sz="1100" dirty="0">
              <a:solidFill>
                <a:schemeClr val="bg1"/>
              </a:solidFill>
            </a:endParaRPr>
          </a:p>
          <a:p>
            <a:pPr marL="171450" indent="-171450">
              <a:buFont typeface="Arial" panose="020B0604020202020204" pitchFamily="34" charset="0"/>
              <a:buChar char="•"/>
            </a:pPr>
            <a:r>
              <a:rPr lang="en-US" sz="1100" dirty="0">
                <a:solidFill>
                  <a:schemeClr val="bg1"/>
                </a:solidFill>
              </a:rPr>
              <a:t>Amelia Marie (last name?)</a:t>
            </a:r>
          </a:p>
          <a:p>
            <a:pPr marL="171450" indent="-171450">
              <a:buFont typeface="Arial" panose="020B0604020202020204" pitchFamily="34" charset="0"/>
              <a:buChar char="•"/>
            </a:pPr>
            <a:endParaRPr lang="en-US" sz="1100" dirty="0">
              <a:solidFill>
                <a:schemeClr val="bg1"/>
              </a:solidFill>
            </a:endParaRPr>
          </a:p>
          <a:p>
            <a:pPr marL="171450" indent="-171450">
              <a:buFont typeface="Arial" panose="020B0604020202020204" pitchFamily="34" charset="0"/>
              <a:buChar char="•"/>
            </a:pPr>
            <a:endParaRPr lang="en-US" sz="1100" dirty="0">
              <a:solidFill>
                <a:schemeClr val="bg1"/>
              </a:solidFill>
            </a:endParaRPr>
          </a:p>
        </p:txBody>
      </p:sp>
      <p:sp>
        <p:nvSpPr>
          <p:cNvPr id="8" name="Text 5">
            <a:extLst>
              <a:ext uri="{FF2B5EF4-FFF2-40B4-BE49-F238E27FC236}">
                <a16:creationId xmlns:a16="http://schemas.microsoft.com/office/drawing/2014/main" id="{53D8565F-1466-6169-9932-A195936D14D5}"/>
              </a:ext>
            </a:extLst>
          </p:cNvPr>
          <p:cNvSpPr/>
          <p:nvPr/>
        </p:nvSpPr>
        <p:spPr>
          <a:xfrm>
            <a:off x="914400" y="4617720"/>
            <a:ext cx="7315200" cy="320040"/>
          </a:xfrm>
          <a:prstGeom prst="rect">
            <a:avLst/>
          </a:prstGeom>
          <a:noFill/>
          <a:ln/>
        </p:spPr>
        <p:txBody>
          <a:bodyPr wrap="square" rtlCol="0" anchor="ctr"/>
          <a:lstStyle/>
          <a:p>
            <a:pPr marL="0" indent="0" algn="ctr">
              <a:buNone/>
            </a:pPr>
            <a:r>
              <a:rPr lang="en-US" sz="1100" kern="0" spc="300" dirty="0">
                <a:solidFill>
                  <a:srgbClr val="777777"/>
                </a:solidFill>
                <a:latin typeface="Calibri" pitchFamily="34" charset="0"/>
                <a:ea typeface="Calibri" pitchFamily="34" charset="-122"/>
                <a:cs typeface="Calibri" pitchFamily="34" charset="-120"/>
              </a:rPr>
              <a:t>Research  ·  Community  ·  Advocacy</a:t>
            </a:r>
            <a:endParaRPr lang="en-US" sz="1100" dirty="0"/>
          </a:p>
        </p:txBody>
      </p:sp>
    </p:spTree>
    <p:extLst>
      <p:ext uri="{BB962C8B-B14F-4D97-AF65-F5344CB8AC3E}">
        <p14:creationId xmlns:p14="http://schemas.microsoft.com/office/powerpoint/2010/main" val="3125863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
          <a:extLst>
            <a:ext uri="{FF2B5EF4-FFF2-40B4-BE49-F238E27FC236}">
              <a16:creationId xmlns:a16="http://schemas.microsoft.com/office/drawing/2014/main" id="{749DAC5D-BAC3-FBC9-FB56-B9C9E9C272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BD6E5A-D665-72D8-008C-2889A6631D22}"/>
              </a:ext>
            </a:extLst>
          </p:cNvPr>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a:extLst>
              <a:ext uri="{FF2B5EF4-FFF2-40B4-BE49-F238E27FC236}">
                <a16:creationId xmlns:a16="http://schemas.microsoft.com/office/drawing/2014/main" id="{D37B66F8-3026-00F9-ACB6-640605C83675}"/>
              </a:ext>
            </a:extLst>
          </p:cNvPr>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a:extLst>
              <a:ext uri="{FF2B5EF4-FFF2-40B4-BE49-F238E27FC236}">
                <a16:creationId xmlns:a16="http://schemas.microsoft.com/office/drawing/2014/main" id="{B6BC9A2C-A7D2-7F68-B30A-76D8BD0520B6}"/>
              </a:ext>
            </a:extLst>
          </p:cNvPr>
          <p:cNvSpPr/>
          <p:nvPr/>
        </p:nvSpPr>
        <p:spPr>
          <a:xfrm>
            <a:off x="457200" y="804672"/>
            <a:ext cx="8229600" cy="640080"/>
          </a:xfrm>
          <a:prstGeom prst="rect">
            <a:avLst/>
          </a:prstGeom>
          <a:noFill/>
          <a:ln/>
        </p:spPr>
        <p:txBody>
          <a:bodyPr wrap="square" rtlCol="0" anchor="ctr"/>
          <a:lstStyle/>
          <a:p>
            <a:pPr marL="0" indent="0">
              <a:buNone/>
            </a:pPr>
            <a:r>
              <a:rPr lang="en-US" sz="3400" b="1" dirty="0">
                <a:solidFill>
                  <a:srgbClr val="0C1818"/>
                </a:solidFill>
                <a:latin typeface="Georgia" pitchFamily="34" charset="0"/>
                <a:ea typeface="Georgia" pitchFamily="34" charset="-122"/>
                <a:cs typeface="Georgia" pitchFamily="34" charset="-120"/>
              </a:rPr>
              <a:t>Working Groups — Sign Up Today!</a:t>
            </a:r>
            <a:endParaRPr lang="en-US" sz="3400" dirty="0"/>
          </a:p>
        </p:txBody>
      </p:sp>
      <p:sp>
        <p:nvSpPr>
          <p:cNvPr id="6" name="Text 3">
            <a:extLst>
              <a:ext uri="{FF2B5EF4-FFF2-40B4-BE49-F238E27FC236}">
                <a16:creationId xmlns:a16="http://schemas.microsoft.com/office/drawing/2014/main" id="{D5585030-57BF-65FD-2EDE-14154AD49553}"/>
              </a:ext>
            </a:extLst>
          </p:cNvPr>
          <p:cNvSpPr/>
          <p:nvPr/>
        </p:nvSpPr>
        <p:spPr>
          <a:xfrm>
            <a:off x="457200" y="1371600"/>
            <a:ext cx="8229600" cy="274320"/>
          </a:xfrm>
          <a:prstGeom prst="rect">
            <a:avLst/>
          </a:prstGeom>
          <a:noFill/>
          <a:ln/>
        </p:spPr>
        <p:txBody>
          <a:bodyPr wrap="square" rtlCol="0" anchor="ctr"/>
          <a:lstStyle/>
          <a:p>
            <a:pPr marL="0" indent="0">
              <a:buNone/>
            </a:pPr>
            <a:r>
              <a:rPr lang="en-US" sz="1200" i="1" dirty="0">
                <a:solidFill>
                  <a:srgbClr val="888888"/>
                </a:solidFill>
                <a:latin typeface="Calibri" pitchFamily="34" charset="0"/>
                <a:ea typeface="Calibri" pitchFamily="34" charset="-122"/>
                <a:cs typeface="Calibri" pitchFamily="34" charset="-120"/>
              </a:rPr>
              <a:t>Each group needs a Lead + 2–4 members. Report back in 30 days.</a:t>
            </a:r>
            <a:endParaRPr lang="en-US" sz="1200" dirty="0"/>
          </a:p>
        </p:txBody>
      </p:sp>
      <p:sp>
        <p:nvSpPr>
          <p:cNvPr id="7" name="Shape 4">
            <a:extLst>
              <a:ext uri="{FF2B5EF4-FFF2-40B4-BE49-F238E27FC236}">
                <a16:creationId xmlns:a16="http://schemas.microsoft.com/office/drawing/2014/main" id="{CF82D8CF-5866-2776-9268-21D40E609FDC}"/>
              </a:ext>
            </a:extLst>
          </p:cNvPr>
          <p:cNvSpPr/>
          <p:nvPr/>
        </p:nvSpPr>
        <p:spPr>
          <a:xfrm>
            <a:off x="256032" y="1737360"/>
            <a:ext cx="1572768" cy="2944368"/>
          </a:xfrm>
          <a:prstGeom prst="rect">
            <a:avLst/>
          </a:prstGeom>
          <a:solidFill>
            <a:srgbClr val="E0F6F6"/>
          </a:solidFill>
          <a:ln w="19050">
            <a:solidFill>
              <a:srgbClr val="0E9B9B"/>
            </a:solidFill>
            <a:prstDash val="solid"/>
          </a:ln>
          <a:effectLst>
            <a:outerShdw blurRad="127000" dist="38100" dir="8100000" algn="bl" rotWithShape="0">
              <a:srgbClr val="000000">
                <a:alpha val="18000"/>
              </a:srgbClr>
            </a:outerShdw>
          </a:effectLst>
        </p:spPr>
        <p:txBody>
          <a:bodyPr/>
          <a:lstStyle/>
          <a:p>
            <a:endParaRPr lang="en-US"/>
          </a:p>
        </p:txBody>
      </p:sp>
      <p:sp>
        <p:nvSpPr>
          <p:cNvPr id="8" name="Shape 5">
            <a:extLst>
              <a:ext uri="{FF2B5EF4-FFF2-40B4-BE49-F238E27FC236}">
                <a16:creationId xmlns:a16="http://schemas.microsoft.com/office/drawing/2014/main" id="{DBAA515E-06B9-C493-C5F6-DC3DAA2B7D96}"/>
              </a:ext>
            </a:extLst>
          </p:cNvPr>
          <p:cNvSpPr/>
          <p:nvPr/>
        </p:nvSpPr>
        <p:spPr>
          <a:xfrm>
            <a:off x="256032" y="1737360"/>
            <a:ext cx="1572768" cy="64008"/>
          </a:xfrm>
          <a:prstGeom prst="rect">
            <a:avLst/>
          </a:prstGeom>
          <a:solidFill>
            <a:srgbClr val="0E9B9B"/>
          </a:solidFill>
          <a:ln w="12700">
            <a:solidFill>
              <a:srgbClr val="0E9B9B"/>
            </a:solidFill>
            <a:prstDash val="solid"/>
          </a:ln>
        </p:spPr>
        <p:txBody>
          <a:bodyPr/>
          <a:lstStyle/>
          <a:p>
            <a:endParaRPr lang="en-US"/>
          </a:p>
        </p:txBody>
      </p:sp>
      <p:sp>
        <p:nvSpPr>
          <p:cNvPr id="9" name="Text 6">
            <a:extLst>
              <a:ext uri="{FF2B5EF4-FFF2-40B4-BE49-F238E27FC236}">
                <a16:creationId xmlns:a16="http://schemas.microsoft.com/office/drawing/2014/main" id="{637555D8-EB69-21E5-CA1D-8F70BCFC3E0D}"/>
              </a:ext>
            </a:extLst>
          </p:cNvPr>
          <p:cNvSpPr/>
          <p:nvPr/>
        </p:nvSpPr>
        <p:spPr>
          <a:xfrm>
            <a:off x="25603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7">
            <a:extLst>
              <a:ext uri="{FF2B5EF4-FFF2-40B4-BE49-F238E27FC236}">
                <a16:creationId xmlns:a16="http://schemas.microsoft.com/office/drawing/2014/main" id="{3486FFD3-7C53-FAB2-CA7E-23C96C8140C5}"/>
              </a:ext>
            </a:extLst>
          </p:cNvPr>
          <p:cNvSpPr/>
          <p:nvPr/>
        </p:nvSpPr>
        <p:spPr>
          <a:xfrm>
            <a:off x="329184" y="2450592"/>
            <a:ext cx="1417320" cy="658368"/>
          </a:xfrm>
          <a:prstGeom prst="rect">
            <a:avLst/>
          </a:prstGeom>
          <a:noFill/>
          <a:ln/>
        </p:spPr>
        <p:txBody>
          <a:bodyPr wrap="square" rtlCol="0" anchor="ctr"/>
          <a:lstStyle/>
          <a:p>
            <a:pPr marL="0" indent="0" algn="ctr">
              <a:buNone/>
            </a:pPr>
            <a:r>
              <a:rPr lang="en-US" sz="1300" b="1" dirty="0">
                <a:solidFill>
                  <a:srgbClr val="0E9B9B"/>
                </a:solidFill>
                <a:latin typeface="Georgia" pitchFamily="34" charset="0"/>
                <a:ea typeface="Georgia" pitchFamily="34" charset="-122"/>
                <a:cs typeface="Georgia" pitchFamily="34" charset="-120"/>
              </a:rPr>
              <a:t>Governance</a:t>
            </a:r>
            <a:endParaRPr lang="en-US" sz="1300" dirty="0"/>
          </a:p>
          <a:p>
            <a:pPr marL="0" indent="0" algn="ctr">
              <a:buNone/>
            </a:pPr>
            <a:r>
              <a:rPr lang="en-US" sz="1300" b="1" dirty="0">
                <a:solidFill>
                  <a:srgbClr val="0E9B9B"/>
                </a:solidFill>
                <a:latin typeface="Georgia" pitchFamily="34" charset="0"/>
                <a:ea typeface="Georgia" pitchFamily="34" charset="-122"/>
                <a:cs typeface="Georgia" pitchFamily="34" charset="-120"/>
              </a:rPr>
              <a:t>&amp; Legal</a:t>
            </a:r>
            <a:endParaRPr lang="en-US" sz="1300" dirty="0"/>
          </a:p>
        </p:txBody>
      </p:sp>
      <p:sp>
        <p:nvSpPr>
          <p:cNvPr id="11" name="Text 8">
            <a:extLst>
              <a:ext uri="{FF2B5EF4-FFF2-40B4-BE49-F238E27FC236}">
                <a16:creationId xmlns:a16="http://schemas.microsoft.com/office/drawing/2014/main" id="{4F996DBD-E09E-55F2-522C-CCBD4C79966F}"/>
              </a:ext>
            </a:extLst>
          </p:cNvPr>
          <p:cNvSpPr/>
          <p:nvPr/>
        </p:nvSpPr>
        <p:spPr>
          <a:xfrm>
            <a:off x="34747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Incorporation, bylaws, 501(c)(3), attorney</a:t>
            </a:r>
            <a:endParaRPr lang="en-US" sz="1050" dirty="0"/>
          </a:p>
        </p:txBody>
      </p:sp>
      <p:sp>
        <p:nvSpPr>
          <p:cNvPr id="13" name="Text 10">
            <a:extLst>
              <a:ext uri="{FF2B5EF4-FFF2-40B4-BE49-F238E27FC236}">
                <a16:creationId xmlns:a16="http://schemas.microsoft.com/office/drawing/2014/main" id="{25138299-8370-AC4C-60B5-5E03FC367C92}"/>
              </a:ext>
            </a:extLst>
          </p:cNvPr>
          <p:cNvSpPr/>
          <p:nvPr/>
        </p:nvSpPr>
        <p:spPr>
          <a:xfrm>
            <a:off x="329184" y="4084320"/>
            <a:ext cx="1389888" cy="542544"/>
          </a:xfrm>
          <a:prstGeom prst="rect">
            <a:avLst/>
          </a:prstGeom>
          <a:noFill/>
          <a:ln/>
        </p:spPr>
        <p:txBody>
          <a:bodyPr wrap="square" rtlCol="0" anchor="ctr"/>
          <a:lstStyle/>
          <a:p>
            <a:pPr marL="0" indent="0">
              <a:buNone/>
            </a:pPr>
            <a:r>
              <a:rPr lang="en-US" sz="1400" i="1" dirty="0">
                <a:solidFill>
                  <a:srgbClr val="0E9B9B"/>
                </a:solidFill>
                <a:latin typeface="Calibri" pitchFamily="34" charset="0"/>
                <a:ea typeface="Calibri" pitchFamily="34" charset="-122"/>
                <a:cs typeface="Calibri" pitchFamily="34" charset="-120"/>
              </a:rPr>
              <a:t>Lead: Laura Biazon ?</a:t>
            </a:r>
            <a:endParaRPr lang="en-US" sz="1400" dirty="0"/>
          </a:p>
        </p:txBody>
      </p:sp>
      <p:sp>
        <p:nvSpPr>
          <p:cNvPr id="14" name="Shape 11">
            <a:extLst>
              <a:ext uri="{FF2B5EF4-FFF2-40B4-BE49-F238E27FC236}">
                <a16:creationId xmlns:a16="http://schemas.microsoft.com/office/drawing/2014/main" id="{D6F0A264-3048-3A92-A7FB-19DBA9D27F25}"/>
              </a:ext>
            </a:extLst>
          </p:cNvPr>
          <p:cNvSpPr/>
          <p:nvPr/>
        </p:nvSpPr>
        <p:spPr>
          <a:xfrm>
            <a:off x="1993392" y="1737360"/>
            <a:ext cx="1572768" cy="2944368"/>
          </a:xfrm>
          <a:prstGeom prst="rect">
            <a:avLst/>
          </a:prstGeom>
          <a:solidFill>
            <a:srgbClr val="EEE8F8"/>
          </a:solidFill>
          <a:ln w="19050">
            <a:solidFill>
              <a:srgbClr val="6B4FA0"/>
            </a:solidFill>
            <a:prstDash val="solid"/>
          </a:ln>
          <a:effectLst>
            <a:outerShdw blurRad="127000" dist="38100" dir="8100000" algn="bl" rotWithShape="0">
              <a:srgbClr val="000000">
                <a:alpha val="18000"/>
              </a:srgbClr>
            </a:outerShdw>
          </a:effectLst>
        </p:spPr>
        <p:txBody>
          <a:bodyPr/>
          <a:lstStyle/>
          <a:p>
            <a:endParaRPr lang="en-US"/>
          </a:p>
        </p:txBody>
      </p:sp>
      <p:sp>
        <p:nvSpPr>
          <p:cNvPr id="15" name="Shape 12">
            <a:extLst>
              <a:ext uri="{FF2B5EF4-FFF2-40B4-BE49-F238E27FC236}">
                <a16:creationId xmlns:a16="http://schemas.microsoft.com/office/drawing/2014/main" id="{6ED579A2-F280-7BAB-3F4B-8B3960924E29}"/>
              </a:ext>
            </a:extLst>
          </p:cNvPr>
          <p:cNvSpPr/>
          <p:nvPr/>
        </p:nvSpPr>
        <p:spPr>
          <a:xfrm>
            <a:off x="1993392" y="1737360"/>
            <a:ext cx="1572768" cy="64008"/>
          </a:xfrm>
          <a:prstGeom prst="rect">
            <a:avLst/>
          </a:prstGeom>
          <a:solidFill>
            <a:srgbClr val="6B4FA0"/>
          </a:solidFill>
          <a:ln w="12700">
            <a:solidFill>
              <a:srgbClr val="6B4FA0"/>
            </a:solidFill>
            <a:prstDash val="solid"/>
          </a:ln>
        </p:spPr>
        <p:txBody>
          <a:bodyPr/>
          <a:lstStyle/>
          <a:p>
            <a:endParaRPr lang="en-US"/>
          </a:p>
        </p:txBody>
      </p:sp>
      <p:sp>
        <p:nvSpPr>
          <p:cNvPr id="16" name="Text 13">
            <a:extLst>
              <a:ext uri="{FF2B5EF4-FFF2-40B4-BE49-F238E27FC236}">
                <a16:creationId xmlns:a16="http://schemas.microsoft.com/office/drawing/2014/main" id="{D6E987CC-D8DC-FAA5-3DA0-743C2E4B8A20}"/>
              </a:ext>
            </a:extLst>
          </p:cNvPr>
          <p:cNvSpPr/>
          <p:nvPr/>
        </p:nvSpPr>
        <p:spPr>
          <a:xfrm>
            <a:off x="199339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7" name="Text 14">
            <a:extLst>
              <a:ext uri="{FF2B5EF4-FFF2-40B4-BE49-F238E27FC236}">
                <a16:creationId xmlns:a16="http://schemas.microsoft.com/office/drawing/2014/main" id="{7A59C2EF-0B9B-5D2F-F366-F90756DD921C}"/>
              </a:ext>
            </a:extLst>
          </p:cNvPr>
          <p:cNvSpPr/>
          <p:nvPr/>
        </p:nvSpPr>
        <p:spPr>
          <a:xfrm>
            <a:off x="2066544" y="2450592"/>
            <a:ext cx="1417320" cy="658368"/>
          </a:xfrm>
          <a:prstGeom prst="rect">
            <a:avLst/>
          </a:prstGeom>
          <a:noFill/>
          <a:ln/>
        </p:spPr>
        <p:txBody>
          <a:bodyPr wrap="square" rtlCol="0" anchor="ctr"/>
          <a:lstStyle/>
          <a:p>
            <a:pPr marL="0" indent="0" algn="ctr">
              <a:buNone/>
            </a:pPr>
            <a:r>
              <a:rPr lang="en-US" sz="1300" b="1" dirty="0">
                <a:solidFill>
                  <a:srgbClr val="6B4FA0"/>
                </a:solidFill>
                <a:latin typeface="Georgia" pitchFamily="34" charset="0"/>
                <a:ea typeface="Georgia" pitchFamily="34" charset="-122"/>
                <a:cs typeface="Georgia" pitchFamily="34" charset="-120"/>
              </a:rPr>
              <a:t>Medical &amp;</a:t>
            </a:r>
            <a:endParaRPr lang="en-US" sz="1300" dirty="0"/>
          </a:p>
          <a:p>
            <a:pPr marL="0" indent="0" algn="ctr">
              <a:buNone/>
            </a:pPr>
            <a:r>
              <a:rPr lang="en-US" sz="1300" b="1" dirty="0">
                <a:solidFill>
                  <a:srgbClr val="6B4FA0"/>
                </a:solidFill>
                <a:latin typeface="Georgia" pitchFamily="34" charset="0"/>
                <a:ea typeface="Georgia" pitchFamily="34" charset="-122"/>
                <a:cs typeface="Georgia" pitchFamily="34" charset="-120"/>
              </a:rPr>
              <a:t>Scientific</a:t>
            </a:r>
            <a:endParaRPr lang="en-US" sz="1300" dirty="0"/>
          </a:p>
        </p:txBody>
      </p:sp>
      <p:sp>
        <p:nvSpPr>
          <p:cNvPr id="18" name="Text 15">
            <a:extLst>
              <a:ext uri="{FF2B5EF4-FFF2-40B4-BE49-F238E27FC236}">
                <a16:creationId xmlns:a16="http://schemas.microsoft.com/office/drawing/2014/main" id="{17454B49-F1C1-BB3F-8DBB-82AD64B77DC9}"/>
              </a:ext>
            </a:extLst>
          </p:cNvPr>
          <p:cNvSpPr/>
          <p:nvPr/>
        </p:nvSpPr>
        <p:spPr>
          <a:xfrm>
            <a:off x="208483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Recruit SAB, researcher relationships, registry</a:t>
            </a:r>
            <a:endParaRPr lang="en-US" sz="1050" dirty="0"/>
          </a:p>
        </p:txBody>
      </p:sp>
      <p:sp>
        <p:nvSpPr>
          <p:cNvPr id="20" name="Text 17">
            <a:extLst>
              <a:ext uri="{FF2B5EF4-FFF2-40B4-BE49-F238E27FC236}">
                <a16:creationId xmlns:a16="http://schemas.microsoft.com/office/drawing/2014/main" id="{B088464D-8333-B5EC-BAEE-549372E97304}"/>
              </a:ext>
            </a:extLst>
          </p:cNvPr>
          <p:cNvSpPr/>
          <p:nvPr/>
        </p:nvSpPr>
        <p:spPr>
          <a:xfrm>
            <a:off x="2103120" y="3878580"/>
            <a:ext cx="1353312" cy="748284"/>
          </a:xfrm>
          <a:prstGeom prst="rect">
            <a:avLst/>
          </a:prstGeom>
          <a:noFill/>
          <a:ln/>
        </p:spPr>
        <p:txBody>
          <a:bodyPr wrap="square" rtlCol="0" anchor="ctr"/>
          <a:lstStyle/>
          <a:p>
            <a:pPr marL="0" indent="0">
              <a:buNone/>
            </a:pPr>
            <a:r>
              <a:rPr lang="en-US" sz="1400" i="1" dirty="0">
                <a:solidFill>
                  <a:srgbClr val="6B4FA0"/>
                </a:solidFill>
                <a:latin typeface="Calibri" pitchFamily="34" charset="0"/>
                <a:ea typeface="Calibri" pitchFamily="34" charset="-122"/>
                <a:cs typeface="Calibri" pitchFamily="34" charset="-120"/>
              </a:rPr>
              <a:t>Lead: Laura Biazon ?</a:t>
            </a:r>
            <a:endParaRPr lang="en-US" sz="1400" dirty="0"/>
          </a:p>
        </p:txBody>
      </p:sp>
      <p:sp>
        <p:nvSpPr>
          <p:cNvPr id="21" name="Shape 18">
            <a:extLst>
              <a:ext uri="{FF2B5EF4-FFF2-40B4-BE49-F238E27FC236}">
                <a16:creationId xmlns:a16="http://schemas.microsoft.com/office/drawing/2014/main" id="{3C298FAF-CBB5-763E-A9EA-73ADEF3751B9}"/>
              </a:ext>
            </a:extLst>
          </p:cNvPr>
          <p:cNvSpPr/>
          <p:nvPr/>
        </p:nvSpPr>
        <p:spPr>
          <a:xfrm>
            <a:off x="3730752" y="1737360"/>
            <a:ext cx="1572768" cy="2944368"/>
          </a:xfrm>
          <a:prstGeom prst="rect">
            <a:avLst/>
          </a:prstGeom>
          <a:solidFill>
            <a:srgbClr val="E8F4FC"/>
          </a:solidFill>
          <a:ln w="19050">
            <a:solidFill>
              <a:srgbClr val="1E88C0"/>
            </a:solidFill>
            <a:prstDash val="solid"/>
          </a:ln>
          <a:effectLst>
            <a:outerShdw blurRad="127000" dist="38100" dir="8100000" algn="bl" rotWithShape="0">
              <a:srgbClr val="000000">
                <a:alpha val="18000"/>
              </a:srgbClr>
            </a:outerShdw>
          </a:effectLst>
        </p:spPr>
        <p:txBody>
          <a:bodyPr/>
          <a:lstStyle/>
          <a:p>
            <a:endParaRPr lang="en-US"/>
          </a:p>
        </p:txBody>
      </p:sp>
      <p:sp>
        <p:nvSpPr>
          <p:cNvPr id="22" name="Shape 19">
            <a:extLst>
              <a:ext uri="{FF2B5EF4-FFF2-40B4-BE49-F238E27FC236}">
                <a16:creationId xmlns:a16="http://schemas.microsoft.com/office/drawing/2014/main" id="{5B8E4972-DD43-6AFF-CD73-EA9E976FF5A4}"/>
              </a:ext>
            </a:extLst>
          </p:cNvPr>
          <p:cNvSpPr/>
          <p:nvPr/>
        </p:nvSpPr>
        <p:spPr>
          <a:xfrm>
            <a:off x="3730752" y="1737360"/>
            <a:ext cx="1572768" cy="64008"/>
          </a:xfrm>
          <a:prstGeom prst="rect">
            <a:avLst/>
          </a:prstGeom>
          <a:solidFill>
            <a:srgbClr val="1E88C0"/>
          </a:solidFill>
          <a:ln w="12700">
            <a:solidFill>
              <a:srgbClr val="1E88C0"/>
            </a:solidFill>
            <a:prstDash val="solid"/>
          </a:ln>
        </p:spPr>
        <p:txBody>
          <a:bodyPr/>
          <a:lstStyle/>
          <a:p>
            <a:endParaRPr lang="en-US"/>
          </a:p>
        </p:txBody>
      </p:sp>
      <p:sp>
        <p:nvSpPr>
          <p:cNvPr id="23" name="Text 20">
            <a:extLst>
              <a:ext uri="{FF2B5EF4-FFF2-40B4-BE49-F238E27FC236}">
                <a16:creationId xmlns:a16="http://schemas.microsoft.com/office/drawing/2014/main" id="{38A246CD-5754-E2CB-352B-A1F2051E6BEF}"/>
              </a:ext>
            </a:extLst>
          </p:cNvPr>
          <p:cNvSpPr/>
          <p:nvPr/>
        </p:nvSpPr>
        <p:spPr>
          <a:xfrm>
            <a:off x="373075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4" name="Text 21">
            <a:extLst>
              <a:ext uri="{FF2B5EF4-FFF2-40B4-BE49-F238E27FC236}">
                <a16:creationId xmlns:a16="http://schemas.microsoft.com/office/drawing/2014/main" id="{371968A0-DFDD-6F3A-0E8C-DEA487FD152E}"/>
              </a:ext>
            </a:extLst>
          </p:cNvPr>
          <p:cNvSpPr/>
          <p:nvPr/>
        </p:nvSpPr>
        <p:spPr>
          <a:xfrm>
            <a:off x="3803904" y="2450592"/>
            <a:ext cx="1417320" cy="658368"/>
          </a:xfrm>
          <a:prstGeom prst="rect">
            <a:avLst/>
          </a:prstGeom>
          <a:noFill/>
          <a:ln/>
        </p:spPr>
        <p:txBody>
          <a:bodyPr wrap="square" rtlCol="0" anchor="ctr"/>
          <a:lstStyle/>
          <a:p>
            <a:pPr marL="0" indent="0" algn="ctr">
              <a:buNone/>
            </a:pPr>
            <a:r>
              <a:rPr lang="en-US" sz="1300" b="1" dirty="0">
                <a:solidFill>
                  <a:srgbClr val="1E88C0"/>
                </a:solidFill>
                <a:latin typeface="Georgia" pitchFamily="34" charset="0"/>
                <a:ea typeface="Georgia" pitchFamily="34" charset="-122"/>
                <a:cs typeface="Georgia" pitchFamily="34" charset="-120"/>
              </a:rPr>
              <a:t>Community</a:t>
            </a:r>
            <a:endParaRPr lang="en-US" sz="1300" dirty="0"/>
          </a:p>
          <a:p>
            <a:pPr marL="0" indent="0" algn="ctr">
              <a:buNone/>
            </a:pPr>
            <a:r>
              <a:rPr lang="en-US" sz="1300" b="1" dirty="0">
                <a:solidFill>
                  <a:srgbClr val="1E88C0"/>
                </a:solidFill>
                <a:latin typeface="Georgia" pitchFamily="34" charset="0"/>
                <a:ea typeface="Georgia" pitchFamily="34" charset="-122"/>
                <a:cs typeface="Georgia" pitchFamily="34" charset="-120"/>
              </a:rPr>
              <a:t>Support</a:t>
            </a:r>
            <a:endParaRPr lang="en-US" sz="1300" dirty="0"/>
          </a:p>
        </p:txBody>
      </p:sp>
      <p:sp>
        <p:nvSpPr>
          <p:cNvPr id="25" name="Text 22">
            <a:extLst>
              <a:ext uri="{FF2B5EF4-FFF2-40B4-BE49-F238E27FC236}">
                <a16:creationId xmlns:a16="http://schemas.microsoft.com/office/drawing/2014/main" id="{4F7DCD12-D099-78F3-1C7D-3448D3B74F2A}"/>
              </a:ext>
            </a:extLst>
          </p:cNvPr>
          <p:cNvSpPr/>
          <p:nvPr/>
        </p:nvSpPr>
        <p:spPr>
          <a:xfrm>
            <a:off x="382219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Family resources, peer support, online community</a:t>
            </a:r>
            <a:endParaRPr lang="en-US" sz="1050" dirty="0"/>
          </a:p>
        </p:txBody>
      </p:sp>
      <p:sp>
        <p:nvSpPr>
          <p:cNvPr id="26" name="Shape 23">
            <a:extLst>
              <a:ext uri="{FF2B5EF4-FFF2-40B4-BE49-F238E27FC236}">
                <a16:creationId xmlns:a16="http://schemas.microsoft.com/office/drawing/2014/main" id="{443355FC-58BB-4294-274F-060BB67B1AC3}"/>
              </a:ext>
            </a:extLst>
          </p:cNvPr>
          <p:cNvSpPr/>
          <p:nvPr/>
        </p:nvSpPr>
        <p:spPr>
          <a:xfrm>
            <a:off x="3822192" y="4443984"/>
            <a:ext cx="1389888" cy="182880"/>
          </a:xfrm>
          <a:prstGeom prst="rect">
            <a:avLst/>
          </a:prstGeom>
          <a:solidFill>
            <a:srgbClr val="1E88C0">
              <a:alpha val="20000"/>
            </a:srgbClr>
          </a:solidFill>
          <a:ln w="12700">
            <a:solidFill>
              <a:srgbClr val="1E88C0">
                <a:alpha val="40000"/>
              </a:srgbClr>
            </a:solidFill>
            <a:prstDash val="solid"/>
          </a:ln>
        </p:spPr>
        <p:txBody>
          <a:bodyPr/>
          <a:lstStyle/>
          <a:p>
            <a:endParaRPr lang="en-US"/>
          </a:p>
        </p:txBody>
      </p:sp>
      <p:sp>
        <p:nvSpPr>
          <p:cNvPr id="27" name="Text 24">
            <a:extLst>
              <a:ext uri="{FF2B5EF4-FFF2-40B4-BE49-F238E27FC236}">
                <a16:creationId xmlns:a16="http://schemas.microsoft.com/office/drawing/2014/main" id="{A4E1032E-74D6-DC5D-7484-406670FD5E9D}"/>
              </a:ext>
            </a:extLst>
          </p:cNvPr>
          <p:cNvSpPr/>
          <p:nvPr/>
        </p:nvSpPr>
        <p:spPr>
          <a:xfrm>
            <a:off x="3840480" y="4443984"/>
            <a:ext cx="1353312" cy="182880"/>
          </a:xfrm>
          <a:prstGeom prst="rect">
            <a:avLst/>
          </a:prstGeom>
          <a:noFill/>
          <a:ln/>
        </p:spPr>
        <p:txBody>
          <a:bodyPr wrap="square" rtlCol="0" anchor="ctr"/>
          <a:lstStyle/>
          <a:p>
            <a:pPr marL="0" indent="0">
              <a:buNone/>
            </a:pPr>
            <a:r>
              <a:rPr lang="en-US" sz="850" i="1" dirty="0">
                <a:solidFill>
                  <a:srgbClr val="1E88C0"/>
                </a:solidFill>
                <a:latin typeface="Calibri" pitchFamily="34" charset="0"/>
                <a:ea typeface="Calibri" pitchFamily="34" charset="-122"/>
                <a:cs typeface="Calibri" pitchFamily="34" charset="-120"/>
              </a:rPr>
              <a:t>Lead: ___________</a:t>
            </a:r>
            <a:endParaRPr lang="en-US" sz="850" dirty="0"/>
          </a:p>
        </p:txBody>
      </p:sp>
      <p:sp>
        <p:nvSpPr>
          <p:cNvPr id="28" name="Shape 25">
            <a:extLst>
              <a:ext uri="{FF2B5EF4-FFF2-40B4-BE49-F238E27FC236}">
                <a16:creationId xmlns:a16="http://schemas.microsoft.com/office/drawing/2014/main" id="{370371E3-04CA-6A11-B09D-D74877933C32}"/>
              </a:ext>
            </a:extLst>
          </p:cNvPr>
          <p:cNvSpPr/>
          <p:nvPr/>
        </p:nvSpPr>
        <p:spPr>
          <a:xfrm>
            <a:off x="5468112" y="1737360"/>
            <a:ext cx="1572768" cy="2944368"/>
          </a:xfrm>
          <a:prstGeom prst="rect">
            <a:avLst/>
          </a:prstGeom>
          <a:solidFill>
            <a:srgbClr val="FCF4E0"/>
          </a:solidFill>
          <a:ln w="19050">
            <a:solidFill>
              <a:srgbClr val="C07820"/>
            </a:solidFill>
            <a:prstDash val="solid"/>
          </a:ln>
          <a:effectLst>
            <a:outerShdw blurRad="127000" dist="38100" dir="8100000" algn="bl" rotWithShape="0">
              <a:srgbClr val="000000">
                <a:alpha val="18000"/>
              </a:srgbClr>
            </a:outerShdw>
          </a:effectLst>
        </p:spPr>
        <p:txBody>
          <a:bodyPr/>
          <a:lstStyle/>
          <a:p>
            <a:endParaRPr lang="en-US"/>
          </a:p>
        </p:txBody>
      </p:sp>
      <p:sp>
        <p:nvSpPr>
          <p:cNvPr id="29" name="Shape 26">
            <a:extLst>
              <a:ext uri="{FF2B5EF4-FFF2-40B4-BE49-F238E27FC236}">
                <a16:creationId xmlns:a16="http://schemas.microsoft.com/office/drawing/2014/main" id="{C655ED82-43A4-F7FB-4327-9E56437E3E42}"/>
              </a:ext>
            </a:extLst>
          </p:cNvPr>
          <p:cNvSpPr/>
          <p:nvPr/>
        </p:nvSpPr>
        <p:spPr>
          <a:xfrm>
            <a:off x="5468112" y="1737360"/>
            <a:ext cx="1572768" cy="64008"/>
          </a:xfrm>
          <a:prstGeom prst="rect">
            <a:avLst/>
          </a:prstGeom>
          <a:solidFill>
            <a:srgbClr val="C07820"/>
          </a:solidFill>
          <a:ln w="12700">
            <a:solidFill>
              <a:srgbClr val="C07820"/>
            </a:solidFill>
            <a:prstDash val="solid"/>
          </a:ln>
        </p:spPr>
        <p:txBody>
          <a:bodyPr/>
          <a:lstStyle/>
          <a:p>
            <a:endParaRPr lang="en-US"/>
          </a:p>
        </p:txBody>
      </p:sp>
      <p:sp>
        <p:nvSpPr>
          <p:cNvPr id="30" name="Text 27">
            <a:extLst>
              <a:ext uri="{FF2B5EF4-FFF2-40B4-BE49-F238E27FC236}">
                <a16:creationId xmlns:a16="http://schemas.microsoft.com/office/drawing/2014/main" id="{7874FE14-D1BE-5E1B-AB6C-8CE0A2D32931}"/>
              </a:ext>
            </a:extLst>
          </p:cNvPr>
          <p:cNvSpPr/>
          <p:nvPr/>
        </p:nvSpPr>
        <p:spPr>
          <a:xfrm>
            <a:off x="546811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1" name="Text 28">
            <a:extLst>
              <a:ext uri="{FF2B5EF4-FFF2-40B4-BE49-F238E27FC236}">
                <a16:creationId xmlns:a16="http://schemas.microsoft.com/office/drawing/2014/main" id="{CEBFC711-0D91-0063-6D4D-ACF94DF5A767}"/>
              </a:ext>
            </a:extLst>
          </p:cNvPr>
          <p:cNvSpPr/>
          <p:nvPr/>
        </p:nvSpPr>
        <p:spPr>
          <a:xfrm>
            <a:off x="5541264" y="2450592"/>
            <a:ext cx="1417320" cy="658368"/>
          </a:xfrm>
          <a:prstGeom prst="rect">
            <a:avLst/>
          </a:prstGeom>
          <a:noFill/>
          <a:ln/>
        </p:spPr>
        <p:txBody>
          <a:bodyPr wrap="square" rtlCol="0" anchor="ctr"/>
          <a:lstStyle/>
          <a:p>
            <a:pPr marL="0" indent="0" algn="ctr">
              <a:buNone/>
            </a:pPr>
            <a:r>
              <a:rPr lang="en-US" sz="1300" b="1" dirty="0">
                <a:solidFill>
                  <a:srgbClr val="C07820"/>
                </a:solidFill>
                <a:latin typeface="Georgia" pitchFamily="34" charset="0"/>
                <a:ea typeface="Georgia" pitchFamily="34" charset="-122"/>
                <a:cs typeface="Georgia" pitchFamily="34" charset="-120"/>
              </a:rPr>
              <a:t>Fundraising</a:t>
            </a:r>
            <a:endParaRPr lang="en-US" sz="1300" dirty="0"/>
          </a:p>
          <a:p>
            <a:pPr marL="0" indent="0" algn="ctr">
              <a:buNone/>
            </a:pPr>
            <a:r>
              <a:rPr lang="en-US" sz="1300" b="1" dirty="0">
                <a:solidFill>
                  <a:srgbClr val="C07820"/>
                </a:solidFill>
                <a:latin typeface="Georgia" pitchFamily="34" charset="0"/>
                <a:ea typeface="Georgia" pitchFamily="34" charset="-122"/>
                <a:cs typeface="Georgia" pitchFamily="34" charset="-120"/>
              </a:rPr>
              <a:t>&amp; Finance</a:t>
            </a:r>
            <a:endParaRPr lang="en-US" sz="1300" dirty="0"/>
          </a:p>
        </p:txBody>
      </p:sp>
      <p:sp>
        <p:nvSpPr>
          <p:cNvPr id="32" name="Text 29">
            <a:extLst>
              <a:ext uri="{FF2B5EF4-FFF2-40B4-BE49-F238E27FC236}">
                <a16:creationId xmlns:a16="http://schemas.microsoft.com/office/drawing/2014/main" id="{E9DE574D-5819-AE9D-03F1-FABC0F906B85}"/>
              </a:ext>
            </a:extLst>
          </p:cNvPr>
          <p:cNvSpPr/>
          <p:nvPr/>
        </p:nvSpPr>
        <p:spPr>
          <a:xfrm>
            <a:off x="555955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Fundraising strategy, grants, donor database</a:t>
            </a:r>
            <a:endParaRPr lang="en-US" sz="1050" dirty="0"/>
          </a:p>
        </p:txBody>
      </p:sp>
      <p:sp>
        <p:nvSpPr>
          <p:cNvPr id="33" name="Shape 30">
            <a:extLst>
              <a:ext uri="{FF2B5EF4-FFF2-40B4-BE49-F238E27FC236}">
                <a16:creationId xmlns:a16="http://schemas.microsoft.com/office/drawing/2014/main" id="{74C9E621-3675-0CDC-5D6C-03873B91B663}"/>
              </a:ext>
            </a:extLst>
          </p:cNvPr>
          <p:cNvSpPr/>
          <p:nvPr/>
        </p:nvSpPr>
        <p:spPr>
          <a:xfrm>
            <a:off x="5559552" y="4443984"/>
            <a:ext cx="1389888" cy="182880"/>
          </a:xfrm>
          <a:prstGeom prst="rect">
            <a:avLst/>
          </a:prstGeom>
          <a:solidFill>
            <a:srgbClr val="C07820">
              <a:alpha val="20000"/>
            </a:srgbClr>
          </a:solidFill>
          <a:ln w="12700">
            <a:solidFill>
              <a:srgbClr val="C07820">
                <a:alpha val="40000"/>
              </a:srgbClr>
            </a:solidFill>
            <a:prstDash val="solid"/>
          </a:ln>
        </p:spPr>
        <p:txBody>
          <a:bodyPr/>
          <a:lstStyle/>
          <a:p>
            <a:endParaRPr lang="en-US"/>
          </a:p>
        </p:txBody>
      </p:sp>
      <p:sp>
        <p:nvSpPr>
          <p:cNvPr id="34" name="Text 31">
            <a:extLst>
              <a:ext uri="{FF2B5EF4-FFF2-40B4-BE49-F238E27FC236}">
                <a16:creationId xmlns:a16="http://schemas.microsoft.com/office/drawing/2014/main" id="{96260627-4176-428E-D60D-485399F5729C}"/>
              </a:ext>
            </a:extLst>
          </p:cNvPr>
          <p:cNvSpPr/>
          <p:nvPr/>
        </p:nvSpPr>
        <p:spPr>
          <a:xfrm>
            <a:off x="5577840" y="4443984"/>
            <a:ext cx="1353312" cy="182880"/>
          </a:xfrm>
          <a:prstGeom prst="rect">
            <a:avLst/>
          </a:prstGeom>
          <a:noFill/>
          <a:ln/>
        </p:spPr>
        <p:txBody>
          <a:bodyPr wrap="square" rtlCol="0" anchor="ctr"/>
          <a:lstStyle/>
          <a:p>
            <a:pPr marL="0" indent="0">
              <a:buNone/>
            </a:pPr>
            <a:r>
              <a:rPr lang="en-US" sz="850" i="1" dirty="0">
                <a:solidFill>
                  <a:srgbClr val="C07820"/>
                </a:solidFill>
                <a:latin typeface="Calibri" pitchFamily="34" charset="0"/>
                <a:ea typeface="Calibri" pitchFamily="34" charset="-122"/>
                <a:cs typeface="Calibri" pitchFamily="34" charset="-120"/>
              </a:rPr>
              <a:t>Lead: ___________</a:t>
            </a:r>
            <a:endParaRPr lang="en-US" sz="850" dirty="0"/>
          </a:p>
        </p:txBody>
      </p:sp>
      <p:sp>
        <p:nvSpPr>
          <p:cNvPr id="35" name="Shape 32">
            <a:extLst>
              <a:ext uri="{FF2B5EF4-FFF2-40B4-BE49-F238E27FC236}">
                <a16:creationId xmlns:a16="http://schemas.microsoft.com/office/drawing/2014/main" id="{2F307F34-8467-0ACE-C8F7-74FAAF85E490}"/>
              </a:ext>
            </a:extLst>
          </p:cNvPr>
          <p:cNvSpPr/>
          <p:nvPr/>
        </p:nvSpPr>
        <p:spPr>
          <a:xfrm>
            <a:off x="7205472" y="1737360"/>
            <a:ext cx="1572768" cy="2944368"/>
          </a:xfrm>
          <a:prstGeom prst="rect">
            <a:avLst/>
          </a:prstGeom>
          <a:solidFill>
            <a:srgbClr val="F8E8F0"/>
          </a:solidFill>
          <a:ln w="19050">
            <a:solidFill>
              <a:srgbClr val="CC0066"/>
            </a:solidFill>
            <a:prstDash val="solid"/>
          </a:ln>
          <a:effectLst>
            <a:outerShdw blurRad="127000" dist="38100" dir="8100000" algn="bl" rotWithShape="0">
              <a:srgbClr val="000000">
                <a:alpha val="18000"/>
              </a:srgbClr>
            </a:outerShdw>
          </a:effectLst>
        </p:spPr>
        <p:txBody>
          <a:bodyPr/>
          <a:lstStyle/>
          <a:p>
            <a:endParaRPr lang="en-US"/>
          </a:p>
        </p:txBody>
      </p:sp>
      <p:sp>
        <p:nvSpPr>
          <p:cNvPr id="36" name="Shape 33">
            <a:extLst>
              <a:ext uri="{FF2B5EF4-FFF2-40B4-BE49-F238E27FC236}">
                <a16:creationId xmlns:a16="http://schemas.microsoft.com/office/drawing/2014/main" id="{A06CA335-9F69-0DA3-5CBC-66A84C796F5E}"/>
              </a:ext>
            </a:extLst>
          </p:cNvPr>
          <p:cNvSpPr/>
          <p:nvPr/>
        </p:nvSpPr>
        <p:spPr>
          <a:xfrm>
            <a:off x="7205472" y="1737360"/>
            <a:ext cx="1572768" cy="64008"/>
          </a:xfrm>
          <a:prstGeom prst="rect">
            <a:avLst/>
          </a:prstGeom>
          <a:solidFill>
            <a:srgbClr val="CC0066"/>
          </a:solidFill>
          <a:ln w="12700">
            <a:solidFill>
              <a:srgbClr val="CC0066"/>
            </a:solidFill>
            <a:prstDash val="solid"/>
          </a:ln>
        </p:spPr>
        <p:txBody>
          <a:bodyPr/>
          <a:lstStyle/>
          <a:p>
            <a:endParaRPr lang="en-US"/>
          </a:p>
        </p:txBody>
      </p:sp>
      <p:sp>
        <p:nvSpPr>
          <p:cNvPr id="37" name="Text 34">
            <a:extLst>
              <a:ext uri="{FF2B5EF4-FFF2-40B4-BE49-F238E27FC236}">
                <a16:creationId xmlns:a16="http://schemas.microsoft.com/office/drawing/2014/main" id="{51633D95-86E7-02EA-2541-EDC48C6EE0A8}"/>
              </a:ext>
            </a:extLst>
          </p:cNvPr>
          <p:cNvSpPr/>
          <p:nvPr/>
        </p:nvSpPr>
        <p:spPr>
          <a:xfrm>
            <a:off x="7205472" y="1810512"/>
            <a:ext cx="1572768" cy="59436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8" name="Text 35">
            <a:extLst>
              <a:ext uri="{FF2B5EF4-FFF2-40B4-BE49-F238E27FC236}">
                <a16:creationId xmlns:a16="http://schemas.microsoft.com/office/drawing/2014/main" id="{449EF9F3-E4E3-7F6E-D7D8-405A7CA83A2A}"/>
              </a:ext>
            </a:extLst>
          </p:cNvPr>
          <p:cNvSpPr/>
          <p:nvPr/>
        </p:nvSpPr>
        <p:spPr>
          <a:xfrm>
            <a:off x="7278624" y="2450592"/>
            <a:ext cx="1417320" cy="658368"/>
          </a:xfrm>
          <a:prstGeom prst="rect">
            <a:avLst/>
          </a:prstGeom>
          <a:noFill/>
          <a:ln/>
        </p:spPr>
        <p:txBody>
          <a:bodyPr wrap="square" rtlCol="0" anchor="ctr"/>
          <a:lstStyle/>
          <a:p>
            <a:pPr marL="0" indent="0" algn="ctr">
              <a:buNone/>
            </a:pPr>
            <a:r>
              <a:rPr lang="en-US" sz="1300" b="1" dirty="0">
                <a:solidFill>
                  <a:srgbClr val="CC0066"/>
                </a:solidFill>
                <a:latin typeface="Georgia" pitchFamily="34" charset="0"/>
                <a:ea typeface="Georgia" pitchFamily="34" charset="-122"/>
                <a:cs typeface="Georgia" pitchFamily="34" charset="-120"/>
              </a:rPr>
              <a:t>Comms</a:t>
            </a:r>
            <a:endParaRPr lang="en-US" sz="1300" dirty="0"/>
          </a:p>
          <a:p>
            <a:pPr marL="0" indent="0" algn="ctr">
              <a:buNone/>
            </a:pPr>
            <a:r>
              <a:rPr lang="en-US" sz="1300" b="1" dirty="0">
                <a:solidFill>
                  <a:srgbClr val="CC0066"/>
                </a:solidFill>
                <a:latin typeface="Georgia" pitchFamily="34" charset="0"/>
                <a:ea typeface="Georgia" pitchFamily="34" charset="-122"/>
                <a:cs typeface="Georgia" pitchFamily="34" charset="-120"/>
              </a:rPr>
              <a:t>&amp; Brand</a:t>
            </a:r>
            <a:endParaRPr lang="en-US" sz="1300" dirty="0"/>
          </a:p>
        </p:txBody>
      </p:sp>
      <p:sp>
        <p:nvSpPr>
          <p:cNvPr id="39" name="Text 36">
            <a:extLst>
              <a:ext uri="{FF2B5EF4-FFF2-40B4-BE49-F238E27FC236}">
                <a16:creationId xmlns:a16="http://schemas.microsoft.com/office/drawing/2014/main" id="{27F5DD79-0863-51F8-C3E5-97A97442F3C1}"/>
              </a:ext>
            </a:extLst>
          </p:cNvPr>
          <p:cNvSpPr/>
          <p:nvPr/>
        </p:nvSpPr>
        <p:spPr>
          <a:xfrm>
            <a:off x="7296912" y="3145536"/>
            <a:ext cx="1389888" cy="1280160"/>
          </a:xfrm>
          <a:prstGeom prst="rect">
            <a:avLst/>
          </a:prstGeom>
          <a:noFill/>
          <a:ln/>
        </p:spPr>
        <p:txBody>
          <a:bodyPr wrap="square" rtlCol="0" anchor="t"/>
          <a:lstStyle/>
          <a:p>
            <a:pPr marL="0" indent="0" algn="ctr">
              <a:buNone/>
            </a:pPr>
            <a:r>
              <a:rPr lang="en-US" sz="1050" dirty="0">
                <a:solidFill>
                  <a:srgbClr val="444444"/>
                </a:solidFill>
                <a:latin typeface="Calibri" pitchFamily="34" charset="0"/>
                <a:ea typeface="Calibri" pitchFamily="34" charset="-122"/>
                <a:cs typeface="Calibri" pitchFamily="34" charset="-120"/>
              </a:rPr>
              <a:t>Website, social, logo, foundation name vote</a:t>
            </a:r>
            <a:endParaRPr lang="en-US" sz="1050" dirty="0"/>
          </a:p>
        </p:txBody>
      </p:sp>
      <p:sp>
        <p:nvSpPr>
          <p:cNvPr id="40" name="Shape 37">
            <a:extLst>
              <a:ext uri="{FF2B5EF4-FFF2-40B4-BE49-F238E27FC236}">
                <a16:creationId xmlns:a16="http://schemas.microsoft.com/office/drawing/2014/main" id="{FA6039E7-E366-3245-8CBD-8A1EB644053B}"/>
              </a:ext>
            </a:extLst>
          </p:cNvPr>
          <p:cNvSpPr/>
          <p:nvPr/>
        </p:nvSpPr>
        <p:spPr>
          <a:xfrm>
            <a:off x="7296912" y="4443984"/>
            <a:ext cx="1389888" cy="182880"/>
          </a:xfrm>
          <a:prstGeom prst="rect">
            <a:avLst/>
          </a:prstGeom>
          <a:solidFill>
            <a:srgbClr val="CC0066">
              <a:alpha val="20000"/>
            </a:srgbClr>
          </a:solidFill>
          <a:ln w="12700">
            <a:solidFill>
              <a:srgbClr val="CC0066">
                <a:alpha val="40000"/>
              </a:srgbClr>
            </a:solidFill>
            <a:prstDash val="solid"/>
          </a:ln>
        </p:spPr>
        <p:txBody>
          <a:bodyPr/>
          <a:lstStyle/>
          <a:p>
            <a:endParaRPr lang="en-US"/>
          </a:p>
        </p:txBody>
      </p:sp>
      <p:sp>
        <p:nvSpPr>
          <p:cNvPr id="41" name="Text 38">
            <a:extLst>
              <a:ext uri="{FF2B5EF4-FFF2-40B4-BE49-F238E27FC236}">
                <a16:creationId xmlns:a16="http://schemas.microsoft.com/office/drawing/2014/main" id="{EADCAC56-A55A-CECE-D755-7C7AD72A5851}"/>
              </a:ext>
            </a:extLst>
          </p:cNvPr>
          <p:cNvSpPr/>
          <p:nvPr/>
        </p:nvSpPr>
        <p:spPr>
          <a:xfrm>
            <a:off x="7315200" y="4443984"/>
            <a:ext cx="1353312" cy="182880"/>
          </a:xfrm>
          <a:prstGeom prst="rect">
            <a:avLst/>
          </a:prstGeom>
          <a:noFill/>
          <a:ln/>
        </p:spPr>
        <p:txBody>
          <a:bodyPr wrap="square" rtlCol="0" anchor="ctr"/>
          <a:lstStyle/>
          <a:p>
            <a:pPr marL="0" indent="0">
              <a:buNone/>
            </a:pPr>
            <a:r>
              <a:rPr lang="en-US" sz="850" i="1" dirty="0">
                <a:solidFill>
                  <a:srgbClr val="CC0066"/>
                </a:solidFill>
                <a:latin typeface="Calibri" pitchFamily="34" charset="0"/>
                <a:ea typeface="Calibri" pitchFamily="34" charset="-122"/>
                <a:cs typeface="Calibri" pitchFamily="34" charset="-120"/>
              </a:rPr>
              <a:t>Lead: ___________</a:t>
            </a:r>
            <a:endParaRPr lang="en-US" sz="850" dirty="0"/>
          </a:p>
        </p:txBody>
      </p:sp>
      <p:sp>
        <p:nvSpPr>
          <p:cNvPr id="42" name="Text 39">
            <a:extLst>
              <a:ext uri="{FF2B5EF4-FFF2-40B4-BE49-F238E27FC236}">
                <a16:creationId xmlns:a16="http://schemas.microsoft.com/office/drawing/2014/main" id="{1A722EF1-4DBD-77C2-271A-77E0A9EB3DE1}"/>
              </a:ext>
            </a:extLst>
          </p:cNvPr>
          <p:cNvSpPr/>
          <p:nvPr/>
        </p:nvSpPr>
        <p:spPr>
          <a:xfrm>
            <a:off x="365760" y="4754880"/>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extLst>
      <p:ext uri="{BB962C8B-B14F-4D97-AF65-F5344CB8AC3E}">
        <p14:creationId xmlns:p14="http://schemas.microsoft.com/office/powerpoint/2010/main" val="1778963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0C181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6E6E"/>
          </a:solidFill>
          <a:ln w="12700">
            <a:solidFill>
              <a:srgbClr val="0A6E6E"/>
            </a:solidFill>
            <a:prstDash val="solid"/>
          </a:ln>
        </p:spPr>
        <p:txBody>
          <a:bodyPr/>
          <a:lstStyle/>
          <a:p>
            <a:endParaRPr lang="en-US"/>
          </a:p>
        </p:txBody>
      </p:sp>
      <p:sp>
        <p:nvSpPr>
          <p:cNvPr id="4" name="Text 1"/>
          <p:cNvSpPr/>
          <p:nvPr/>
        </p:nvSpPr>
        <p:spPr>
          <a:xfrm>
            <a:off x="804672" y="146304"/>
            <a:ext cx="7315200" cy="347472"/>
          </a:xfrm>
          <a:prstGeom prst="rect">
            <a:avLst/>
          </a:prstGeom>
          <a:noFill/>
          <a:ln/>
        </p:spPr>
        <p:txBody>
          <a:bodyPr wrap="square" rtlCol="0" anchor="ctr"/>
          <a:lstStyle/>
          <a:p>
            <a:pPr marL="0" indent="0">
              <a:buNone/>
            </a:pPr>
            <a:r>
              <a:rPr lang="en-US" sz="1000" b="1" kern="0" spc="300" dirty="0">
                <a:solidFill>
                  <a:srgbClr val="FFFFFF"/>
                </a:solidFill>
                <a:latin typeface="Calibri" pitchFamily="34" charset="0"/>
                <a:ea typeface="Calibri" pitchFamily="34" charset="-122"/>
                <a:cs typeface="Calibri" pitchFamily="34" charset="-120"/>
              </a:rPr>
              <a:t>SETD5 SYNDROME FOUNDATION</a:t>
            </a:r>
            <a:endParaRPr lang="en-US" sz="1000" dirty="0"/>
          </a:p>
        </p:txBody>
      </p:sp>
      <p:sp>
        <p:nvSpPr>
          <p:cNvPr id="5" name="Text 2"/>
          <p:cNvSpPr/>
          <p:nvPr/>
        </p:nvSpPr>
        <p:spPr>
          <a:xfrm>
            <a:off x="457200" y="804672"/>
            <a:ext cx="8229600" cy="6400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Action Items — Next 60 Days</a:t>
            </a:r>
            <a:endParaRPr lang="en-US" sz="3400" dirty="0"/>
          </a:p>
        </p:txBody>
      </p:sp>
      <p:sp>
        <p:nvSpPr>
          <p:cNvPr id="6" name="Shape 3"/>
          <p:cNvSpPr/>
          <p:nvPr/>
        </p:nvSpPr>
        <p:spPr>
          <a:xfrm>
            <a:off x="365760" y="1572768"/>
            <a:ext cx="8412480" cy="402336"/>
          </a:xfrm>
          <a:prstGeom prst="rect">
            <a:avLst/>
          </a:prstGeom>
          <a:solidFill>
            <a:srgbClr val="152828"/>
          </a:solidFill>
          <a:ln w="12700">
            <a:solidFill>
              <a:srgbClr val="1E3838"/>
            </a:solidFill>
            <a:prstDash val="solid"/>
          </a:ln>
        </p:spPr>
        <p:txBody>
          <a:bodyPr/>
          <a:lstStyle/>
          <a:p>
            <a:endParaRPr lang="en-US"/>
          </a:p>
        </p:txBody>
      </p:sp>
      <p:sp>
        <p:nvSpPr>
          <p:cNvPr id="7" name="Shape 4"/>
          <p:cNvSpPr/>
          <p:nvPr/>
        </p:nvSpPr>
        <p:spPr>
          <a:xfrm>
            <a:off x="365760" y="1572768"/>
            <a:ext cx="54864" cy="402336"/>
          </a:xfrm>
          <a:prstGeom prst="rect">
            <a:avLst/>
          </a:prstGeom>
          <a:solidFill>
            <a:srgbClr val="0E9B9B"/>
          </a:solidFill>
          <a:ln w="12700">
            <a:solidFill>
              <a:srgbClr val="0E9B9B"/>
            </a:solidFill>
            <a:prstDash val="solid"/>
          </a:ln>
        </p:spPr>
        <p:txBody>
          <a:bodyPr/>
          <a:lstStyle/>
          <a:p>
            <a:endParaRPr lang="en-US"/>
          </a:p>
        </p:txBody>
      </p:sp>
      <p:sp>
        <p:nvSpPr>
          <p:cNvPr id="8" name="Shape 5"/>
          <p:cNvSpPr/>
          <p:nvPr/>
        </p:nvSpPr>
        <p:spPr>
          <a:xfrm>
            <a:off x="512064" y="1691640"/>
            <a:ext cx="164592" cy="164592"/>
          </a:xfrm>
          <a:prstGeom prst="ellipse">
            <a:avLst/>
          </a:prstGeom>
          <a:solidFill>
            <a:srgbClr val="0E9B9B"/>
          </a:solidFill>
          <a:ln w="12700">
            <a:solidFill>
              <a:srgbClr val="0E9B9B"/>
            </a:solidFill>
            <a:prstDash val="solid"/>
          </a:ln>
        </p:spPr>
        <p:txBody>
          <a:bodyPr/>
          <a:lstStyle/>
          <a:p>
            <a:endParaRPr lang="en-US"/>
          </a:p>
        </p:txBody>
      </p:sp>
      <p:sp>
        <p:nvSpPr>
          <p:cNvPr id="9" name="Text 6"/>
          <p:cNvSpPr/>
          <p:nvPr/>
        </p:nvSpPr>
        <p:spPr>
          <a:xfrm>
            <a:off x="804672" y="1591056"/>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Confirm all working group leads and members</a:t>
            </a:r>
            <a:endParaRPr lang="en-US" sz="1250" dirty="0"/>
          </a:p>
        </p:txBody>
      </p:sp>
      <p:sp>
        <p:nvSpPr>
          <p:cNvPr id="10" name="Text 7"/>
          <p:cNvSpPr/>
          <p:nvPr/>
        </p:nvSpPr>
        <p:spPr>
          <a:xfrm>
            <a:off x="6766560" y="1591056"/>
            <a:ext cx="1920240" cy="365760"/>
          </a:xfrm>
          <a:prstGeom prst="rect">
            <a:avLst/>
          </a:prstGeom>
          <a:noFill/>
          <a:ln/>
        </p:spPr>
        <p:txBody>
          <a:bodyPr wrap="square" rtlCol="0" anchor="ctr"/>
          <a:lstStyle/>
          <a:p>
            <a:pPr marL="0" indent="0" algn="r">
              <a:buNone/>
            </a:pPr>
            <a:r>
              <a:rPr lang="en-US" sz="1100" i="1" dirty="0">
                <a:solidFill>
                  <a:srgbClr val="0E9B9B"/>
                </a:solidFill>
                <a:latin typeface="Calibri" pitchFamily="34" charset="0"/>
                <a:ea typeface="Calibri" pitchFamily="34" charset="-122"/>
                <a:cs typeface="Calibri" pitchFamily="34" charset="-120"/>
              </a:rPr>
              <a:t>All attendees</a:t>
            </a:r>
            <a:endParaRPr lang="en-US" sz="1100" dirty="0"/>
          </a:p>
        </p:txBody>
      </p:sp>
      <p:sp>
        <p:nvSpPr>
          <p:cNvPr id="11" name="Shape 8"/>
          <p:cNvSpPr/>
          <p:nvPr/>
        </p:nvSpPr>
        <p:spPr>
          <a:xfrm>
            <a:off x="365760" y="2048256"/>
            <a:ext cx="8412480" cy="402336"/>
          </a:xfrm>
          <a:prstGeom prst="rect">
            <a:avLst/>
          </a:prstGeom>
          <a:solidFill>
            <a:srgbClr val="152828"/>
          </a:solidFill>
          <a:ln w="12700">
            <a:solidFill>
              <a:srgbClr val="1E3838"/>
            </a:solidFill>
            <a:prstDash val="solid"/>
          </a:ln>
        </p:spPr>
        <p:txBody>
          <a:bodyPr/>
          <a:lstStyle/>
          <a:p>
            <a:endParaRPr lang="en-US"/>
          </a:p>
        </p:txBody>
      </p:sp>
      <p:sp>
        <p:nvSpPr>
          <p:cNvPr id="12" name="Shape 9"/>
          <p:cNvSpPr/>
          <p:nvPr/>
        </p:nvSpPr>
        <p:spPr>
          <a:xfrm>
            <a:off x="365760" y="2048256"/>
            <a:ext cx="54864" cy="402336"/>
          </a:xfrm>
          <a:prstGeom prst="rect">
            <a:avLst/>
          </a:prstGeom>
          <a:solidFill>
            <a:srgbClr val="0E9B9B"/>
          </a:solidFill>
          <a:ln w="12700">
            <a:solidFill>
              <a:srgbClr val="0E9B9B"/>
            </a:solidFill>
            <a:prstDash val="solid"/>
          </a:ln>
        </p:spPr>
        <p:txBody>
          <a:bodyPr/>
          <a:lstStyle/>
          <a:p>
            <a:endParaRPr lang="en-US"/>
          </a:p>
        </p:txBody>
      </p:sp>
      <p:sp>
        <p:nvSpPr>
          <p:cNvPr id="13" name="Shape 10"/>
          <p:cNvSpPr/>
          <p:nvPr/>
        </p:nvSpPr>
        <p:spPr>
          <a:xfrm>
            <a:off x="512064" y="2167128"/>
            <a:ext cx="164592" cy="164592"/>
          </a:xfrm>
          <a:prstGeom prst="ellipse">
            <a:avLst/>
          </a:prstGeom>
          <a:solidFill>
            <a:srgbClr val="0E9B9B"/>
          </a:solidFill>
          <a:ln w="12700">
            <a:solidFill>
              <a:srgbClr val="0E9B9B"/>
            </a:solidFill>
            <a:prstDash val="solid"/>
          </a:ln>
        </p:spPr>
        <p:txBody>
          <a:bodyPr/>
          <a:lstStyle/>
          <a:p>
            <a:endParaRPr lang="en-US"/>
          </a:p>
        </p:txBody>
      </p:sp>
      <p:sp>
        <p:nvSpPr>
          <p:cNvPr id="14" name="Text 11"/>
          <p:cNvSpPr/>
          <p:nvPr/>
        </p:nvSpPr>
        <p:spPr>
          <a:xfrm>
            <a:off x="804672" y="2066544"/>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Select state of incorporation</a:t>
            </a:r>
            <a:endParaRPr lang="en-US" sz="1250" dirty="0"/>
          </a:p>
        </p:txBody>
      </p:sp>
      <p:sp>
        <p:nvSpPr>
          <p:cNvPr id="15" name="Text 12"/>
          <p:cNvSpPr/>
          <p:nvPr/>
        </p:nvSpPr>
        <p:spPr>
          <a:xfrm>
            <a:off x="6766560" y="2066544"/>
            <a:ext cx="1920240" cy="365760"/>
          </a:xfrm>
          <a:prstGeom prst="rect">
            <a:avLst/>
          </a:prstGeom>
          <a:noFill/>
          <a:ln/>
        </p:spPr>
        <p:txBody>
          <a:bodyPr wrap="square" rtlCol="0" anchor="ctr"/>
          <a:lstStyle/>
          <a:p>
            <a:pPr marL="0" indent="0" algn="r">
              <a:buNone/>
            </a:pPr>
            <a:r>
              <a:rPr lang="en-US" sz="1100" i="1" dirty="0">
                <a:solidFill>
                  <a:srgbClr val="0E9B9B"/>
                </a:solidFill>
                <a:latin typeface="Calibri" pitchFamily="34" charset="0"/>
                <a:ea typeface="Calibri" pitchFamily="34" charset="-122"/>
                <a:cs typeface="Calibri" pitchFamily="34" charset="-120"/>
              </a:rPr>
              <a:t>Governance group</a:t>
            </a:r>
            <a:endParaRPr lang="en-US" sz="1100" dirty="0"/>
          </a:p>
        </p:txBody>
      </p:sp>
      <p:sp>
        <p:nvSpPr>
          <p:cNvPr id="16" name="Shape 13"/>
          <p:cNvSpPr/>
          <p:nvPr/>
        </p:nvSpPr>
        <p:spPr>
          <a:xfrm>
            <a:off x="365760" y="2523744"/>
            <a:ext cx="8412480" cy="402336"/>
          </a:xfrm>
          <a:prstGeom prst="rect">
            <a:avLst/>
          </a:prstGeom>
          <a:solidFill>
            <a:srgbClr val="152828"/>
          </a:solidFill>
          <a:ln w="12700">
            <a:solidFill>
              <a:srgbClr val="1E3838"/>
            </a:solidFill>
            <a:prstDash val="solid"/>
          </a:ln>
        </p:spPr>
        <p:txBody>
          <a:bodyPr/>
          <a:lstStyle/>
          <a:p>
            <a:endParaRPr lang="en-US"/>
          </a:p>
        </p:txBody>
      </p:sp>
      <p:sp>
        <p:nvSpPr>
          <p:cNvPr id="17" name="Shape 14"/>
          <p:cNvSpPr/>
          <p:nvPr/>
        </p:nvSpPr>
        <p:spPr>
          <a:xfrm>
            <a:off x="365760" y="2523744"/>
            <a:ext cx="54864" cy="402336"/>
          </a:xfrm>
          <a:prstGeom prst="rect">
            <a:avLst/>
          </a:prstGeom>
          <a:solidFill>
            <a:srgbClr val="0E9B9B"/>
          </a:solidFill>
          <a:ln w="12700">
            <a:solidFill>
              <a:srgbClr val="0E9B9B"/>
            </a:solidFill>
            <a:prstDash val="solid"/>
          </a:ln>
        </p:spPr>
        <p:txBody>
          <a:bodyPr/>
          <a:lstStyle/>
          <a:p>
            <a:endParaRPr lang="en-US"/>
          </a:p>
        </p:txBody>
      </p:sp>
      <p:sp>
        <p:nvSpPr>
          <p:cNvPr id="18" name="Shape 15"/>
          <p:cNvSpPr/>
          <p:nvPr/>
        </p:nvSpPr>
        <p:spPr>
          <a:xfrm>
            <a:off x="512064" y="2642616"/>
            <a:ext cx="164592" cy="164592"/>
          </a:xfrm>
          <a:prstGeom prst="ellipse">
            <a:avLst/>
          </a:prstGeom>
          <a:solidFill>
            <a:srgbClr val="0E9B9B"/>
          </a:solidFill>
          <a:ln w="12700">
            <a:solidFill>
              <a:srgbClr val="0E9B9B"/>
            </a:solidFill>
            <a:prstDash val="solid"/>
          </a:ln>
        </p:spPr>
        <p:txBody>
          <a:bodyPr/>
          <a:lstStyle/>
          <a:p>
            <a:endParaRPr lang="en-US"/>
          </a:p>
        </p:txBody>
      </p:sp>
      <p:sp>
        <p:nvSpPr>
          <p:cNvPr id="19" name="Text 16"/>
          <p:cNvSpPr/>
          <p:nvPr/>
        </p:nvSpPr>
        <p:spPr>
          <a:xfrm>
            <a:off x="804672" y="2542032"/>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Identify nonprofit legal help</a:t>
            </a:r>
            <a:endParaRPr lang="en-US" sz="1250" dirty="0"/>
          </a:p>
        </p:txBody>
      </p:sp>
      <p:sp>
        <p:nvSpPr>
          <p:cNvPr id="20" name="Text 17"/>
          <p:cNvSpPr/>
          <p:nvPr/>
        </p:nvSpPr>
        <p:spPr>
          <a:xfrm>
            <a:off x="6766560" y="2542032"/>
            <a:ext cx="1920240" cy="365760"/>
          </a:xfrm>
          <a:prstGeom prst="rect">
            <a:avLst/>
          </a:prstGeom>
          <a:noFill/>
          <a:ln/>
        </p:spPr>
        <p:txBody>
          <a:bodyPr wrap="square" rtlCol="0" anchor="ctr"/>
          <a:lstStyle/>
          <a:p>
            <a:pPr marL="0" indent="0" algn="r">
              <a:buNone/>
            </a:pPr>
            <a:r>
              <a:rPr lang="en-US" sz="1100" i="1" dirty="0">
                <a:solidFill>
                  <a:srgbClr val="0E9B9B"/>
                </a:solidFill>
                <a:latin typeface="Calibri" pitchFamily="34" charset="0"/>
                <a:ea typeface="Calibri" pitchFamily="34" charset="-122"/>
                <a:cs typeface="Calibri" pitchFamily="34" charset="-120"/>
              </a:rPr>
              <a:t>Governance group</a:t>
            </a:r>
            <a:endParaRPr lang="en-US" sz="1100" dirty="0"/>
          </a:p>
        </p:txBody>
      </p:sp>
      <p:sp>
        <p:nvSpPr>
          <p:cNvPr id="21" name="Shape 18"/>
          <p:cNvSpPr/>
          <p:nvPr/>
        </p:nvSpPr>
        <p:spPr>
          <a:xfrm>
            <a:off x="365760" y="2999232"/>
            <a:ext cx="8412480" cy="402336"/>
          </a:xfrm>
          <a:prstGeom prst="rect">
            <a:avLst/>
          </a:prstGeom>
          <a:solidFill>
            <a:srgbClr val="152828"/>
          </a:solidFill>
          <a:ln w="12700">
            <a:solidFill>
              <a:srgbClr val="1E3838"/>
            </a:solidFill>
            <a:prstDash val="solid"/>
          </a:ln>
        </p:spPr>
        <p:txBody>
          <a:bodyPr/>
          <a:lstStyle/>
          <a:p>
            <a:endParaRPr lang="en-US"/>
          </a:p>
        </p:txBody>
      </p:sp>
      <p:sp>
        <p:nvSpPr>
          <p:cNvPr id="22" name="Shape 19"/>
          <p:cNvSpPr/>
          <p:nvPr/>
        </p:nvSpPr>
        <p:spPr>
          <a:xfrm>
            <a:off x="365760" y="2999232"/>
            <a:ext cx="54864" cy="402336"/>
          </a:xfrm>
          <a:prstGeom prst="rect">
            <a:avLst/>
          </a:prstGeom>
          <a:solidFill>
            <a:srgbClr val="6B4FA0"/>
          </a:solidFill>
          <a:ln w="12700">
            <a:solidFill>
              <a:srgbClr val="6B4FA0"/>
            </a:solidFill>
            <a:prstDash val="solid"/>
          </a:ln>
        </p:spPr>
        <p:txBody>
          <a:bodyPr/>
          <a:lstStyle/>
          <a:p>
            <a:endParaRPr lang="en-US"/>
          </a:p>
        </p:txBody>
      </p:sp>
      <p:sp>
        <p:nvSpPr>
          <p:cNvPr id="23" name="Shape 20"/>
          <p:cNvSpPr/>
          <p:nvPr/>
        </p:nvSpPr>
        <p:spPr>
          <a:xfrm>
            <a:off x="512064" y="3118104"/>
            <a:ext cx="164592" cy="164592"/>
          </a:xfrm>
          <a:prstGeom prst="ellipse">
            <a:avLst/>
          </a:prstGeom>
          <a:solidFill>
            <a:srgbClr val="6B4FA0"/>
          </a:solidFill>
          <a:ln w="12700">
            <a:solidFill>
              <a:srgbClr val="6B4FA0"/>
            </a:solidFill>
            <a:prstDash val="solid"/>
          </a:ln>
        </p:spPr>
        <p:txBody>
          <a:bodyPr/>
          <a:lstStyle/>
          <a:p>
            <a:endParaRPr lang="en-US"/>
          </a:p>
        </p:txBody>
      </p:sp>
      <p:sp>
        <p:nvSpPr>
          <p:cNvPr id="24" name="Text 21"/>
          <p:cNvSpPr/>
          <p:nvPr/>
        </p:nvSpPr>
        <p:spPr>
          <a:xfrm>
            <a:off x="804672" y="3017520"/>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Website Under Construction</a:t>
            </a:r>
            <a:endParaRPr lang="en-US" sz="1250" dirty="0"/>
          </a:p>
        </p:txBody>
      </p:sp>
      <p:sp>
        <p:nvSpPr>
          <p:cNvPr id="25" name="Text 22"/>
          <p:cNvSpPr/>
          <p:nvPr/>
        </p:nvSpPr>
        <p:spPr>
          <a:xfrm>
            <a:off x="6766560" y="3017520"/>
            <a:ext cx="1920240" cy="365760"/>
          </a:xfrm>
          <a:prstGeom prst="rect">
            <a:avLst/>
          </a:prstGeom>
          <a:noFill/>
          <a:ln/>
        </p:spPr>
        <p:txBody>
          <a:bodyPr wrap="square" rtlCol="0" anchor="ctr"/>
          <a:lstStyle/>
          <a:p>
            <a:pPr marL="0" indent="0" algn="r">
              <a:buNone/>
            </a:pPr>
            <a:r>
              <a:rPr lang="en-US" sz="1100" i="1" dirty="0">
                <a:solidFill>
                  <a:srgbClr val="6B4FA0"/>
                </a:solidFill>
                <a:latin typeface="Calibri" pitchFamily="34" charset="0"/>
                <a:ea typeface="Calibri" pitchFamily="34" charset="-122"/>
                <a:cs typeface="Calibri" pitchFamily="34" charset="-120"/>
              </a:rPr>
              <a:t>Comms group</a:t>
            </a:r>
            <a:endParaRPr lang="en-US" sz="1100" dirty="0"/>
          </a:p>
        </p:txBody>
      </p:sp>
      <p:sp>
        <p:nvSpPr>
          <p:cNvPr id="26" name="Shape 23"/>
          <p:cNvSpPr/>
          <p:nvPr/>
        </p:nvSpPr>
        <p:spPr>
          <a:xfrm>
            <a:off x="365760" y="3474720"/>
            <a:ext cx="8412480" cy="402336"/>
          </a:xfrm>
          <a:prstGeom prst="rect">
            <a:avLst/>
          </a:prstGeom>
          <a:solidFill>
            <a:srgbClr val="152828"/>
          </a:solidFill>
          <a:ln w="12700">
            <a:solidFill>
              <a:srgbClr val="1E3838"/>
            </a:solidFill>
            <a:prstDash val="solid"/>
          </a:ln>
        </p:spPr>
        <p:txBody>
          <a:bodyPr/>
          <a:lstStyle/>
          <a:p>
            <a:endParaRPr lang="en-US"/>
          </a:p>
        </p:txBody>
      </p:sp>
      <p:sp>
        <p:nvSpPr>
          <p:cNvPr id="27" name="Shape 24"/>
          <p:cNvSpPr/>
          <p:nvPr/>
        </p:nvSpPr>
        <p:spPr>
          <a:xfrm>
            <a:off x="365760" y="3474720"/>
            <a:ext cx="54864" cy="402336"/>
          </a:xfrm>
          <a:prstGeom prst="rect">
            <a:avLst/>
          </a:prstGeom>
          <a:solidFill>
            <a:srgbClr val="6B4FA0"/>
          </a:solidFill>
          <a:ln w="12700">
            <a:solidFill>
              <a:srgbClr val="6B4FA0"/>
            </a:solidFill>
            <a:prstDash val="solid"/>
          </a:ln>
        </p:spPr>
        <p:txBody>
          <a:bodyPr/>
          <a:lstStyle/>
          <a:p>
            <a:endParaRPr lang="en-US"/>
          </a:p>
        </p:txBody>
      </p:sp>
      <p:sp>
        <p:nvSpPr>
          <p:cNvPr id="28" name="Shape 25"/>
          <p:cNvSpPr/>
          <p:nvPr/>
        </p:nvSpPr>
        <p:spPr>
          <a:xfrm>
            <a:off x="512064" y="3593592"/>
            <a:ext cx="164592" cy="164592"/>
          </a:xfrm>
          <a:prstGeom prst="ellipse">
            <a:avLst/>
          </a:prstGeom>
          <a:solidFill>
            <a:srgbClr val="6B4FA0"/>
          </a:solidFill>
          <a:ln w="12700">
            <a:solidFill>
              <a:srgbClr val="6B4FA0"/>
            </a:solidFill>
            <a:prstDash val="solid"/>
          </a:ln>
        </p:spPr>
        <p:txBody>
          <a:bodyPr/>
          <a:lstStyle/>
          <a:p>
            <a:endParaRPr lang="en-US"/>
          </a:p>
        </p:txBody>
      </p:sp>
      <p:sp>
        <p:nvSpPr>
          <p:cNvPr id="29" name="Text 26"/>
          <p:cNvSpPr/>
          <p:nvPr/>
        </p:nvSpPr>
        <p:spPr>
          <a:xfrm>
            <a:off x="804672" y="3493008"/>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Conceptualize foundation logo</a:t>
            </a:r>
            <a:endParaRPr lang="en-US" sz="1250" dirty="0"/>
          </a:p>
        </p:txBody>
      </p:sp>
      <p:sp>
        <p:nvSpPr>
          <p:cNvPr id="30" name="Text 27"/>
          <p:cNvSpPr/>
          <p:nvPr/>
        </p:nvSpPr>
        <p:spPr>
          <a:xfrm>
            <a:off x="6766560" y="3493008"/>
            <a:ext cx="1920240" cy="365760"/>
          </a:xfrm>
          <a:prstGeom prst="rect">
            <a:avLst/>
          </a:prstGeom>
          <a:noFill/>
          <a:ln/>
        </p:spPr>
        <p:txBody>
          <a:bodyPr wrap="square" rtlCol="0" anchor="ctr"/>
          <a:lstStyle/>
          <a:p>
            <a:pPr marL="0" indent="0" algn="r">
              <a:buNone/>
            </a:pPr>
            <a:r>
              <a:rPr lang="en-US" sz="1100" i="1" dirty="0">
                <a:solidFill>
                  <a:srgbClr val="6B4FA0"/>
                </a:solidFill>
                <a:latin typeface="Calibri" pitchFamily="34" charset="0"/>
                <a:ea typeface="Calibri" pitchFamily="34" charset="-122"/>
                <a:cs typeface="Calibri" pitchFamily="34" charset="-120"/>
              </a:rPr>
              <a:t>Comms group</a:t>
            </a:r>
            <a:endParaRPr lang="en-US" sz="1100" dirty="0"/>
          </a:p>
        </p:txBody>
      </p:sp>
      <p:sp>
        <p:nvSpPr>
          <p:cNvPr id="31" name="Shape 28"/>
          <p:cNvSpPr/>
          <p:nvPr/>
        </p:nvSpPr>
        <p:spPr>
          <a:xfrm>
            <a:off x="365760" y="3950208"/>
            <a:ext cx="8412480" cy="402336"/>
          </a:xfrm>
          <a:prstGeom prst="rect">
            <a:avLst/>
          </a:prstGeom>
          <a:solidFill>
            <a:srgbClr val="152828"/>
          </a:solidFill>
          <a:ln w="12700">
            <a:solidFill>
              <a:srgbClr val="1E3838"/>
            </a:solidFill>
            <a:prstDash val="solid"/>
          </a:ln>
        </p:spPr>
        <p:txBody>
          <a:bodyPr/>
          <a:lstStyle/>
          <a:p>
            <a:endParaRPr lang="en-US"/>
          </a:p>
        </p:txBody>
      </p:sp>
      <p:sp>
        <p:nvSpPr>
          <p:cNvPr id="32" name="Shape 29"/>
          <p:cNvSpPr/>
          <p:nvPr/>
        </p:nvSpPr>
        <p:spPr>
          <a:xfrm>
            <a:off x="365760" y="3950208"/>
            <a:ext cx="54864" cy="402336"/>
          </a:xfrm>
          <a:prstGeom prst="rect">
            <a:avLst/>
          </a:prstGeom>
          <a:solidFill>
            <a:srgbClr val="CC0066"/>
          </a:solidFill>
          <a:ln w="12700">
            <a:solidFill>
              <a:srgbClr val="CC0066"/>
            </a:solidFill>
            <a:prstDash val="solid"/>
          </a:ln>
        </p:spPr>
        <p:txBody>
          <a:bodyPr/>
          <a:lstStyle/>
          <a:p>
            <a:endParaRPr lang="en-US"/>
          </a:p>
        </p:txBody>
      </p:sp>
      <p:sp>
        <p:nvSpPr>
          <p:cNvPr id="33" name="Shape 30"/>
          <p:cNvSpPr/>
          <p:nvPr/>
        </p:nvSpPr>
        <p:spPr>
          <a:xfrm>
            <a:off x="512064" y="4069080"/>
            <a:ext cx="164592" cy="164592"/>
          </a:xfrm>
          <a:prstGeom prst="ellipse">
            <a:avLst/>
          </a:prstGeom>
          <a:solidFill>
            <a:srgbClr val="CC0066"/>
          </a:solidFill>
          <a:ln w="12700">
            <a:solidFill>
              <a:srgbClr val="CC0066"/>
            </a:solidFill>
            <a:prstDash val="solid"/>
          </a:ln>
        </p:spPr>
        <p:txBody>
          <a:bodyPr/>
          <a:lstStyle/>
          <a:p>
            <a:endParaRPr lang="en-US"/>
          </a:p>
        </p:txBody>
      </p:sp>
      <p:sp>
        <p:nvSpPr>
          <p:cNvPr id="34" name="Text 31"/>
          <p:cNvSpPr/>
          <p:nvPr/>
        </p:nvSpPr>
        <p:spPr>
          <a:xfrm>
            <a:off x="804672" y="3968496"/>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Draft bylaws for board review</a:t>
            </a:r>
            <a:endParaRPr lang="en-US" sz="1250" dirty="0"/>
          </a:p>
        </p:txBody>
      </p:sp>
      <p:sp>
        <p:nvSpPr>
          <p:cNvPr id="35" name="Text 32"/>
          <p:cNvSpPr/>
          <p:nvPr/>
        </p:nvSpPr>
        <p:spPr>
          <a:xfrm>
            <a:off x="6766560" y="3968496"/>
            <a:ext cx="1920240" cy="365760"/>
          </a:xfrm>
          <a:prstGeom prst="rect">
            <a:avLst/>
          </a:prstGeom>
          <a:noFill/>
          <a:ln/>
        </p:spPr>
        <p:txBody>
          <a:bodyPr wrap="square" rtlCol="0" anchor="ctr"/>
          <a:lstStyle/>
          <a:p>
            <a:pPr marL="0" indent="0" algn="r">
              <a:buNone/>
            </a:pPr>
            <a:r>
              <a:rPr lang="en-US" sz="1100" i="1" dirty="0">
                <a:solidFill>
                  <a:srgbClr val="CC0066"/>
                </a:solidFill>
                <a:latin typeface="Calibri" pitchFamily="34" charset="0"/>
                <a:ea typeface="Calibri" pitchFamily="34" charset="-122"/>
                <a:cs typeface="Calibri" pitchFamily="34" charset="-120"/>
              </a:rPr>
              <a:t>Governance group</a:t>
            </a:r>
            <a:endParaRPr lang="en-US" sz="1100" dirty="0"/>
          </a:p>
        </p:txBody>
      </p:sp>
      <p:sp>
        <p:nvSpPr>
          <p:cNvPr id="36" name="Shape 33"/>
          <p:cNvSpPr/>
          <p:nvPr/>
        </p:nvSpPr>
        <p:spPr>
          <a:xfrm>
            <a:off x="365760" y="4425696"/>
            <a:ext cx="8412480" cy="402336"/>
          </a:xfrm>
          <a:prstGeom prst="rect">
            <a:avLst/>
          </a:prstGeom>
          <a:solidFill>
            <a:srgbClr val="152828"/>
          </a:solidFill>
          <a:ln w="12700">
            <a:solidFill>
              <a:srgbClr val="1E3838"/>
            </a:solidFill>
            <a:prstDash val="solid"/>
          </a:ln>
        </p:spPr>
        <p:txBody>
          <a:bodyPr/>
          <a:lstStyle/>
          <a:p>
            <a:endParaRPr lang="en-US"/>
          </a:p>
        </p:txBody>
      </p:sp>
      <p:sp>
        <p:nvSpPr>
          <p:cNvPr id="37" name="Shape 34"/>
          <p:cNvSpPr/>
          <p:nvPr/>
        </p:nvSpPr>
        <p:spPr>
          <a:xfrm>
            <a:off x="365760" y="4425696"/>
            <a:ext cx="54864" cy="402336"/>
          </a:xfrm>
          <a:prstGeom prst="rect">
            <a:avLst/>
          </a:prstGeom>
          <a:solidFill>
            <a:srgbClr val="FF3CAC"/>
          </a:solidFill>
          <a:ln w="12700">
            <a:solidFill>
              <a:srgbClr val="FF3CAC"/>
            </a:solidFill>
            <a:prstDash val="solid"/>
          </a:ln>
        </p:spPr>
        <p:txBody>
          <a:bodyPr/>
          <a:lstStyle/>
          <a:p>
            <a:endParaRPr lang="en-US"/>
          </a:p>
        </p:txBody>
      </p:sp>
      <p:sp>
        <p:nvSpPr>
          <p:cNvPr id="38" name="Shape 35"/>
          <p:cNvSpPr/>
          <p:nvPr/>
        </p:nvSpPr>
        <p:spPr>
          <a:xfrm>
            <a:off x="512064" y="4544568"/>
            <a:ext cx="164592" cy="164592"/>
          </a:xfrm>
          <a:prstGeom prst="ellipse">
            <a:avLst/>
          </a:prstGeom>
          <a:solidFill>
            <a:srgbClr val="FF3CAC"/>
          </a:solidFill>
          <a:ln w="12700">
            <a:solidFill>
              <a:srgbClr val="FF3CAC"/>
            </a:solidFill>
            <a:prstDash val="solid"/>
          </a:ln>
        </p:spPr>
        <p:txBody>
          <a:bodyPr/>
          <a:lstStyle/>
          <a:p>
            <a:endParaRPr lang="en-US"/>
          </a:p>
        </p:txBody>
      </p:sp>
      <p:sp>
        <p:nvSpPr>
          <p:cNvPr id="39" name="Text 36"/>
          <p:cNvSpPr/>
          <p:nvPr/>
        </p:nvSpPr>
        <p:spPr>
          <a:xfrm>
            <a:off x="804672" y="4443984"/>
            <a:ext cx="5943600" cy="365760"/>
          </a:xfrm>
          <a:prstGeom prst="rect">
            <a:avLst/>
          </a:prstGeom>
          <a:noFill/>
          <a:ln/>
        </p:spPr>
        <p:txBody>
          <a:bodyPr wrap="square" rtlCol="0" anchor="ctr"/>
          <a:lstStyle/>
          <a:p>
            <a:pPr marL="0" indent="0">
              <a:buNone/>
            </a:pPr>
            <a:r>
              <a:rPr lang="en-US" sz="1250" dirty="0">
                <a:solidFill>
                  <a:srgbClr val="EEEEEE"/>
                </a:solidFill>
                <a:latin typeface="Calibri" pitchFamily="34" charset="0"/>
                <a:ea typeface="Calibri" pitchFamily="34" charset="-122"/>
                <a:cs typeface="Calibri" pitchFamily="34" charset="-120"/>
              </a:rPr>
              <a:t>Schedule next meeting (60 days)</a:t>
            </a:r>
            <a:endParaRPr lang="en-US" sz="1250" dirty="0"/>
          </a:p>
        </p:txBody>
      </p:sp>
      <p:sp>
        <p:nvSpPr>
          <p:cNvPr id="40" name="Text 37"/>
          <p:cNvSpPr/>
          <p:nvPr/>
        </p:nvSpPr>
        <p:spPr>
          <a:xfrm>
            <a:off x="6766560" y="4443984"/>
            <a:ext cx="1920240" cy="365760"/>
          </a:xfrm>
          <a:prstGeom prst="rect">
            <a:avLst/>
          </a:prstGeom>
          <a:noFill/>
          <a:ln/>
        </p:spPr>
        <p:txBody>
          <a:bodyPr wrap="square" rtlCol="0" anchor="ctr"/>
          <a:lstStyle/>
          <a:p>
            <a:pPr marL="0" indent="0" algn="r">
              <a:buNone/>
            </a:pPr>
            <a:r>
              <a:rPr lang="en-US" sz="1100" i="1" dirty="0">
                <a:solidFill>
                  <a:srgbClr val="FF3CAC"/>
                </a:solidFill>
                <a:latin typeface="Calibri" pitchFamily="34" charset="0"/>
                <a:ea typeface="Calibri" pitchFamily="34" charset="-122"/>
                <a:cs typeface="Calibri" pitchFamily="34" charset="-120"/>
              </a:rPr>
              <a:t>[Chair]</a:t>
            </a:r>
            <a:endParaRPr lang="en-US" sz="1100" dirty="0"/>
          </a:p>
        </p:txBody>
      </p:sp>
      <p:sp>
        <p:nvSpPr>
          <p:cNvPr id="41" name="Text 38"/>
          <p:cNvSpPr/>
          <p:nvPr/>
        </p:nvSpPr>
        <p:spPr>
          <a:xfrm>
            <a:off x="365760" y="4754880"/>
            <a:ext cx="8412480" cy="27432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SETD5 Syndrome Foundation  ·  Founding Meeting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64A10F-CE6C-ED04-7CFC-B52A005E0C68}"/>
              </a:ext>
            </a:extLst>
          </p:cNvPr>
          <p:cNvSpPr txBox="1"/>
          <p:nvPr/>
        </p:nvSpPr>
        <p:spPr>
          <a:xfrm>
            <a:off x="2286000" y="124927"/>
            <a:ext cx="4572000" cy="4893647"/>
          </a:xfrm>
          <a:prstGeom prst="rect">
            <a:avLst/>
          </a:prstGeom>
          <a:noFill/>
        </p:spPr>
        <p:txBody>
          <a:bodyPr wrap="square">
            <a:spAutoFit/>
          </a:bodyPr>
          <a:lstStyle/>
          <a:p>
            <a:pPr algn="l">
              <a:buNone/>
            </a:pPr>
            <a:r>
              <a:rPr lang="en-US" sz="1200" b="0" i="0" dirty="0">
                <a:solidFill>
                  <a:srgbClr val="333333"/>
                </a:solidFill>
                <a:effectLst/>
                <a:latin typeface="Calibri" panose="020F0502020204030204" pitchFamily="34" charset="0"/>
              </a:rPr>
              <a:t>PAG-specific support resources</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2"/>
              </a:rPr>
              <a:t>Patient Advocacy Partnerships: Empowering Communities in Research</a:t>
            </a:r>
            <a:r>
              <a:rPr lang="en-US" sz="1200" b="0" i="0" dirty="0">
                <a:solidFill>
                  <a:srgbClr val="333333"/>
                </a:solidFill>
                <a:effectLst/>
                <a:latin typeface="Calibri" panose="020F0502020204030204" pitchFamily="34" charset="0"/>
              </a:rPr>
              <a:t> Webpage</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3"/>
              </a:rPr>
              <a:t>Participation Progress Dashboard</a:t>
            </a:r>
            <a:r>
              <a:rPr lang="en-US" sz="1200" b="0" i="0" dirty="0">
                <a:solidFill>
                  <a:srgbClr val="333333"/>
                </a:solidFill>
                <a:effectLst/>
                <a:latin typeface="Calibri" panose="020F0502020204030204" pitchFamily="34" charset="0"/>
              </a:rPr>
              <a:t> Webpage (see current metrics on your community)</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4"/>
              </a:rPr>
              <a:t>PAG Outreach Toolkit</a:t>
            </a:r>
            <a:r>
              <a:rPr lang="en-US" sz="1200" b="0" i="0" dirty="0">
                <a:solidFill>
                  <a:srgbClr val="333333"/>
                </a:solidFill>
                <a:effectLst/>
                <a:latin typeface="Calibri" panose="020F0502020204030204" pitchFamily="34" charset="0"/>
              </a:rPr>
              <a:t> Webpage (IRB-approved messaging, videos, and graphics)</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5"/>
              </a:rPr>
              <a:t>SETD5</a:t>
            </a:r>
            <a:r>
              <a:rPr lang="en-US" sz="1200" b="0" i="0" u="none" strike="noStrike" dirty="0">
                <a:solidFill>
                  <a:srgbClr val="1155CC"/>
                </a:solidFill>
                <a:effectLst/>
                <a:latin typeface="Calibri" panose="020F0502020204030204" pitchFamily="34" charset="0"/>
                <a:hlinkClick r:id="rId6"/>
              </a:rPr>
              <a:t> </a:t>
            </a:r>
            <a:r>
              <a:rPr lang="en-US" sz="1200" b="0" i="0" dirty="0">
                <a:solidFill>
                  <a:srgbClr val="333333"/>
                </a:solidFill>
                <a:effectLst/>
                <a:latin typeface="Calibri" panose="020F0502020204030204" pitchFamily="34" charset="0"/>
              </a:rPr>
              <a:t>Gene </a:t>
            </a:r>
            <a:r>
              <a:rPr lang="en-US" sz="1200" b="0" i="0" u="none" strike="noStrike" dirty="0">
                <a:solidFill>
                  <a:srgbClr val="1155CC"/>
                </a:solidFill>
                <a:effectLst/>
                <a:latin typeface="Calibri" panose="020F0502020204030204" pitchFamily="34" charset="0"/>
                <a:hlinkClick r:id="rId6"/>
              </a:rPr>
              <a:t>Webpage</a:t>
            </a:r>
            <a:endParaRPr lang="en-US" sz="1200" b="0" i="0" dirty="0">
              <a:solidFill>
                <a:srgbClr val="333333"/>
              </a:solidFill>
              <a:effectLst/>
              <a:latin typeface="Calibri" panose="020F0502020204030204" pitchFamily="34" charset="0"/>
            </a:endParaRPr>
          </a:p>
          <a:p>
            <a:pPr algn="l">
              <a:buFont typeface="Arial" panose="020B0604020202020204" pitchFamily="34" charset="0"/>
              <a:buChar char="•"/>
            </a:pPr>
            <a:r>
              <a:rPr lang="en-US" sz="1200" b="0" i="0" dirty="0">
                <a:solidFill>
                  <a:srgbClr val="333333"/>
                </a:solidFill>
                <a:effectLst/>
                <a:latin typeface="Calibri" panose="020F0502020204030204" pitchFamily="34" charset="0"/>
              </a:rPr>
              <a:t>Video: </a:t>
            </a:r>
            <a:r>
              <a:rPr lang="en-US" sz="1200" b="0" i="0" u="none" strike="noStrike" dirty="0">
                <a:solidFill>
                  <a:srgbClr val="1155CC"/>
                </a:solidFill>
                <a:effectLst/>
                <a:latin typeface="Calibri" panose="020F0502020204030204" pitchFamily="34" charset="0"/>
                <a:hlinkClick r:id="rId7"/>
              </a:rPr>
              <a:t>Simons Searchlight &amp; Jordan’s Guardian Angels: Partners in Accelerating Science</a:t>
            </a:r>
            <a:endParaRPr lang="en-US" sz="1200" b="0" i="0" dirty="0">
              <a:solidFill>
                <a:srgbClr val="333333"/>
              </a:solidFill>
              <a:effectLst/>
              <a:latin typeface="Calibri" panose="020F0502020204030204" pitchFamily="34" charset="0"/>
            </a:endParaRP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8"/>
              </a:rPr>
              <a:t>A Family Guide: Navigating Life After a Rare Genetic Diagnosis</a:t>
            </a:r>
            <a:r>
              <a:rPr lang="en-US" sz="1200" b="0" i="0" dirty="0">
                <a:solidFill>
                  <a:srgbClr val="333333"/>
                </a:solidFill>
                <a:effectLst/>
                <a:latin typeface="Calibri" panose="020F0502020204030204" pitchFamily="34" charset="0"/>
              </a:rPr>
              <a:t> Webpage</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9"/>
              </a:rPr>
              <a:t>A Family Guide: Understanding Genetic and Clinical Diagnoses</a:t>
            </a:r>
            <a:r>
              <a:rPr lang="en-US" sz="1200" b="0" i="0" dirty="0">
                <a:solidFill>
                  <a:srgbClr val="333333"/>
                </a:solidFill>
                <a:effectLst/>
                <a:latin typeface="Calibri" panose="020F0502020204030204" pitchFamily="34" charset="0"/>
              </a:rPr>
              <a:t> Webpage</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10"/>
              </a:rPr>
              <a:t>How to Add CRID </a:t>
            </a:r>
            <a:r>
              <a:rPr lang="en-US" sz="1200" b="0" i="0" dirty="0">
                <a:solidFill>
                  <a:srgbClr val="333333"/>
                </a:solidFill>
                <a:effectLst/>
                <a:latin typeface="Calibri" panose="020F0502020204030204" pitchFamily="34" charset="0"/>
              </a:rPr>
              <a:t>Webpage</a:t>
            </a:r>
          </a:p>
          <a:p>
            <a:pPr algn="l" rtl="0">
              <a:buNone/>
            </a:pPr>
            <a:br>
              <a:rPr lang="en-US" sz="1200" b="0" i="0" dirty="0">
                <a:solidFill>
                  <a:srgbClr val="333333"/>
                </a:solidFill>
                <a:effectLst/>
                <a:latin typeface="Calibri" panose="020F0502020204030204" pitchFamily="34" charset="0"/>
              </a:rPr>
            </a:br>
            <a:endParaRPr lang="en-US" sz="1200" b="0" i="0" dirty="0">
              <a:solidFill>
                <a:srgbClr val="333333"/>
              </a:solidFill>
              <a:effectLst/>
              <a:latin typeface="Calibri" panose="020F0502020204030204" pitchFamily="34" charset="0"/>
            </a:endParaRPr>
          </a:p>
          <a:p>
            <a:pPr algn="l">
              <a:buNone/>
            </a:pPr>
            <a:r>
              <a:rPr lang="en-US" sz="1200" b="0" i="0" dirty="0">
                <a:solidFill>
                  <a:srgbClr val="333333"/>
                </a:solidFill>
                <a:effectLst/>
                <a:latin typeface="Calibri" panose="020F0502020204030204" pitchFamily="34" charset="0"/>
              </a:rPr>
              <a:t>You may find these established resources helpful in navigating the process of setting up a PAG (you most likely have already seen these but sharing again just in case)</a:t>
            </a: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11"/>
              </a:rPr>
              <a:t>NCATS Toolkit: Starting a Patient Group</a:t>
            </a:r>
            <a:endParaRPr lang="en-US" sz="1200" b="0" i="0" dirty="0">
              <a:solidFill>
                <a:srgbClr val="333333"/>
              </a:solidFill>
              <a:effectLst/>
              <a:latin typeface="Calibri" panose="020F0502020204030204" pitchFamily="34" charset="0"/>
            </a:endParaRP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12"/>
              </a:rPr>
              <a:t>NORD </a:t>
            </a:r>
            <a:r>
              <a:rPr lang="en-US" sz="1200" b="0" i="0" u="none" strike="noStrike" dirty="0" err="1">
                <a:solidFill>
                  <a:srgbClr val="1155CC"/>
                </a:solidFill>
                <a:effectLst/>
                <a:latin typeface="Calibri" panose="020F0502020204030204" pitchFamily="34" charset="0"/>
                <a:hlinkClick r:id="rId12"/>
              </a:rPr>
              <a:t>RareLaunch</a:t>
            </a:r>
            <a:r>
              <a:rPr lang="en-US" sz="1200" b="0" i="0" u="none" strike="noStrike" dirty="0">
                <a:solidFill>
                  <a:srgbClr val="1155CC"/>
                </a:solidFill>
                <a:effectLst/>
                <a:latin typeface="Calibri" panose="020F0502020204030204" pitchFamily="34" charset="0"/>
                <a:hlinkClick r:id="rId12"/>
              </a:rPr>
              <a:t>: Support for New Organizations</a:t>
            </a:r>
            <a:endParaRPr lang="en-US" sz="1200" b="0" i="0" dirty="0">
              <a:solidFill>
                <a:srgbClr val="333333"/>
              </a:solidFill>
              <a:effectLst/>
              <a:latin typeface="Calibri" panose="020F0502020204030204" pitchFamily="34" charset="0"/>
            </a:endParaRPr>
          </a:p>
          <a:p>
            <a:pPr algn="l">
              <a:buFont typeface="Arial" panose="020B0604020202020204" pitchFamily="34" charset="0"/>
              <a:buChar char="•"/>
            </a:pPr>
            <a:r>
              <a:rPr lang="en-US" sz="1200" b="0" i="0" u="none" strike="noStrike" dirty="0">
                <a:solidFill>
                  <a:srgbClr val="1155CC"/>
                </a:solidFill>
                <a:effectLst/>
                <a:latin typeface="Calibri" panose="020F0502020204030204" pitchFamily="34" charset="0"/>
                <a:hlinkClick r:id="rId13"/>
              </a:rPr>
              <a:t>Rare Village Foundation</a:t>
            </a:r>
            <a:endParaRPr lang="en-US" sz="1200" b="0" i="0" dirty="0">
              <a:solidFill>
                <a:srgbClr val="333333"/>
              </a:solidFill>
              <a:effectLst/>
              <a:latin typeface="Calibri" panose="020F0502020204030204" pitchFamily="34" charset="0"/>
            </a:endParaRPr>
          </a:p>
          <a:p>
            <a:pPr>
              <a:buNone/>
            </a:pPr>
            <a:br>
              <a:rPr lang="en-US" dirty="0"/>
            </a:br>
            <a:endParaRPr lang="en-US" dirty="0"/>
          </a:p>
        </p:txBody>
      </p:sp>
    </p:spTree>
    <p:extLst>
      <p:ext uri="{BB962C8B-B14F-4D97-AF65-F5344CB8AC3E}">
        <p14:creationId xmlns:p14="http://schemas.microsoft.com/office/powerpoint/2010/main" val="1287402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0C1818"/>
        </a:solidFill>
        <a:effectLst/>
      </p:bgPr>
    </p:bg>
    <p:spTree>
      <p:nvGrpSpPr>
        <p:cNvPr id="1" name=""/>
        <p:cNvGrpSpPr/>
        <p:nvPr/>
      </p:nvGrpSpPr>
      <p:grpSpPr>
        <a:xfrm>
          <a:off x="0" y="0"/>
          <a:ext cx="0" cy="0"/>
          <a:chOff x="0" y="0"/>
          <a:chExt cx="0" cy="0"/>
        </a:xfrm>
      </p:grpSpPr>
      <p:sp>
        <p:nvSpPr>
          <p:cNvPr id="2" name="Shape 0"/>
          <p:cNvSpPr/>
          <p:nvPr/>
        </p:nvSpPr>
        <p:spPr>
          <a:xfrm>
            <a:off x="-1371600" y="-914400"/>
            <a:ext cx="5486400" cy="5486400"/>
          </a:xfrm>
          <a:prstGeom prst="ellipse">
            <a:avLst/>
          </a:prstGeom>
          <a:solidFill>
            <a:srgbClr val="0E9B9B">
              <a:alpha val="8000"/>
            </a:srgbClr>
          </a:solidFill>
          <a:ln w="12700">
            <a:solidFill>
              <a:srgbClr val="0E9B9B">
                <a:alpha val="8000"/>
              </a:srgbClr>
            </a:solidFill>
            <a:prstDash val="solid"/>
          </a:ln>
        </p:spPr>
        <p:txBody>
          <a:bodyPr/>
          <a:lstStyle/>
          <a:p>
            <a:endParaRPr lang="en-US"/>
          </a:p>
        </p:txBody>
      </p:sp>
      <p:sp>
        <p:nvSpPr>
          <p:cNvPr id="3" name="Shape 1"/>
          <p:cNvSpPr/>
          <p:nvPr/>
        </p:nvSpPr>
        <p:spPr>
          <a:xfrm>
            <a:off x="6400800" y="1828800"/>
            <a:ext cx="4572000" cy="4572000"/>
          </a:xfrm>
          <a:prstGeom prst="ellipse">
            <a:avLst/>
          </a:prstGeom>
          <a:solidFill>
            <a:srgbClr val="6B4FA0">
              <a:alpha val="10000"/>
            </a:srgbClr>
          </a:solidFill>
          <a:ln w="12700">
            <a:solidFill>
              <a:srgbClr val="6B4FA0">
                <a:alpha val="10000"/>
              </a:srgbClr>
            </a:solidFill>
            <a:prstDash val="solid"/>
          </a:ln>
        </p:spPr>
        <p:txBody>
          <a:bodyPr/>
          <a:lstStyle/>
          <a:p>
            <a:endParaRPr lang="en-US"/>
          </a:p>
        </p:txBody>
      </p:sp>
      <p:sp>
        <p:nvSpPr>
          <p:cNvPr id="4" name="Shape 2"/>
          <p:cNvSpPr/>
          <p:nvPr/>
        </p:nvSpPr>
        <p:spPr>
          <a:xfrm>
            <a:off x="3657600" y="-1828800"/>
            <a:ext cx="3657600" cy="3657600"/>
          </a:xfrm>
          <a:prstGeom prst="ellipse">
            <a:avLst/>
          </a:prstGeom>
          <a:solidFill>
            <a:srgbClr val="CC0066">
              <a:alpha val="6000"/>
            </a:srgbClr>
          </a:solidFill>
          <a:ln w="12700">
            <a:solidFill>
              <a:srgbClr val="CC0066">
                <a:alpha val="6000"/>
              </a:srgbClr>
            </a:solidFill>
            <a:prstDash val="solid"/>
          </a:ln>
        </p:spPr>
        <p:txBody>
          <a:bodyPr/>
          <a:lstStyle/>
          <a:p>
            <a:endParaRPr lang="en-US"/>
          </a:p>
        </p:txBody>
      </p:sp>
      <p:sp>
        <p:nvSpPr>
          <p:cNvPr id="6" name="Text 3"/>
          <p:cNvSpPr/>
          <p:nvPr/>
        </p:nvSpPr>
        <p:spPr>
          <a:xfrm>
            <a:off x="914400" y="2606040"/>
            <a:ext cx="7315200" cy="59436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SETD5 Syndrome Foundation</a:t>
            </a:r>
            <a:endParaRPr lang="en-US" sz="2800" dirty="0"/>
          </a:p>
        </p:txBody>
      </p:sp>
      <p:sp>
        <p:nvSpPr>
          <p:cNvPr id="7" name="Text 4"/>
          <p:cNvSpPr/>
          <p:nvPr/>
        </p:nvSpPr>
        <p:spPr>
          <a:xfrm>
            <a:off x="914400" y="3291840"/>
            <a:ext cx="7315200" cy="1097280"/>
          </a:xfrm>
          <a:prstGeom prst="rect">
            <a:avLst/>
          </a:prstGeom>
          <a:noFill/>
          <a:ln/>
        </p:spPr>
        <p:txBody>
          <a:bodyPr wrap="square" rtlCol="0" anchor="t"/>
          <a:lstStyle/>
          <a:p>
            <a:pPr marL="0" indent="0" algn="ctr">
              <a:buNone/>
            </a:pPr>
            <a:r>
              <a:rPr lang="en-US" sz="1400" i="1" dirty="0">
                <a:solidFill>
                  <a:srgbClr val="5DCECE"/>
                </a:solidFill>
                <a:latin typeface="Calibri" pitchFamily="34" charset="0"/>
                <a:ea typeface="Calibri" pitchFamily="34" charset="-122"/>
                <a:cs typeface="Calibri" pitchFamily="34" charset="-120"/>
              </a:rPr>
              <a:t>"Every family who learns about SETD5 in the future</a:t>
            </a:r>
            <a:endParaRPr lang="en-US" sz="1400" dirty="0"/>
          </a:p>
          <a:p>
            <a:pPr marL="0" indent="0" algn="ctr">
              <a:buNone/>
            </a:pPr>
            <a:r>
              <a:rPr lang="en-US" sz="1400" i="1" dirty="0">
                <a:solidFill>
                  <a:srgbClr val="5DCECE"/>
                </a:solidFill>
                <a:latin typeface="Calibri" pitchFamily="34" charset="0"/>
                <a:ea typeface="Calibri" pitchFamily="34" charset="-122"/>
                <a:cs typeface="Calibri" pitchFamily="34" charset="-120"/>
              </a:rPr>
              <a:t>will have something real to turn to</a:t>
            </a:r>
            <a:endParaRPr lang="en-US" sz="1400" dirty="0"/>
          </a:p>
          <a:p>
            <a:pPr marL="0" indent="0" algn="ctr">
              <a:buNone/>
            </a:pPr>
            <a:r>
              <a:rPr lang="en-US" sz="1400" i="1" dirty="0">
                <a:solidFill>
                  <a:srgbClr val="5DCECE"/>
                </a:solidFill>
                <a:latin typeface="Calibri" pitchFamily="34" charset="0"/>
                <a:ea typeface="Calibri" pitchFamily="34" charset="-122"/>
                <a:cs typeface="Calibri" pitchFamily="34" charset="-120"/>
              </a:rPr>
              <a:t>because of what we build together today."</a:t>
            </a:r>
            <a:endParaRPr lang="en-US" sz="1400" dirty="0"/>
          </a:p>
        </p:txBody>
      </p:sp>
      <p:sp>
        <p:nvSpPr>
          <p:cNvPr id="8" name="Text 5"/>
          <p:cNvSpPr/>
          <p:nvPr/>
        </p:nvSpPr>
        <p:spPr>
          <a:xfrm>
            <a:off x="914400" y="4617720"/>
            <a:ext cx="7315200" cy="320040"/>
          </a:xfrm>
          <a:prstGeom prst="rect">
            <a:avLst/>
          </a:prstGeom>
          <a:noFill/>
          <a:ln/>
        </p:spPr>
        <p:txBody>
          <a:bodyPr wrap="square" rtlCol="0" anchor="ctr"/>
          <a:lstStyle/>
          <a:p>
            <a:pPr marL="0" indent="0" algn="ctr">
              <a:buNone/>
            </a:pPr>
            <a:r>
              <a:rPr lang="en-US" sz="1100" kern="0" spc="300" dirty="0">
                <a:solidFill>
                  <a:srgbClr val="777777"/>
                </a:solidFill>
                <a:latin typeface="Calibri" pitchFamily="34" charset="0"/>
                <a:ea typeface="Calibri" pitchFamily="34" charset="-122"/>
                <a:cs typeface="Calibri" pitchFamily="34" charset="-120"/>
              </a:rPr>
              <a:t>Research  ·  Community  ·  Advocacy</a:t>
            </a:r>
            <a:endParaRPr lang="en-US" sz="1100" dirty="0"/>
          </a:p>
        </p:txBody>
      </p:sp>
      <p:pic>
        <p:nvPicPr>
          <p:cNvPr id="4100" name="Picture 4" descr="SETD 5 | London">
            <a:extLst>
              <a:ext uri="{FF2B5EF4-FFF2-40B4-BE49-F238E27FC236}">
                <a16:creationId xmlns:a16="http://schemas.microsoft.com/office/drawing/2014/main" id="{7C20FD92-C765-461E-CDF8-4019AAF5D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1358" y="46291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477</TotalTime>
  <Words>1583</Words>
  <Application>Microsoft Office PowerPoint</Application>
  <PresentationFormat>On-screen Show (16:9)</PresentationFormat>
  <Paragraphs>248</Paragraphs>
  <Slides>16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Georgia</vt:lpstr>
      <vt:lpstr>YouTube Noto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SETD5 Syndrome Foundation — Founding Meeting</dc:title>
  <dc:subject>PptxGenJS Presentation</dc:subject>
  <dc:creator>PptxGenJS</dc:creator>
  <cp:lastModifiedBy>Biazon, Laura (lib3gq)</cp:lastModifiedBy>
  <cp:revision>6</cp:revision>
  <dcterms:created xsi:type="dcterms:W3CDTF">2026-02-23T18:39:28Z</dcterms:created>
  <dcterms:modified xsi:type="dcterms:W3CDTF">2026-02-25T23:59:35Z</dcterms:modified>
</cp:coreProperties>
</file>